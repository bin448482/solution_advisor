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8"/>
  </p:normalViewPr>
  <p:slideViewPr>
    <p:cSldViewPr>
      <p:cViewPr varScale="1">
        <p:scale>
          <a:sx n="93" d="100"/>
          <a:sy n="93" d="100"/>
        </p:scale>
        <p:origin x="216" y="6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C4AE6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C4AE6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C4AE6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C4AE6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04800"/>
            <a:ext cx="114300" cy="447675"/>
          </a:xfrm>
          <a:custGeom>
            <a:avLst/>
            <a:gdLst/>
            <a:ahLst/>
            <a:cxnLst/>
            <a:rect l="l" t="t" r="r" b="b"/>
            <a:pathLst>
              <a:path w="114300" h="447675">
                <a:moveTo>
                  <a:pt x="114300" y="0"/>
                </a:moveTo>
                <a:lnTo>
                  <a:pt x="0" y="0"/>
                </a:lnTo>
                <a:lnTo>
                  <a:pt x="0" y="447675"/>
                </a:lnTo>
                <a:lnTo>
                  <a:pt x="114300" y="447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94228" y="311788"/>
            <a:ext cx="406739" cy="3697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712" y="330898"/>
            <a:ext cx="155130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C4AE6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700" y="1209675"/>
            <a:ext cx="10895965" cy="4684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8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image" Target="../media/image18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jpg"/><Relationship Id="rId18" Type="http://schemas.openxmlformats.org/officeDocument/2006/relationships/image" Target="../media/image95.jpg"/><Relationship Id="rId26" Type="http://schemas.openxmlformats.org/officeDocument/2006/relationships/image" Target="../media/image103.jpg"/><Relationship Id="rId3" Type="http://schemas.openxmlformats.org/officeDocument/2006/relationships/image" Target="../media/image80.pn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jp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2" Type="http://schemas.openxmlformats.org/officeDocument/2006/relationships/image" Target="../media/image18.png"/><Relationship Id="rId16" Type="http://schemas.openxmlformats.org/officeDocument/2006/relationships/image" Target="../media/image93.jpg"/><Relationship Id="rId20" Type="http://schemas.openxmlformats.org/officeDocument/2006/relationships/image" Target="../media/image97.png"/><Relationship Id="rId29" Type="http://schemas.openxmlformats.org/officeDocument/2006/relationships/image" Target="../media/image10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11" Type="http://schemas.openxmlformats.org/officeDocument/2006/relationships/image" Target="../media/image88.jpg"/><Relationship Id="rId24" Type="http://schemas.openxmlformats.org/officeDocument/2006/relationships/image" Target="../media/image101.jpg"/><Relationship Id="rId32" Type="http://schemas.openxmlformats.org/officeDocument/2006/relationships/image" Target="../media/image109.png"/><Relationship Id="rId5" Type="http://schemas.openxmlformats.org/officeDocument/2006/relationships/image" Target="../media/image82.png"/><Relationship Id="rId15" Type="http://schemas.openxmlformats.org/officeDocument/2006/relationships/image" Target="../media/image92.jpg"/><Relationship Id="rId23" Type="http://schemas.openxmlformats.org/officeDocument/2006/relationships/image" Target="../media/image100.jpg"/><Relationship Id="rId28" Type="http://schemas.openxmlformats.org/officeDocument/2006/relationships/image" Target="../media/image105.jpg"/><Relationship Id="rId10" Type="http://schemas.openxmlformats.org/officeDocument/2006/relationships/image" Target="../media/image87.jpg"/><Relationship Id="rId19" Type="http://schemas.openxmlformats.org/officeDocument/2006/relationships/image" Target="../media/image96.png"/><Relationship Id="rId31" Type="http://schemas.openxmlformats.org/officeDocument/2006/relationships/image" Target="../media/image108.png"/><Relationship Id="rId4" Type="http://schemas.openxmlformats.org/officeDocument/2006/relationships/image" Target="../media/image81.png"/><Relationship Id="rId9" Type="http://schemas.openxmlformats.org/officeDocument/2006/relationships/image" Target="../media/image86.jpg"/><Relationship Id="rId14" Type="http://schemas.openxmlformats.org/officeDocument/2006/relationships/image" Target="../media/image91.jp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jpg"/><Relationship Id="rId17" Type="http://schemas.openxmlformats.org/officeDocument/2006/relationships/image" Target="../media/image124.png"/><Relationship Id="rId2" Type="http://schemas.openxmlformats.org/officeDocument/2006/relationships/image" Target="../media/image18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18" Type="http://schemas.openxmlformats.org/officeDocument/2006/relationships/image" Target="../media/image148.png"/><Relationship Id="rId3" Type="http://schemas.openxmlformats.org/officeDocument/2006/relationships/image" Target="../media/image133.png"/><Relationship Id="rId21" Type="http://schemas.openxmlformats.org/officeDocument/2006/relationships/image" Target="../media/image151.jp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.png"/><Relationship Id="rId2" Type="http://schemas.openxmlformats.org/officeDocument/2006/relationships/image" Target="../media/image18.png"/><Relationship Id="rId16" Type="http://schemas.openxmlformats.org/officeDocument/2006/relationships/image" Target="../media/image146.png"/><Relationship Id="rId20" Type="http://schemas.openxmlformats.org/officeDocument/2006/relationships/image" Target="../media/image1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jpg"/><Relationship Id="rId3" Type="http://schemas.openxmlformats.org/officeDocument/2006/relationships/image" Target="../media/image154.jpg"/><Relationship Id="rId7" Type="http://schemas.openxmlformats.org/officeDocument/2006/relationships/image" Target="../media/image15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jpg"/><Relationship Id="rId4" Type="http://schemas.openxmlformats.org/officeDocument/2006/relationships/image" Target="../media/image15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jpg"/><Relationship Id="rId5" Type="http://schemas.openxmlformats.org/officeDocument/2006/relationships/image" Target="../media/image168.jpg"/><Relationship Id="rId4" Type="http://schemas.openxmlformats.org/officeDocument/2006/relationships/image" Target="../media/image16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jpg"/><Relationship Id="rId5" Type="http://schemas.openxmlformats.org/officeDocument/2006/relationships/image" Target="../media/image172.jpg"/><Relationship Id="rId4" Type="http://schemas.openxmlformats.org/officeDocument/2006/relationships/image" Target="../media/image17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.jpg"/><Relationship Id="rId4" Type="http://schemas.openxmlformats.org/officeDocument/2006/relationships/image" Target="../media/image1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jpg"/><Relationship Id="rId5" Type="http://schemas.openxmlformats.org/officeDocument/2006/relationships/image" Target="../media/image179.jpg"/><Relationship Id="rId4" Type="http://schemas.openxmlformats.org/officeDocument/2006/relationships/image" Target="../media/image1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jpg"/><Relationship Id="rId4" Type="http://schemas.openxmlformats.org/officeDocument/2006/relationships/image" Target="../media/image18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jpg"/><Relationship Id="rId4" Type="http://schemas.openxmlformats.org/officeDocument/2006/relationships/image" Target="../media/image19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9.png"/><Relationship Id="rId4" Type="http://schemas.openxmlformats.org/officeDocument/2006/relationships/hyperlink" Target="https://mp.weixin.qq.com/s/tA3vVo7v2p-48QNVqFU8Pg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2" Type="http://schemas.openxmlformats.org/officeDocument/2006/relationships/image" Target="../media/image216.png"/><Relationship Id="rId16" Type="http://schemas.openxmlformats.org/officeDocument/2006/relationships/image" Target="../media/image2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5" Type="http://schemas.openxmlformats.org/officeDocument/2006/relationships/image" Target="../media/image229.png"/><Relationship Id="rId10" Type="http://schemas.openxmlformats.org/officeDocument/2006/relationships/image" Target="../media/image224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3.jpg"/><Relationship Id="rId4" Type="http://schemas.openxmlformats.org/officeDocument/2006/relationships/image" Target="../media/image23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724650"/>
            <a:chOff x="0" y="0"/>
            <a:chExt cx="12192000" cy="6724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2864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9425" y="1428686"/>
              <a:ext cx="4052951" cy="8239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2250" y="1428686"/>
              <a:ext cx="1633601" cy="8239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05725" y="1428686"/>
              <a:ext cx="862012" cy="8239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67675" y="1428686"/>
              <a:ext cx="1204912" cy="8239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7825" y="4362450"/>
              <a:ext cx="5105400" cy="2362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8775" y="4362450"/>
              <a:ext cx="5105400" cy="2362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76476" y="2357501"/>
              <a:ext cx="8648700" cy="523875"/>
            </a:xfrm>
            <a:custGeom>
              <a:avLst/>
              <a:gdLst/>
              <a:ahLst/>
              <a:cxnLst/>
              <a:rect l="l" t="t" r="r" b="b"/>
              <a:pathLst>
                <a:path w="8648700" h="523875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2533650" y="0"/>
                  </a:lnTo>
                  <a:lnTo>
                    <a:pt x="2579864" y="4140"/>
                  </a:lnTo>
                  <a:lnTo>
                    <a:pt x="2623367" y="16080"/>
                  </a:lnTo>
                  <a:lnTo>
                    <a:pt x="2663429" y="35094"/>
                  </a:lnTo>
                  <a:lnTo>
                    <a:pt x="2699324" y="60458"/>
                  </a:lnTo>
                  <a:lnTo>
                    <a:pt x="2730324" y="91447"/>
                  </a:lnTo>
                  <a:lnTo>
                    <a:pt x="2755702" y="127338"/>
                  </a:lnTo>
                  <a:lnTo>
                    <a:pt x="2774729" y="167406"/>
                  </a:lnTo>
                  <a:lnTo>
                    <a:pt x="2786679" y="210926"/>
                  </a:lnTo>
                  <a:lnTo>
                    <a:pt x="2790825" y="257175"/>
                  </a:lnTo>
                  <a:lnTo>
                    <a:pt x="2786679" y="303389"/>
                  </a:lnTo>
                  <a:lnTo>
                    <a:pt x="2774729" y="346892"/>
                  </a:lnTo>
                  <a:lnTo>
                    <a:pt x="2755702" y="386954"/>
                  </a:lnTo>
                  <a:lnTo>
                    <a:pt x="2730324" y="422849"/>
                  </a:lnTo>
                  <a:lnTo>
                    <a:pt x="2699324" y="453849"/>
                  </a:lnTo>
                  <a:lnTo>
                    <a:pt x="2663429" y="479227"/>
                  </a:lnTo>
                  <a:lnTo>
                    <a:pt x="2623367" y="498254"/>
                  </a:lnTo>
                  <a:lnTo>
                    <a:pt x="2579864" y="510204"/>
                  </a:lnTo>
                  <a:lnTo>
                    <a:pt x="2533650" y="514350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  <a:path w="8648700" h="523875">
                  <a:moveTo>
                    <a:pt x="2924175" y="257175"/>
                  </a:moveTo>
                  <a:lnTo>
                    <a:pt x="2928315" y="210926"/>
                  </a:lnTo>
                  <a:lnTo>
                    <a:pt x="2940255" y="167406"/>
                  </a:lnTo>
                  <a:lnTo>
                    <a:pt x="2959269" y="127338"/>
                  </a:lnTo>
                  <a:lnTo>
                    <a:pt x="2984633" y="91447"/>
                  </a:lnTo>
                  <a:lnTo>
                    <a:pt x="3015622" y="60458"/>
                  </a:lnTo>
                  <a:lnTo>
                    <a:pt x="3051513" y="35094"/>
                  </a:lnTo>
                  <a:lnTo>
                    <a:pt x="3091581" y="16080"/>
                  </a:lnTo>
                  <a:lnTo>
                    <a:pt x="3135101" y="4140"/>
                  </a:lnTo>
                  <a:lnTo>
                    <a:pt x="3181350" y="0"/>
                  </a:lnTo>
                  <a:lnTo>
                    <a:pt x="5457825" y="0"/>
                  </a:lnTo>
                  <a:lnTo>
                    <a:pt x="5504039" y="4140"/>
                  </a:lnTo>
                  <a:lnTo>
                    <a:pt x="5547542" y="16080"/>
                  </a:lnTo>
                  <a:lnTo>
                    <a:pt x="5587604" y="35094"/>
                  </a:lnTo>
                  <a:lnTo>
                    <a:pt x="5623499" y="60458"/>
                  </a:lnTo>
                  <a:lnTo>
                    <a:pt x="5654499" y="91447"/>
                  </a:lnTo>
                  <a:lnTo>
                    <a:pt x="5679877" y="127338"/>
                  </a:lnTo>
                  <a:lnTo>
                    <a:pt x="5698904" y="167406"/>
                  </a:lnTo>
                  <a:lnTo>
                    <a:pt x="5710854" y="210926"/>
                  </a:lnTo>
                  <a:lnTo>
                    <a:pt x="5715000" y="257175"/>
                  </a:lnTo>
                  <a:lnTo>
                    <a:pt x="5710854" y="303389"/>
                  </a:lnTo>
                  <a:lnTo>
                    <a:pt x="5698904" y="346892"/>
                  </a:lnTo>
                  <a:lnTo>
                    <a:pt x="5679877" y="386954"/>
                  </a:lnTo>
                  <a:lnTo>
                    <a:pt x="5654499" y="422849"/>
                  </a:lnTo>
                  <a:lnTo>
                    <a:pt x="5623499" y="453849"/>
                  </a:lnTo>
                  <a:lnTo>
                    <a:pt x="5587604" y="479227"/>
                  </a:lnTo>
                  <a:lnTo>
                    <a:pt x="5547542" y="498254"/>
                  </a:lnTo>
                  <a:lnTo>
                    <a:pt x="5504039" y="510204"/>
                  </a:lnTo>
                  <a:lnTo>
                    <a:pt x="5457825" y="514350"/>
                  </a:lnTo>
                  <a:lnTo>
                    <a:pt x="3181350" y="514350"/>
                  </a:lnTo>
                  <a:lnTo>
                    <a:pt x="3135101" y="510204"/>
                  </a:lnTo>
                  <a:lnTo>
                    <a:pt x="3091581" y="498254"/>
                  </a:lnTo>
                  <a:lnTo>
                    <a:pt x="3051513" y="479227"/>
                  </a:lnTo>
                  <a:lnTo>
                    <a:pt x="3015622" y="453849"/>
                  </a:lnTo>
                  <a:lnTo>
                    <a:pt x="2984633" y="422849"/>
                  </a:lnTo>
                  <a:lnTo>
                    <a:pt x="2959269" y="386954"/>
                  </a:lnTo>
                  <a:lnTo>
                    <a:pt x="2940255" y="346892"/>
                  </a:lnTo>
                  <a:lnTo>
                    <a:pt x="2928315" y="303389"/>
                  </a:lnTo>
                  <a:lnTo>
                    <a:pt x="2924175" y="257175"/>
                  </a:lnTo>
                  <a:close/>
                </a:path>
                <a:path w="8648700" h="523875">
                  <a:moveTo>
                    <a:pt x="5857875" y="261874"/>
                  </a:moveTo>
                  <a:lnTo>
                    <a:pt x="5862093" y="214795"/>
                  </a:lnTo>
                  <a:lnTo>
                    <a:pt x="5874255" y="170488"/>
                  </a:lnTo>
                  <a:lnTo>
                    <a:pt x="5893623" y="129690"/>
                  </a:lnTo>
                  <a:lnTo>
                    <a:pt x="5919456" y="93142"/>
                  </a:lnTo>
                  <a:lnTo>
                    <a:pt x="5951017" y="61581"/>
                  </a:lnTo>
                  <a:lnTo>
                    <a:pt x="5987565" y="35748"/>
                  </a:lnTo>
                  <a:lnTo>
                    <a:pt x="6028363" y="16380"/>
                  </a:lnTo>
                  <a:lnTo>
                    <a:pt x="6072670" y="4218"/>
                  </a:lnTo>
                  <a:lnTo>
                    <a:pt x="6119749" y="0"/>
                  </a:lnTo>
                  <a:lnTo>
                    <a:pt x="8386699" y="0"/>
                  </a:lnTo>
                  <a:lnTo>
                    <a:pt x="8433781" y="4218"/>
                  </a:lnTo>
                  <a:lnTo>
                    <a:pt x="8478101" y="16380"/>
                  </a:lnTo>
                  <a:lnTo>
                    <a:pt x="8518915" y="35748"/>
                  </a:lnTo>
                  <a:lnTo>
                    <a:pt x="8555483" y="61581"/>
                  </a:lnTo>
                  <a:lnTo>
                    <a:pt x="8587065" y="93142"/>
                  </a:lnTo>
                  <a:lnTo>
                    <a:pt x="8612918" y="129690"/>
                  </a:lnTo>
                  <a:lnTo>
                    <a:pt x="8632303" y="170488"/>
                  </a:lnTo>
                  <a:lnTo>
                    <a:pt x="8644477" y="214795"/>
                  </a:lnTo>
                  <a:lnTo>
                    <a:pt x="8648700" y="261874"/>
                  </a:lnTo>
                  <a:lnTo>
                    <a:pt x="8644477" y="308956"/>
                  </a:lnTo>
                  <a:lnTo>
                    <a:pt x="8632303" y="353276"/>
                  </a:lnTo>
                  <a:lnTo>
                    <a:pt x="8612918" y="394090"/>
                  </a:lnTo>
                  <a:lnTo>
                    <a:pt x="8587065" y="430658"/>
                  </a:lnTo>
                  <a:lnTo>
                    <a:pt x="8555483" y="462240"/>
                  </a:lnTo>
                  <a:lnTo>
                    <a:pt x="8518915" y="488093"/>
                  </a:lnTo>
                  <a:lnTo>
                    <a:pt x="8478101" y="507478"/>
                  </a:lnTo>
                  <a:lnTo>
                    <a:pt x="8433781" y="519652"/>
                  </a:lnTo>
                  <a:lnTo>
                    <a:pt x="8386699" y="523875"/>
                  </a:lnTo>
                  <a:lnTo>
                    <a:pt x="6119749" y="523875"/>
                  </a:lnTo>
                  <a:lnTo>
                    <a:pt x="6072670" y="519652"/>
                  </a:lnTo>
                  <a:lnTo>
                    <a:pt x="6028363" y="507478"/>
                  </a:lnTo>
                  <a:lnTo>
                    <a:pt x="5987565" y="488093"/>
                  </a:lnTo>
                  <a:lnTo>
                    <a:pt x="5951017" y="462240"/>
                  </a:lnTo>
                  <a:lnTo>
                    <a:pt x="5919456" y="430658"/>
                  </a:lnTo>
                  <a:lnTo>
                    <a:pt x="5893623" y="394090"/>
                  </a:lnTo>
                  <a:lnTo>
                    <a:pt x="5874255" y="353276"/>
                  </a:lnTo>
                  <a:lnTo>
                    <a:pt x="5862093" y="308956"/>
                  </a:lnTo>
                  <a:lnTo>
                    <a:pt x="5857875" y="2618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43175" y="3895725"/>
              <a:ext cx="7105650" cy="2762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4775" y="3019361"/>
              <a:ext cx="2633726" cy="8239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48375" y="3019361"/>
              <a:ext cx="890587" cy="8239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900" y="3019361"/>
              <a:ext cx="1919351" cy="8239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6325" y="361950"/>
              <a:ext cx="981075" cy="13620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035175" y="876236"/>
            <a:ext cx="8101330" cy="269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68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 err="1">
                <a:solidFill>
                  <a:srgbClr val="FFFFFF"/>
                </a:solidFill>
                <a:latin typeface="Microsoft YaHei"/>
                <a:cs typeface="Microsoft YaHei"/>
              </a:rPr>
              <a:t>ChatBI</a:t>
            </a:r>
            <a:endParaRPr sz="2400" dirty="0">
              <a:latin typeface="Microsoft YaHei"/>
              <a:cs typeface="Microsoft YaHei"/>
            </a:endParaRPr>
          </a:p>
          <a:p>
            <a:pPr marL="130175" algn="ctr">
              <a:lnSpc>
                <a:spcPct val="100000"/>
              </a:lnSpc>
              <a:spcBef>
                <a:spcPts val="2270"/>
              </a:spcBef>
            </a:pPr>
            <a:r>
              <a:rPr sz="2750" b="1" spc="20" dirty="0">
                <a:solidFill>
                  <a:srgbClr val="FFFFFF"/>
                </a:solidFill>
                <a:latin typeface="Microsoft YaHei"/>
                <a:cs typeface="Microsoft YaHei"/>
              </a:rPr>
              <a:t>真正可以商业化落地的</a:t>
            </a:r>
            <a:r>
              <a:rPr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AI</a:t>
            </a:r>
            <a:r>
              <a:rPr sz="2750" b="1" spc="155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for</a:t>
            </a:r>
            <a:r>
              <a:rPr sz="2750" b="1" spc="18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BI</a:t>
            </a:r>
            <a:r>
              <a:rPr sz="275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产品</a:t>
            </a:r>
            <a:endParaRPr sz="2750" dirty="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2725"/>
              </a:spcBef>
              <a:tabLst>
                <a:tab pos="3162300" algn="l"/>
                <a:tab pos="5933440" algn="l"/>
              </a:tabLst>
            </a:pP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累</a:t>
            </a:r>
            <a:r>
              <a:rPr sz="2000" spc="-55" dirty="0">
                <a:solidFill>
                  <a:srgbClr val="FFFFFF"/>
                </a:solidFill>
                <a:latin typeface="Microsoft YaHei"/>
                <a:cs typeface="Microsoft YaHei"/>
              </a:rPr>
              <a:t>计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服务</a:t>
            </a:r>
            <a:r>
              <a:rPr sz="2000" spc="-55" dirty="0">
                <a:solidFill>
                  <a:srgbClr val="FFFFFF"/>
                </a:solidFill>
                <a:latin typeface="Microsoft YaHei"/>
                <a:cs typeface="Microsoft YaHei"/>
              </a:rPr>
              <a:t>客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户</a:t>
            </a:r>
            <a:r>
              <a:rPr sz="30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70+</a:t>
            </a:r>
            <a:r>
              <a:rPr sz="3000" b="1" dirty="0">
                <a:solidFill>
                  <a:srgbClr val="FD7B77"/>
                </a:solidFill>
                <a:latin typeface="Microsoft YaHei"/>
                <a:cs typeface="Microsoft YaHei"/>
              </a:rPr>
              <a:t>	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续</a:t>
            </a:r>
            <a:r>
              <a:rPr sz="2000" spc="-55" dirty="0">
                <a:solidFill>
                  <a:srgbClr val="FFFFFF"/>
                </a:solidFill>
                <a:latin typeface="Microsoft YaHei"/>
                <a:cs typeface="Microsoft YaHei"/>
              </a:rPr>
              <a:t>费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率</a:t>
            </a:r>
            <a:r>
              <a:rPr sz="3000" b="1" spc="-20" dirty="0">
                <a:solidFill>
                  <a:srgbClr val="FD7B77"/>
                </a:solidFill>
                <a:latin typeface="Microsoft YaHei"/>
                <a:cs typeface="Microsoft YaHei"/>
              </a:rPr>
              <a:t>100%</a:t>
            </a:r>
            <a:r>
              <a:rPr sz="3000" b="1" dirty="0">
                <a:solidFill>
                  <a:srgbClr val="FD7B77"/>
                </a:solidFill>
                <a:latin typeface="Microsoft YaHei"/>
                <a:cs typeface="Microsoft YaHei"/>
              </a:rPr>
              <a:t>	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最</a:t>
            </a:r>
            <a:r>
              <a:rPr sz="2000" spc="-55" dirty="0">
                <a:solidFill>
                  <a:srgbClr val="FFFFFF"/>
                </a:solidFill>
                <a:latin typeface="Microsoft YaHei"/>
                <a:cs typeface="Microsoft YaHei"/>
              </a:rPr>
              <a:t>长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客户</a:t>
            </a:r>
            <a:r>
              <a:rPr sz="2000" spc="-55" dirty="0">
                <a:solidFill>
                  <a:srgbClr val="FFFFFF"/>
                </a:solidFill>
                <a:latin typeface="Microsoft YaHei"/>
                <a:cs typeface="Microsoft YaHei"/>
              </a:rPr>
              <a:t>续</a:t>
            </a:r>
            <a:r>
              <a:rPr sz="2000" dirty="0">
                <a:solidFill>
                  <a:srgbClr val="FFFFFF"/>
                </a:solidFill>
                <a:latin typeface="Microsoft YaHei"/>
                <a:cs typeface="Microsoft YaHei"/>
              </a:rPr>
              <a:t>费</a:t>
            </a:r>
            <a:r>
              <a:rPr sz="3000" b="1" spc="-10" dirty="0">
                <a:solidFill>
                  <a:srgbClr val="FD7B77"/>
                </a:solidFill>
                <a:latin typeface="Microsoft YaHei"/>
                <a:cs typeface="Microsoft YaHei"/>
              </a:rPr>
              <a:t>4</a:t>
            </a:r>
            <a:r>
              <a:rPr sz="3000" b="1" spc="-50" dirty="0">
                <a:solidFill>
                  <a:srgbClr val="FD7B77"/>
                </a:solidFill>
                <a:latin typeface="Microsoft YaHei"/>
                <a:cs typeface="Microsoft YaHei"/>
              </a:rPr>
              <a:t>年</a:t>
            </a:r>
            <a:endParaRPr sz="3000" dirty="0">
              <a:latin typeface="Microsoft YaHei"/>
              <a:cs typeface="Microsoft YaHei"/>
            </a:endParaRPr>
          </a:p>
          <a:p>
            <a:pPr marL="111125" algn="ctr">
              <a:lnSpc>
                <a:spcPct val="100000"/>
              </a:lnSpc>
              <a:spcBef>
                <a:spcPts val="2905"/>
              </a:spcBef>
            </a:pPr>
            <a:r>
              <a:rPr sz="2750" b="1" spc="25" dirty="0">
                <a:solidFill>
                  <a:srgbClr val="FFFFFF"/>
                </a:solidFill>
                <a:latin typeface="Microsoft YaHei"/>
                <a:cs typeface="Microsoft YaHei"/>
              </a:rPr>
              <a:t>客户最信赖的</a:t>
            </a:r>
            <a:r>
              <a:rPr sz="2750" b="1" dirty="0">
                <a:solidFill>
                  <a:srgbClr val="FFFFFF"/>
                </a:solidFill>
                <a:latin typeface="Microsoft YaHei"/>
                <a:cs typeface="Microsoft YaHei"/>
              </a:rPr>
              <a:t>AI</a:t>
            </a:r>
            <a:r>
              <a:rPr sz="2750" b="1" spc="10" dirty="0">
                <a:solidFill>
                  <a:srgbClr val="FFFFFF"/>
                </a:solidFill>
                <a:latin typeface="Microsoft YaHei"/>
                <a:cs typeface="Microsoft YaHei"/>
              </a:rPr>
              <a:t>数据伙伴</a:t>
            </a:r>
            <a:endParaRPr sz="2750" dirty="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-12700" y="-32067"/>
            <a:ext cx="64769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Microsoft YaHei"/>
                <a:cs typeface="Microsoft YaHei"/>
              </a:rPr>
              <a:t>1</a:t>
            </a:r>
            <a:endParaRPr sz="5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50" y="5962650"/>
            <a:ext cx="514350" cy="419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5" y="5962650"/>
            <a:ext cx="514350" cy="419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1933575"/>
            <a:ext cx="514350" cy="4286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58575" y="1943100"/>
            <a:ext cx="523875" cy="4191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3117" y="2696844"/>
            <a:ext cx="15106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1C4AE6"/>
                </a:solidFill>
                <a:latin typeface="Microsoft YaHei"/>
                <a:cs typeface="Microsoft YaHei"/>
              </a:rPr>
              <a:t>PART</a:t>
            </a:r>
            <a:r>
              <a:rPr sz="2750" b="1" spc="-155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75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01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1062" y="3205226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89">
                <a:moveTo>
                  <a:pt x="0" y="0"/>
                </a:moveTo>
                <a:lnTo>
                  <a:pt x="1341945" y="0"/>
                </a:lnTo>
              </a:path>
            </a:pathLst>
          </a:custGeom>
          <a:ln w="31750">
            <a:solidFill>
              <a:srgbClr val="1747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38550" y="2696844"/>
            <a:ext cx="15087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1C4AE6"/>
                </a:solidFill>
                <a:latin typeface="Microsoft YaHei"/>
                <a:cs typeface="Microsoft YaHei"/>
              </a:rPr>
              <a:t>PART</a:t>
            </a:r>
            <a:r>
              <a:rPr sz="2750" b="1" spc="-160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75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02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00526" y="3205226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89">
                <a:moveTo>
                  <a:pt x="0" y="0"/>
                </a:moveTo>
                <a:lnTo>
                  <a:pt x="1341882" y="0"/>
                </a:lnTo>
              </a:path>
            </a:pathLst>
          </a:custGeom>
          <a:ln w="31750">
            <a:solidFill>
              <a:srgbClr val="1747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70371" y="2696844"/>
            <a:ext cx="15106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1C4AE6"/>
                </a:solidFill>
                <a:latin typeface="Microsoft YaHei"/>
                <a:cs typeface="Microsoft YaHei"/>
              </a:rPr>
              <a:t>PART</a:t>
            </a:r>
            <a:r>
              <a:rPr sz="2750" b="1" spc="-155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75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03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29426" y="3205226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90">
                <a:moveTo>
                  <a:pt x="0" y="0"/>
                </a:moveTo>
                <a:lnTo>
                  <a:pt x="1341881" y="0"/>
                </a:lnTo>
              </a:path>
            </a:pathLst>
          </a:custGeom>
          <a:ln w="31750">
            <a:solidFill>
              <a:srgbClr val="1747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41408" y="2696844"/>
            <a:ext cx="15087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solidFill>
                  <a:srgbClr val="1C4AE6"/>
                </a:solidFill>
                <a:latin typeface="Microsoft YaHei"/>
                <a:cs typeface="Microsoft YaHei"/>
              </a:rPr>
              <a:t>PART</a:t>
            </a:r>
            <a:r>
              <a:rPr sz="2750" b="1" spc="-160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75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04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01226" y="3205226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90">
                <a:moveTo>
                  <a:pt x="0" y="0"/>
                </a:moveTo>
                <a:lnTo>
                  <a:pt x="1341881" y="0"/>
                </a:lnTo>
              </a:path>
            </a:pathLst>
          </a:custGeom>
          <a:ln w="31750">
            <a:solidFill>
              <a:srgbClr val="1747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7567" y="3413696"/>
            <a:ext cx="1744345" cy="91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52525"/>
                </a:solidFill>
                <a:latin typeface="Microsoft YaHei"/>
                <a:cs typeface="Microsoft YaHei"/>
              </a:rPr>
              <a:t>关于</a:t>
            </a:r>
            <a:r>
              <a:rPr sz="2400" b="1" dirty="0">
                <a:solidFill>
                  <a:srgbClr val="252525"/>
                </a:solidFill>
                <a:latin typeface="Microsoft YaHei"/>
                <a:cs typeface="Microsoft YaHei"/>
              </a:rPr>
              <a:t>Chat</a:t>
            </a:r>
            <a:r>
              <a:rPr sz="2400" b="1" spc="-20" dirty="0">
                <a:solidFill>
                  <a:srgbClr val="252525"/>
                </a:solidFill>
                <a:latin typeface="Microsoft YaHei"/>
                <a:cs typeface="Microsoft YaHei"/>
              </a:rPr>
              <a:t> </a:t>
            </a:r>
            <a:r>
              <a:rPr sz="2400" b="1" spc="-25" dirty="0">
                <a:solidFill>
                  <a:srgbClr val="252525"/>
                </a:solidFill>
                <a:latin typeface="Microsoft YaHei"/>
                <a:cs typeface="Microsoft YaHei"/>
              </a:rPr>
              <a:t>BI</a:t>
            </a: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sz="1800" spc="-10" dirty="0">
                <a:solidFill>
                  <a:srgbClr val="252525"/>
                </a:solidFill>
                <a:latin typeface="Microsoft YaHei"/>
                <a:cs typeface="Microsoft YaHei"/>
              </a:rPr>
              <a:t>BI</a:t>
            </a:r>
            <a:r>
              <a:rPr sz="1800" spc="-15" dirty="0">
                <a:solidFill>
                  <a:srgbClr val="252525"/>
                </a:solidFill>
                <a:latin typeface="Microsoft YaHei"/>
                <a:cs typeface="Microsoft YaHei"/>
              </a:rPr>
              <a:t>行业发展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2192000" cy="1752600"/>
            <a:chOff x="0" y="0"/>
            <a:chExt cx="12192000" cy="17526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1752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2192000" cy="1724025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52119" y="455993"/>
            <a:ext cx="38347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0" spc="592" baseline="-2314" dirty="0">
                <a:solidFill>
                  <a:srgbClr val="FFFFFF"/>
                </a:solidFill>
              </a:rPr>
              <a:t>目 录</a:t>
            </a:r>
            <a:r>
              <a:rPr sz="3000" spc="-10" dirty="0">
                <a:solidFill>
                  <a:srgbClr val="FFFFFF"/>
                </a:solidFill>
              </a:rPr>
              <a:t>CONTENT</a:t>
            </a:r>
            <a:endParaRPr sz="3000"/>
          </a:p>
        </p:txBody>
      </p:sp>
      <p:sp>
        <p:nvSpPr>
          <p:cNvPr id="20" name="object 20"/>
          <p:cNvSpPr txBox="1"/>
          <p:nvPr/>
        </p:nvSpPr>
        <p:spPr>
          <a:xfrm>
            <a:off x="3638550" y="3384232"/>
            <a:ext cx="155130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52525"/>
                </a:solidFill>
                <a:latin typeface="Microsoft YaHei"/>
                <a:cs typeface="Microsoft YaHei"/>
              </a:rPr>
              <a:t>产品和服务</a:t>
            </a: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1800" spc="-20" dirty="0">
                <a:solidFill>
                  <a:srgbClr val="252525"/>
                </a:solidFill>
                <a:latin typeface="Microsoft YaHei"/>
                <a:cs typeface="Microsoft YaHei"/>
              </a:rPr>
              <a:t>产品介绍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0371" y="3384232"/>
            <a:ext cx="183578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52525"/>
                </a:solidFill>
                <a:latin typeface="Microsoft YaHei"/>
                <a:cs typeface="Microsoft YaHei"/>
              </a:rPr>
              <a:t>技术和优势</a:t>
            </a:r>
            <a:endParaRPr sz="2400">
              <a:latin typeface="Microsoft YaHei"/>
              <a:cs typeface="Microsoft YaHei"/>
            </a:endParaRPr>
          </a:p>
          <a:p>
            <a:pPr marL="20320">
              <a:lnSpc>
                <a:spcPct val="100000"/>
              </a:lnSpc>
              <a:spcBef>
                <a:spcPts val="2010"/>
              </a:spcBef>
            </a:pPr>
            <a:r>
              <a:rPr sz="1800" dirty="0">
                <a:solidFill>
                  <a:srgbClr val="252525"/>
                </a:solidFill>
                <a:latin typeface="Microsoft YaHei"/>
                <a:cs typeface="Microsoft YaHei"/>
              </a:rPr>
              <a:t>AI</a:t>
            </a:r>
            <a:r>
              <a:rPr sz="1800" spc="-5" dirty="0">
                <a:solidFill>
                  <a:srgbClr val="252525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252525"/>
                </a:solidFill>
                <a:latin typeface="Microsoft YaHei"/>
                <a:cs typeface="Microsoft YaHei"/>
              </a:rPr>
              <a:t>for</a:t>
            </a:r>
            <a:r>
              <a:rPr sz="1800" spc="-15" dirty="0">
                <a:solidFill>
                  <a:srgbClr val="252525"/>
                </a:solidFill>
                <a:latin typeface="Microsoft YaHei"/>
                <a:cs typeface="Microsoft YaHei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Microsoft YaHei"/>
                <a:cs typeface="Microsoft YaHei"/>
              </a:rPr>
              <a:t>BI</a:t>
            </a:r>
            <a:r>
              <a:rPr sz="1800" spc="-15" dirty="0">
                <a:solidFill>
                  <a:srgbClr val="252525"/>
                </a:solidFill>
                <a:latin typeface="Microsoft YaHei"/>
                <a:cs typeface="Microsoft YaHei"/>
              </a:rPr>
              <a:t>技术路线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41408" y="3413696"/>
            <a:ext cx="2351405" cy="91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52525"/>
                </a:solidFill>
                <a:latin typeface="Microsoft YaHei"/>
                <a:cs typeface="Microsoft YaHei"/>
              </a:rPr>
              <a:t>开展</a:t>
            </a:r>
            <a:r>
              <a:rPr sz="2400" b="1" dirty="0">
                <a:solidFill>
                  <a:srgbClr val="252525"/>
                </a:solidFill>
                <a:latin typeface="Microsoft YaHei"/>
                <a:cs typeface="Microsoft YaHei"/>
              </a:rPr>
              <a:t>Chat</a:t>
            </a:r>
            <a:r>
              <a:rPr sz="2400" b="1" spc="-5" dirty="0">
                <a:solidFill>
                  <a:srgbClr val="252525"/>
                </a:solidFill>
                <a:latin typeface="Microsoft YaHei"/>
                <a:cs typeface="Microsoft YaHei"/>
              </a:rPr>
              <a:t> </a:t>
            </a:r>
            <a:r>
              <a:rPr sz="2400" b="1" spc="-10" dirty="0">
                <a:solidFill>
                  <a:srgbClr val="252525"/>
                </a:solidFill>
                <a:latin typeface="Microsoft YaHei"/>
                <a:cs typeface="Microsoft YaHei"/>
              </a:rPr>
              <a:t>BI</a:t>
            </a:r>
            <a:r>
              <a:rPr sz="2400" b="1" spc="-25" dirty="0">
                <a:solidFill>
                  <a:srgbClr val="252525"/>
                </a:solidFill>
                <a:latin typeface="Microsoft YaHei"/>
                <a:cs typeface="Microsoft YaHei"/>
              </a:rPr>
              <a:t>项目</a:t>
            </a: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sz="1800" spc="-20" dirty="0">
                <a:solidFill>
                  <a:srgbClr val="252525"/>
                </a:solidFill>
                <a:latin typeface="Microsoft YaHei"/>
                <a:cs typeface="Microsoft YaHei"/>
              </a:rPr>
              <a:t>试用准备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7567" y="4594288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Microsoft YaHei"/>
                <a:cs typeface="Microsoft YaHei"/>
              </a:rPr>
              <a:t>AI大模型时代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38550" y="4594288"/>
            <a:ext cx="939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52525"/>
                </a:solidFill>
                <a:latin typeface="Microsoft YaHei"/>
                <a:cs typeface="Microsoft YaHei"/>
              </a:rPr>
              <a:t>优势概述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7567" y="5159692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 err="1">
                <a:solidFill>
                  <a:srgbClr val="252525"/>
                </a:solidFill>
                <a:latin typeface="Microsoft YaHei"/>
                <a:cs typeface="Microsoft YaHei"/>
              </a:rPr>
              <a:t>合作客户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78626" y="4594288"/>
            <a:ext cx="2314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 err="1">
                <a:solidFill>
                  <a:srgbClr val="252525"/>
                </a:solidFill>
                <a:latin typeface="Microsoft YaHei"/>
                <a:cs typeface="Microsoft YaHei"/>
              </a:rPr>
              <a:t>数据领域语言技术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41408" y="4594288"/>
            <a:ext cx="1625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52525"/>
                </a:solidFill>
                <a:latin typeface="Microsoft YaHei"/>
                <a:cs typeface="Microsoft YaHei"/>
              </a:rPr>
              <a:t>交付及客户成功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-12700" y="-32067"/>
            <a:ext cx="64769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50" dirty="0">
                <a:latin typeface="Microsoft YaHei"/>
                <a:cs typeface="Microsoft YaHei"/>
              </a:rPr>
              <a:t>2</a:t>
            </a:r>
            <a:endParaRPr sz="5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2144" y="2025986"/>
            <a:ext cx="3202305" cy="179705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6000" spc="-45" dirty="0">
                <a:solidFill>
                  <a:srgbClr val="000000"/>
                </a:solidFill>
              </a:rPr>
              <a:t>PART</a:t>
            </a:r>
            <a:r>
              <a:rPr sz="6000" spc="-380" dirty="0">
                <a:solidFill>
                  <a:srgbClr val="000000"/>
                </a:solidFill>
              </a:rPr>
              <a:t> </a:t>
            </a:r>
            <a:r>
              <a:rPr sz="6000" spc="-25" dirty="0">
                <a:solidFill>
                  <a:srgbClr val="FD7B77"/>
                </a:solidFill>
              </a:rPr>
              <a:t>01</a:t>
            </a:r>
            <a:endParaRPr sz="6000"/>
          </a:p>
          <a:p>
            <a:pPr marL="17145">
              <a:lnSpc>
                <a:spcPct val="100000"/>
              </a:lnSpc>
              <a:spcBef>
                <a:spcPts val="810"/>
              </a:spcBef>
            </a:pPr>
            <a:r>
              <a:rPr sz="3950" spc="-5" dirty="0">
                <a:solidFill>
                  <a:srgbClr val="3623C5"/>
                </a:solidFill>
              </a:rPr>
              <a:t>关于</a:t>
            </a:r>
            <a:r>
              <a:rPr sz="3950" dirty="0">
                <a:solidFill>
                  <a:srgbClr val="3623C5"/>
                </a:solidFill>
              </a:rPr>
              <a:t>Chat</a:t>
            </a:r>
            <a:r>
              <a:rPr sz="3950" spc="95" dirty="0">
                <a:solidFill>
                  <a:srgbClr val="3623C5"/>
                </a:solidFill>
              </a:rPr>
              <a:t> </a:t>
            </a:r>
            <a:r>
              <a:rPr sz="3950" spc="-25" dirty="0">
                <a:solidFill>
                  <a:srgbClr val="3623C5"/>
                </a:solidFill>
              </a:rPr>
              <a:t>BI</a:t>
            </a:r>
            <a:endParaRPr sz="3950"/>
          </a:p>
        </p:txBody>
      </p:sp>
      <p:grpSp>
        <p:nvGrpSpPr>
          <p:cNvPr id="5" name="object 5"/>
          <p:cNvGrpSpPr/>
          <p:nvPr/>
        </p:nvGrpSpPr>
        <p:grpSpPr>
          <a:xfrm>
            <a:off x="6562725" y="-6350"/>
            <a:ext cx="5629275" cy="6870700"/>
            <a:chOff x="6562725" y="-6350"/>
            <a:chExt cx="5629275" cy="6870700"/>
          </a:xfrm>
        </p:grpSpPr>
        <p:sp>
          <p:nvSpPr>
            <p:cNvPr id="6" name="object 6"/>
            <p:cNvSpPr/>
            <p:nvPr/>
          </p:nvSpPr>
          <p:spPr>
            <a:xfrm>
              <a:off x="6562725" y="0"/>
              <a:ext cx="5629275" cy="6858000"/>
            </a:xfrm>
            <a:custGeom>
              <a:avLst/>
              <a:gdLst/>
              <a:ahLst/>
              <a:cxnLst/>
              <a:rect l="l" t="t" r="r" b="b"/>
              <a:pathLst>
                <a:path w="5629275" h="6858000">
                  <a:moveTo>
                    <a:pt x="5629275" y="0"/>
                  </a:moveTo>
                  <a:lnTo>
                    <a:pt x="1224922" y="0"/>
                  </a:lnTo>
                  <a:lnTo>
                    <a:pt x="1196611" y="39570"/>
                  </a:lnTo>
                  <a:lnTo>
                    <a:pt x="1167779" y="80528"/>
                  </a:lnTo>
                  <a:lnTo>
                    <a:pt x="1139256" y="121716"/>
                  </a:lnTo>
                  <a:lnTo>
                    <a:pt x="1111042" y="163134"/>
                  </a:lnTo>
                  <a:lnTo>
                    <a:pt x="1083140" y="204779"/>
                  </a:lnTo>
                  <a:lnTo>
                    <a:pt x="1055551" y="246650"/>
                  </a:lnTo>
                  <a:lnTo>
                    <a:pt x="1028276" y="288746"/>
                  </a:lnTo>
                  <a:lnTo>
                    <a:pt x="1001318" y="331064"/>
                  </a:lnTo>
                  <a:lnTo>
                    <a:pt x="974678" y="373603"/>
                  </a:lnTo>
                  <a:lnTo>
                    <a:pt x="948357" y="416362"/>
                  </a:lnTo>
                  <a:lnTo>
                    <a:pt x="922358" y="459337"/>
                  </a:lnTo>
                  <a:lnTo>
                    <a:pt x="896682" y="502529"/>
                  </a:lnTo>
                  <a:lnTo>
                    <a:pt x="871330" y="545935"/>
                  </a:lnTo>
                  <a:lnTo>
                    <a:pt x="846305" y="589554"/>
                  </a:lnTo>
                  <a:lnTo>
                    <a:pt x="821608" y="633383"/>
                  </a:lnTo>
                  <a:lnTo>
                    <a:pt x="797241" y="677422"/>
                  </a:lnTo>
                  <a:lnTo>
                    <a:pt x="773205" y="721668"/>
                  </a:lnTo>
                  <a:lnTo>
                    <a:pt x="749503" y="766120"/>
                  </a:lnTo>
                  <a:lnTo>
                    <a:pt x="726135" y="810776"/>
                  </a:lnTo>
                  <a:lnTo>
                    <a:pt x="703103" y="855635"/>
                  </a:lnTo>
                  <a:lnTo>
                    <a:pt x="680410" y="900694"/>
                  </a:lnTo>
                  <a:lnTo>
                    <a:pt x="658056" y="945953"/>
                  </a:lnTo>
                  <a:lnTo>
                    <a:pt x="636044" y="991409"/>
                  </a:lnTo>
                  <a:lnTo>
                    <a:pt x="614375" y="1037061"/>
                  </a:lnTo>
                  <a:lnTo>
                    <a:pt x="593051" y="1082907"/>
                  </a:lnTo>
                  <a:lnTo>
                    <a:pt x="572073" y="1128946"/>
                  </a:lnTo>
                  <a:lnTo>
                    <a:pt x="551444" y="1175175"/>
                  </a:lnTo>
                  <a:lnTo>
                    <a:pt x="531164" y="1221594"/>
                  </a:lnTo>
                  <a:lnTo>
                    <a:pt x="511236" y="1268200"/>
                  </a:lnTo>
                  <a:lnTo>
                    <a:pt x="491661" y="1314991"/>
                  </a:lnTo>
                  <a:lnTo>
                    <a:pt x="472441" y="1361967"/>
                  </a:lnTo>
                  <a:lnTo>
                    <a:pt x="453577" y="1409125"/>
                  </a:lnTo>
                  <a:lnTo>
                    <a:pt x="435072" y="1456464"/>
                  </a:lnTo>
                  <a:lnTo>
                    <a:pt x="416926" y="1503982"/>
                  </a:lnTo>
                  <a:lnTo>
                    <a:pt x="399142" y="1551677"/>
                  </a:lnTo>
                  <a:lnTo>
                    <a:pt x="381722" y="1599548"/>
                  </a:lnTo>
                  <a:lnTo>
                    <a:pt x="364666" y="1647594"/>
                  </a:lnTo>
                  <a:lnTo>
                    <a:pt x="347976" y="1695811"/>
                  </a:lnTo>
                  <a:lnTo>
                    <a:pt x="331655" y="1744199"/>
                  </a:lnTo>
                  <a:lnTo>
                    <a:pt x="315704" y="1792756"/>
                  </a:lnTo>
                  <a:lnTo>
                    <a:pt x="300125" y="1841481"/>
                  </a:lnTo>
                  <a:lnTo>
                    <a:pt x="284919" y="1890371"/>
                  </a:lnTo>
                  <a:lnTo>
                    <a:pt x="270087" y="1939425"/>
                  </a:lnTo>
                  <a:lnTo>
                    <a:pt x="255633" y="1988642"/>
                  </a:lnTo>
                  <a:lnTo>
                    <a:pt x="241556" y="2038019"/>
                  </a:lnTo>
                  <a:lnTo>
                    <a:pt x="227860" y="2087555"/>
                  </a:lnTo>
                  <a:lnTo>
                    <a:pt x="214545" y="2137249"/>
                  </a:lnTo>
                  <a:lnTo>
                    <a:pt x="201614" y="2187098"/>
                  </a:lnTo>
                  <a:lnTo>
                    <a:pt x="189067" y="2237101"/>
                  </a:lnTo>
                  <a:lnTo>
                    <a:pt x="176907" y="2287256"/>
                  </a:lnTo>
                  <a:lnTo>
                    <a:pt x="165136" y="2337562"/>
                  </a:lnTo>
                  <a:lnTo>
                    <a:pt x="153755" y="2388017"/>
                  </a:lnTo>
                  <a:lnTo>
                    <a:pt x="142765" y="2438619"/>
                  </a:lnTo>
                  <a:lnTo>
                    <a:pt x="132169" y="2489366"/>
                  </a:lnTo>
                  <a:lnTo>
                    <a:pt x="121967" y="2540258"/>
                  </a:lnTo>
                  <a:lnTo>
                    <a:pt x="112163" y="2591292"/>
                  </a:lnTo>
                  <a:lnTo>
                    <a:pt x="102756" y="2642466"/>
                  </a:lnTo>
                  <a:lnTo>
                    <a:pt x="93750" y="2693779"/>
                  </a:lnTo>
                  <a:lnTo>
                    <a:pt x="85146" y="2745230"/>
                  </a:lnTo>
                  <a:lnTo>
                    <a:pt x="76945" y="2796816"/>
                  </a:lnTo>
                  <a:lnTo>
                    <a:pt x="69149" y="2848536"/>
                  </a:lnTo>
                  <a:lnTo>
                    <a:pt x="61760" y="2900388"/>
                  </a:lnTo>
                  <a:lnTo>
                    <a:pt x="54779" y="2952370"/>
                  </a:lnTo>
                  <a:lnTo>
                    <a:pt x="48208" y="3004482"/>
                  </a:lnTo>
                  <a:lnTo>
                    <a:pt x="42049" y="3056720"/>
                  </a:lnTo>
                  <a:lnTo>
                    <a:pt x="36304" y="3109084"/>
                  </a:lnTo>
                  <a:lnTo>
                    <a:pt x="30974" y="3161572"/>
                  </a:lnTo>
                  <a:lnTo>
                    <a:pt x="26060" y="3214182"/>
                  </a:lnTo>
                  <a:lnTo>
                    <a:pt x="21565" y="3266913"/>
                  </a:lnTo>
                  <a:lnTo>
                    <a:pt x="17490" y="3319762"/>
                  </a:lnTo>
                  <a:lnTo>
                    <a:pt x="13837" y="3372728"/>
                  </a:lnTo>
                  <a:lnTo>
                    <a:pt x="10608" y="3425810"/>
                  </a:lnTo>
                  <a:lnTo>
                    <a:pt x="7803" y="3479006"/>
                  </a:lnTo>
                  <a:lnTo>
                    <a:pt x="5426" y="3532313"/>
                  </a:lnTo>
                  <a:lnTo>
                    <a:pt x="3477" y="3585731"/>
                  </a:lnTo>
                  <a:lnTo>
                    <a:pt x="1958" y="3639258"/>
                  </a:lnTo>
                  <a:lnTo>
                    <a:pt x="871" y="3692892"/>
                  </a:lnTo>
                  <a:lnTo>
                    <a:pt x="218" y="3746631"/>
                  </a:lnTo>
                  <a:lnTo>
                    <a:pt x="0" y="3800475"/>
                  </a:lnTo>
                  <a:lnTo>
                    <a:pt x="218" y="3854317"/>
                  </a:lnTo>
                  <a:lnTo>
                    <a:pt x="871" y="3908056"/>
                  </a:lnTo>
                  <a:lnTo>
                    <a:pt x="1958" y="3961690"/>
                  </a:lnTo>
                  <a:lnTo>
                    <a:pt x="3477" y="4015216"/>
                  </a:lnTo>
                  <a:lnTo>
                    <a:pt x="5426" y="4068634"/>
                  </a:lnTo>
                  <a:lnTo>
                    <a:pt x="7803" y="4121941"/>
                  </a:lnTo>
                  <a:lnTo>
                    <a:pt x="10608" y="4175137"/>
                  </a:lnTo>
                  <a:lnTo>
                    <a:pt x="13837" y="4228218"/>
                  </a:lnTo>
                  <a:lnTo>
                    <a:pt x="17490" y="4281184"/>
                  </a:lnTo>
                  <a:lnTo>
                    <a:pt x="21565" y="4334033"/>
                  </a:lnTo>
                  <a:lnTo>
                    <a:pt x="26060" y="4386763"/>
                  </a:lnTo>
                  <a:lnTo>
                    <a:pt x="30974" y="4439373"/>
                  </a:lnTo>
                  <a:lnTo>
                    <a:pt x="36304" y="4491860"/>
                  </a:lnTo>
                  <a:lnTo>
                    <a:pt x="42049" y="4544224"/>
                  </a:lnTo>
                  <a:lnTo>
                    <a:pt x="48208" y="4596462"/>
                  </a:lnTo>
                  <a:lnTo>
                    <a:pt x="54779" y="4648574"/>
                  </a:lnTo>
                  <a:lnTo>
                    <a:pt x="61760" y="4700556"/>
                  </a:lnTo>
                  <a:lnTo>
                    <a:pt x="69149" y="4752408"/>
                  </a:lnTo>
                  <a:lnTo>
                    <a:pt x="76945" y="4804127"/>
                  </a:lnTo>
                  <a:lnTo>
                    <a:pt x="85146" y="4855713"/>
                  </a:lnTo>
                  <a:lnTo>
                    <a:pt x="93750" y="4907163"/>
                  </a:lnTo>
                  <a:lnTo>
                    <a:pt x="102756" y="4958476"/>
                  </a:lnTo>
                  <a:lnTo>
                    <a:pt x="112163" y="5009650"/>
                  </a:lnTo>
                  <a:lnTo>
                    <a:pt x="121967" y="5060684"/>
                  </a:lnTo>
                  <a:lnTo>
                    <a:pt x="132169" y="5111575"/>
                  </a:lnTo>
                  <a:lnTo>
                    <a:pt x="142765" y="5162323"/>
                  </a:lnTo>
                  <a:lnTo>
                    <a:pt x="153755" y="5212925"/>
                  </a:lnTo>
                  <a:lnTo>
                    <a:pt x="165136" y="5263379"/>
                  </a:lnTo>
                  <a:lnTo>
                    <a:pt x="176907" y="5313685"/>
                  </a:lnTo>
                  <a:lnTo>
                    <a:pt x="189067" y="5363840"/>
                  </a:lnTo>
                  <a:lnTo>
                    <a:pt x="201614" y="5413843"/>
                  </a:lnTo>
                  <a:lnTo>
                    <a:pt x="214545" y="5463692"/>
                  </a:lnTo>
                  <a:lnTo>
                    <a:pt x="227860" y="5513385"/>
                  </a:lnTo>
                  <a:lnTo>
                    <a:pt x="241556" y="5562921"/>
                  </a:lnTo>
                  <a:lnTo>
                    <a:pt x="255633" y="5612298"/>
                  </a:lnTo>
                  <a:lnTo>
                    <a:pt x="270087" y="5661514"/>
                  </a:lnTo>
                  <a:lnTo>
                    <a:pt x="284919" y="5710569"/>
                  </a:lnTo>
                  <a:lnTo>
                    <a:pt x="300125" y="5759459"/>
                  </a:lnTo>
                  <a:lnTo>
                    <a:pt x="315704" y="5808183"/>
                  </a:lnTo>
                  <a:lnTo>
                    <a:pt x="331655" y="5856740"/>
                  </a:lnTo>
                  <a:lnTo>
                    <a:pt x="347976" y="5905128"/>
                  </a:lnTo>
                  <a:lnTo>
                    <a:pt x="364666" y="5953345"/>
                  </a:lnTo>
                  <a:lnTo>
                    <a:pt x="381722" y="6001390"/>
                  </a:lnTo>
                  <a:lnTo>
                    <a:pt x="399142" y="6049261"/>
                  </a:lnTo>
                  <a:lnTo>
                    <a:pt x="416926" y="6096957"/>
                  </a:lnTo>
                  <a:lnTo>
                    <a:pt x="435072" y="6144475"/>
                  </a:lnTo>
                  <a:lnTo>
                    <a:pt x="453577" y="6191813"/>
                  </a:lnTo>
                  <a:lnTo>
                    <a:pt x="472441" y="6238971"/>
                  </a:lnTo>
                  <a:lnTo>
                    <a:pt x="491661" y="6285947"/>
                  </a:lnTo>
                  <a:lnTo>
                    <a:pt x="511236" y="6332739"/>
                  </a:lnTo>
                  <a:lnTo>
                    <a:pt x="531164" y="6379344"/>
                  </a:lnTo>
                  <a:lnTo>
                    <a:pt x="551444" y="6425763"/>
                  </a:lnTo>
                  <a:lnTo>
                    <a:pt x="572073" y="6471992"/>
                  </a:lnTo>
                  <a:lnTo>
                    <a:pt x="593051" y="6518031"/>
                  </a:lnTo>
                  <a:lnTo>
                    <a:pt x="614375" y="6563877"/>
                  </a:lnTo>
                  <a:lnTo>
                    <a:pt x="636044" y="6609529"/>
                  </a:lnTo>
                  <a:lnTo>
                    <a:pt x="658056" y="6654985"/>
                  </a:lnTo>
                  <a:lnTo>
                    <a:pt x="680410" y="6700243"/>
                  </a:lnTo>
                  <a:lnTo>
                    <a:pt x="703103" y="6745303"/>
                  </a:lnTo>
                  <a:lnTo>
                    <a:pt x="726135" y="6790162"/>
                  </a:lnTo>
                  <a:lnTo>
                    <a:pt x="749503" y="6834818"/>
                  </a:lnTo>
                  <a:lnTo>
                    <a:pt x="761864" y="6858000"/>
                  </a:lnTo>
                  <a:lnTo>
                    <a:pt x="5629275" y="6858000"/>
                  </a:lnTo>
                  <a:lnTo>
                    <a:pt x="5629275" y="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3751" y="0"/>
              <a:ext cx="5548630" cy="6858000"/>
            </a:xfrm>
            <a:custGeom>
              <a:avLst/>
              <a:gdLst/>
              <a:ahLst/>
              <a:cxnLst/>
              <a:rect l="l" t="t" r="r" b="b"/>
              <a:pathLst>
                <a:path w="5548630" h="6858000">
                  <a:moveTo>
                    <a:pt x="5548249" y="0"/>
                  </a:moveTo>
                  <a:lnTo>
                    <a:pt x="1229269" y="0"/>
                  </a:lnTo>
                  <a:lnTo>
                    <a:pt x="1226649" y="3599"/>
                  </a:lnTo>
                  <a:lnTo>
                    <a:pt x="1197490" y="44324"/>
                  </a:lnTo>
                  <a:lnTo>
                    <a:pt x="1168638" y="85282"/>
                  </a:lnTo>
                  <a:lnTo>
                    <a:pt x="1140094" y="126471"/>
                  </a:lnTo>
                  <a:lnTo>
                    <a:pt x="1111859" y="167889"/>
                  </a:lnTo>
                  <a:lnTo>
                    <a:pt x="1083937" y="209534"/>
                  </a:lnTo>
                  <a:lnTo>
                    <a:pt x="1056327" y="251405"/>
                  </a:lnTo>
                  <a:lnTo>
                    <a:pt x="1029033" y="293501"/>
                  </a:lnTo>
                  <a:lnTo>
                    <a:pt x="1002055" y="335819"/>
                  </a:lnTo>
                  <a:lnTo>
                    <a:pt x="975395" y="378359"/>
                  </a:lnTo>
                  <a:lnTo>
                    <a:pt x="949055" y="421117"/>
                  </a:lnTo>
                  <a:lnTo>
                    <a:pt x="923037" y="464093"/>
                  </a:lnTo>
                  <a:lnTo>
                    <a:pt x="897342" y="507285"/>
                  </a:lnTo>
                  <a:lnTo>
                    <a:pt x="871972" y="550691"/>
                  </a:lnTo>
                  <a:lnTo>
                    <a:pt x="846928" y="594309"/>
                  </a:lnTo>
                  <a:lnTo>
                    <a:pt x="822213" y="638139"/>
                  </a:lnTo>
                  <a:lnTo>
                    <a:pt x="797828" y="682177"/>
                  </a:lnTo>
                  <a:lnTo>
                    <a:pt x="773775" y="726423"/>
                  </a:lnTo>
                  <a:lnTo>
                    <a:pt x="750055" y="770875"/>
                  </a:lnTo>
                  <a:lnTo>
                    <a:pt x="726670" y="815531"/>
                  </a:lnTo>
                  <a:lnTo>
                    <a:pt x="703621" y="860390"/>
                  </a:lnTo>
                  <a:lnTo>
                    <a:pt x="680911" y="905449"/>
                  </a:lnTo>
                  <a:lnTo>
                    <a:pt x="658541" y="950708"/>
                  </a:lnTo>
                  <a:lnTo>
                    <a:pt x="636513" y="996164"/>
                  </a:lnTo>
                  <a:lnTo>
                    <a:pt x="614828" y="1041815"/>
                  </a:lnTo>
                  <a:lnTo>
                    <a:pt x="593488" y="1087661"/>
                  </a:lnTo>
                  <a:lnTo>
                    <a:pt x="572495" y="1133700"/>
                  </a:lnTo>
                  <a:lnTo>
                    <a:pt x="551850" y="1179929"/>
                  </a:lnTo>
                  <a:lnTo>
                    <a:pt x="531556" y="1226347"/>
                  </a:lnTo>
                  <a:lnTo>
                    <a:pt x="511613" y="1272952"/>
                  </a:lnTo>
                  <a:lnTo>
                    <a:pt x="492024" y="1319744"/>
                  </a:lnTo>
                  <a:lnTo>
                    <a:pt x="472789" y="1366719"/>
                  </a:lnTo>
                  <a:lnTo>
                    <a:pt x="453912" y="1413877"/>
                  </a:lnTo>
                  <a:lnTo>
                    <a:pt x="435393" y="1461215"/>
                  </a:lnTo>
                  <a:lnTo>
                    <a:pt x="417234" y="1508733"/>
                  </a:lnTo>
                  <a:lnTo>
                    <a:pt x="399437" y="1556427"/>
                  </a:lnTo>
                  <a:lnTo>
                    <a:pt x="382003" y="1604298"/>
                  </a:lnTo>
                  <a:lnTo>
                    <a:pt x="364935" y="1652343"/>
                  </a:lnTo>
                  <a:lnTo>
                    <a:pt x="348233" y="1700559"/>
                  </a:lnTo>
                  <a:lnTo>
                    <a:pt x="331900" y="1748947"/>
                  </a:lnTo>
                  <a:lnTo>
                    <a:pt x="315937" y="1797504"/>
                  </a:lnTo>
                  <a:lnTo>
                    <a:pt x="300346" y="1846227"/>
                  </a:lnTo>
                  <a:lnTo>
                    <a:pt x="285129" y="1895117"/>
                  </a:lnTo>
                  <a:lnTo>
                    <a:pt x="270287" y="1944170"/>
                  </a:lnTo>
                  <a:lnTo>
                    <a:pt x="255821" y="1993386"/>
                  </a:lnTo>
                  <a:lnTo>
                    <a:pt x="241735" y="2042763"/>
                  </a:lnTo>
                  <a:lnTo>
                    <a:pt x="228028" y="2092298"/>
                  </a:lnTo>
                  <a:lnTo>
                    <a:pt x="214704" y="2141991"/>
                  </a:lnTo>
                  <a:lnTo>
                    <a:pt x="201763" y="2191839"/>
                  </a:lnTo>
                  <a:lnTo>
                    <a:pt x="189207" y="2241841"/>
                  </a:lnTo>
                  <a:lnTo>
                    <a:pt x="177038" y="2291995"/>
                  </a:lnTo>
                  <a:lnTo>
                    <a:pt x="165258" y="2342300"/>
                  </a:lnTo>
                  <a:lnTo>
                    <a:pt x="153868" y="2392754"/>
                  </a:lnTo>
                  <a:lnTo>
                    <a:pt x="142870" y="2443355"/>
                  </a:lnTo>
                  <a:lnTo>
                    <a:pt x="132266" y="2494102"/>
                  </a:lnTo>
                  <a:lnTo>
                    <a:pt x="122057" y="2544992"/>
                  </a:lnTo>
                  <a:lnTo>
                    <a:pt x="112246" y="2596025"/>
                  </a:lnTo>
                  <a:lnTo>
                    <a:pt x="102832" y="2647198"/>
                  </a:lnTo>
                  <a:lnTo>
                    <a:pt x="93820" y="2698510"/>
                  </a:lnTo>
                  <a:lnTo>
                    <a:pt x="85209" y="2749960"/>
                  </a:lnTo>
                  <a:lnTo>
                    <a:pt x="77002" y="2801544"/>
                  </a:lnTo>
                  <a:lnTo>
                    <a:pt x="69200" y="2853263"/>
                  </a:lnTo>
                  <a:lnTo>
                    <a:pt x="61805" y="2905114"/>
                  </a:lnTo>
                  <a:lnTo>
                    <a:pt x="54819" y="2957095"/>
                  </a:lnTo>
                  <a:lnTo>
                    <a:pt x="48244" y="3009205"/>
                  </a:lnTo>
                  <a:lnTo>
                    <a:pt x="42080" y="3061442"/>
                  </a:lnTo>
                  <a:lnTo>
                    <a:pt x="36331" y="3113805"/>
                  </a:lnTo>
                  <a:lnTo>
                    <a:pt x="30997" y="3166291"/>
                  </a:lnTo>
                  <a:lnTo>
                    <a:pt x="26079" y="3218900"/>
                  </a:lnTo>
                  <a:lnTo>
                    <a:pt x="21581" y="3271629"/>
                  </a:lnTo>
                  <a:lnTo>
                    <a:pt x="17503" y="3324476"/>
                  </a:lnTo>
                  <a:lnTo>
                    <a:pt x="13847" y="3377441"/>
                  </a:lnTo>
                  <a:lnTo>
                    <a:pt x="10616" y="3430521"/>
                  </a:lnTo>
                  <a:lnTo>
                    <a:pt x="7809" y="3483715"/>
                  </a:lnTo>
                  <a:lnTo>
                    <a:pt x="5430" y="3537021"/>
                  </a:lnTo>
                  <a:lnTo>
                    <a:pt x="3479" y="3590438"/>
                  </a:lnTo>
                  <a:lnTo>
                    <a:pt x="1959" y="3643963"/>
                  </a:lnTo>
                  <a:lnTo>
                    <a:pt x="872" y="3697595"/>
                  </a:lnTo>
                  <a:lnTo>
                    <a:pt x="218" y="3751332"/>
                  </a:lnTo>
                  <a:lnTo>
                    <a:pt x="0" y="3805174"/>
                  </a:lnTo>
                  <a:lnTo>
                    <a:pt x="218" y="3859017"/>
                  </a:lnTo>
                  <a:lnTo>
                    <a:pt x="872" y="3912757"/>
                  </a:lnTo>
                  <a:lnTo>
                    <a:pt x="1959" y="3966391"/>
                  </a:lnTo>
                  <a:lnTo>
                    <a:pt x="3479" y="4019919"/>
                  </a:lnTo>
                  <a:lnTo>
                    <a:pt x="5430" y="4073337"/>
                  </a:lnTo>
                  <a:lnTo>
                    <a:pt x="7809" y="4126646"/>
                  </a:lnTo>
                  <a:lnTo>
                    <a:pt x="10616" y="4179842"/>
                  </a:lnTo>
                  <a:lnTo>
                    <a:pt x="13847" y="4232924"/>
                  </a:lnTo>
                  <a:lnTo>
                    <a:pt x="17503" y="4285891"/>
                  </a:lnTo>
                  <a:lnTo>
                    <a:pt x="21581" y="4338741"/>
                  </a:lnTo>
                  <a:lnTo>
                    <a:pt x="26079" y="4391472"/>
                  </a:lnTo>
                  <a:lnTo>
                    <a:pt x="30997" y="4444082"/>
                  </a:lnTo>
                  <a:lnTo>
                    <a:pt x="36331" y="4496570"/>
                  </a:lnTo>
                  <a:lnTo>
                    <a:pt x="42080" y="4548935"/>
                  </a:lnTo>
                  <a:lnTo>
                    <a:pt x="48244" y="4601174"/>
                  </a:lnTo>
                  <a:lnTo>
                    <a:pt x="54819" y="4653285"/>
                  </a:lnTo>
                  <a:lnTo>
                    <a:pt x="61805" y="4705268"/>
                  </a:lnTo>
                  <a:lnTo>
                    <a:pt x="69200" y="4757121"/>
                  </a:lnTo>
                  <a:lnTo>
                    <a:pt x="77002" y="4808841"/>
                  </a:lnTo>
                  <a:lnTo>
                    <a:pt x="85209" y="4860427"/>
                  </a:lnTo>
                  <a:lnTo>
                    <a:pt x="93820" y="4911878"/>
                  </a:lnTo>
                  <a:lnTo>
                    <a:pt x="102832" y="4963192"/>
                  </a:lnTo>
                  <a:lnTo>
                    <a:pt x="112246" y="5014366"/>
                  </a:lnTo>
                  <a:lnTo>
                    <a:pt x="122057" y="5065401"/>
                  </a:lnTo>
                  <a:lnTo>
                    <a:pt x="132266" y="5116293"/>
                  </a:lnTo>
                  <a:lnTo>
                    <a:pt x="142870" y="5167040"/>
                  </a:lnTo>
                  <a:lnTo>
                    <a:pt x="153868" y="5217643"/>
                  </a:lnTo>
                  <a:lnTo>
                    <a:pt x="165258" y="5268098"/>
                  </a:lnTo>
                  <a:lnTo>
                    <a:pt x="177038" y="5318404"/>
                  </a:lnTo>
                  <a:lnTo>
                    <a:pt x="189207" y="5368560"/>
                  </a:lnTo>
                  <a:lnTo>
                    <a:pt x="201763" y="5418563"/>
                  </a:lnTo>
                  <a:lnTo>
                    <a:pt x="214704" y="5468412"/>
                  </a:lnTo>
                  <a:lnTo>
                    <a:pt x="228028" y="5518106"/>
                  </a:lnTo>
                  <a:lnTo>
                    <a:pt x="241735" y="5567642"/>
                  </a:lnTo>
                  <a:lnTo>
                    <a:pt x="255821" y="5617020"/>
                  </a:lnTo>
                  <a:lnTo>
                    <a:pt x="270287" y="5666237"/>
                  </a:lnTo>
                  <a:lnTo>
                    <a:pt x="285129" y="5715291"/>
                  </a:lnTo>
                  <a:lnTo>
                    <a:pt x="300346" y="5764181"/>
                  </a:lnTo>
                  <a:lnTo>
                    <a:pt x="315937" y="5812906"/>
                  </a:lnTo>
                  <a:lnTo>
                    <a:pt x="331900" y="5861463"/>
                  </a:lnTo>
                  <a:lnTo>
                    <a:pt x="348233" y="5909852"/>
                  </a:lnTo>
                  <a:lnTo>
                    <a:pt x="364935" y="5958069"/>
                  </a:lnTo>
                  <a:lnTo>
                    <a:pt x="382003" y="6006115"/>
                  </a:lnTo>
                  <a:lnTo>
                    <a:pt x="399437" y="6053986"/>
                  </a:lnTo>
                  <a:lnTo>
                    <a:pt x="417234" y="6101681"/>
                  </a:lnTo>
                  <a:lnTo>
                    <a:pt x="435393" y="6149199"/>
                  </a:lnTo>
                  <a:lnTo>
                    <a:pt x="453912" y="6196539"/>
                  </a:lnTo>
                  <a:lnTo>
                    <a:pt x="472789" y="6243697"/>
                  </a:lnTo>
                  <a:lnTo>
                    <a:pt x="492024" y="6290673"/>
                  </a:lnTo>
                  <a:lnTo>
                    <a:pt x="511613" y="6337464"/>
                  </a:lnTo>
                  <a:lnTo>
                    <a:pt x="531556" y="6384070"/>
                  </a:lnTo>
                  <a:lnTo>
                    <a:pt x="551850" y="6430489"/>
                  </a:lnTo>
                  <a:lnTo>
                    <a:pt x="572495" y="6476718"/>
                  </a:lnTo>
                  <a:lnTo>
                    <a:pt x="593488" y="6522757"/>
                  </a:lnTo>
                  <a:lnTo>
                    <a:pt x="614828" y="6568603"/>
                  </a:lnTo>
                  <a:lnTo>
                    <a:pt x="636513" y="6614255"/>
                  </a:lnTo>
                  <a:lnTo>
                    <a:pt x="658541" y="6659711"/>
                  </a:lnTo>
                  <a:lnTo>
                    <a:pt x="680911" y="6704970"/>
                  </a:lnTo>
                  <a:lnTo>
                    <a:pt x="703621" y="6750030"/>
                  </a:lnTo>
                  <a:lnTo>
                    <a:pt x="726670" y="6794889"/>
                  </a:lnTo>
                  <a:lnTo>
                    <a:pt x="750055" y="6839545"/>
                  </a:lnTo>
                  <a:lnTo>
                    <a:pt x="759902" y="6858000"/>
                  </a:lnTo>
                  <a:lnTo>
                    <a:pt x="5548249" y="6858000"/>
                  </a:lnTo>
                  <a:lnTo>
                    <a:pt x="5548249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3751" y="0"/>
              <a:ext cx="1229360" cy="6858000"/>
            </a:xfrm>
            <a:custGeom>
              <a:avLst/>
              <a:gdLst/>
              <a:ahLst/>
              <a:cxnLst/>
              <a:rect l="l" t="t" r="r" b="b"/>
              <a:pathLst>
                <a:path w="1229359" h="6858000">
                  <a:moveTo>
                    <a:pt x="759902" y="6858000"/>
                  </a:moveTo>
                  <a:lnTo>
                    <a:pt x="726670" y="6794889"/>
                  </a:lnTo>
                  <a:lnTo>
                    <a:pt x="703621" y="6750030"/>
                  </a:lnTo>
                  <a:lnTo>
                    <a:pt x="680911" y="6704970"/>
                  </a:lnTo>
                  <a:lnTo>
                    <a:pt x="658541" y="6659711"/>
                  </a:lnTo>
                  <a:lnTo>
                    <a:pt x="636513" y="6614255"/>
                  </a:lnTo>
                  <a:lnTo>
                    <a:pt x="614828" y="6568603"/>
                  </a:lnTo>
                  <a:lnTo>
                    <a:pt x="593488" y="6522757"/>
                  </a:lnTo>
                  <a:lnTo>
                    <a:pt x="572495" y="6476718"/>
                  </a:lnTo>
                  <a:lnTo>
                    <a:pt x="551850" y="6430489"/>
                  </a:lnTo>
                  <a:lnTo>
                    <a:pt x="531556" y="6384070"/>
                  </a:lnTo>
                  <a:lnTo>
                    <a:pt x="511613" y="6337464"/>
                  </a:lnTo>
                  <a:lnTo>
                    <a:pt x="492024" y="6290673"/>
                  </a:lnTo>
                  <a:lnTo>
                    <a:pt x="472789" y="6243697"/>
                  </a:lnTo>
                  <a:lnTo>
                    <a:pt x="453912" y="6196539"/>
                  </a:lnTo>
                  <a:lnTo>
                    <a:pt x="435393" y="6149199"/>
                  </a:lnTo>
                  <a:lnTo>
                    <a:pt x="417234" y="6101681"/>
                  </a:lnTo>
                  <a:lnTo>
                    <a:pt x="399437" y="6053986"/>
                  </a:lnTo>
                  <a:lnTo>
                    <a:pt x="382003" y="6006115"/>
                  </a:lnTo>
                  <a:lnTo>
                    <a:pt x="364935" y="5958069"/>
                  </a:lnTo>
                  <a:lnTo>
                    <a:pt x="348233" y="5909852"/>
                  </a:lnTo>
                  <a:lnTo>
                    <a:pt x="331900" y="5861463"/>
                  </a:lnTo>
                  <a:lnTo>
                    <a:pt x="315937" y="5812906"/>
                  </a:lnTo>
                  <a:lnTo>
                    <a:pt x="300346" y="5764181"/>
                  </a:lnTo>
                  <a:lnTo>
                    <a:pt x="285129" y="5715291"/>
                  </a:lnTo>
                  <a:lnTo>
                    <a:pt x="270287" y="5666237"/>
                  </a:lnTo>
                  <a:lnTo>
                    <a:pt x="255821" y="5617020"/>
                  </a:lnTo>
                  <a:lnTo>
                    <a:pt x="241735" y="5567642"/>
                  </a:lnTo>
                  <a:lnTo>
                    <a:pt x="228028" y="5518106"/>
                  </a:lnTo>
                  <a:lnTo>
                    <a:pt x="214704" y="5468412"/>
                  </a:lnTo>
                  <a:lnTo>
                    <a:pt x="201763" y="5418563"/>
                  </a:lnTo>
                  <a:lnTo>
                    <a:pt x="189207" y="5368560"/>
                  </a:lnTo>
                  <a:lnTo>
                    <a:pt x="177038" y="5318404"/>
                  </a:lnTo>
                  <a:lnTo>
                    <a:pt x="165258" y="5268098"/>
                  </a:lnTo>
                  <a:lnTo>
                    <a:pt x="153868" y="5217643"/>
                  </a:lnTo>
                  <a:lnTo>
                    <a:pt x="142870" y="5167040"/>
                  </a:lnTo>
                  <a:lnTo>
                    <a:pt x="132266" y="5116293"/>
                  </a:lnTo>
                  <a:lnTo>
                    <a:pt x="122057" y="5065401"/>
                  </a:lnTo>
                  <a:lnTo>
                    <a:pt x="112246" y="5014366"/>
                  </a:lnTo>
                  <a:lnTo>
                    <a:pt x="102832" y="4963192"/>
                  </a:lnTo>
                  <a:lnTo>
                    <a:pt x="93820" y="4911878"/>
                  </a:lnTo>
                  <a:lnTo>
                    <a:pt x="85209" y="4860427"/>
                  </a:lnTo>
                  <a:lnTo>
                    <a:pt x="77002" y="4808841"/>
                  </a:lnTo>
                  <a:lnTo>
                    <a:pt x="69200" y="4757121"/>
                  </a:lnTo>
                  <a:lnTo>
                    <a:pt x="61805" y="4705268"/>
                  </a:lnTo>
                  <a:lnTo>
                    <a:pt x="54819" y="4653285"/>
                  </a:lnTo>
                  <a:lnTo>
                    <a:pt x="48244" y="4601174"/>
                  </a:lnTo>
                  <a:lnTo>
                    <a:pt x="42080" y="4548935"/>
                  </a:lnTo>
                  <a:lnTo>
                    <a:pt x="36331" y="4496570"/>
                  </a:lnTo>
                  <a:lnTo>
                    <a:pt x="30997" y="4444082"/>
                  </a:lnTo>
                  <a:lnTo>
                    <a:pt x="26079" y="4391472"/>
                  </a:lnTo>
                  <a:lnTo>
                    <a:pt x="21581" y="4338741"/>
                  </a:lnTo>
                  <a:lnTo>
                    <a:pt x="17503" y="4285891"/>
                  </a:lnTo>
                  <a:lnTo>
                    <a:pt x="13847" y="4232924"/>
                  </a:lnTo>
                  <a:lnTo>
                    <a:pt x="10616" y="4179842"/>
                  </a:lnTo>
                  <a:lnTo>
                    <a:pt x="7809" y="4126646"/>
                  </a:lnTo>
                  <a:lnTo>
                    <a:pt x="5430" y="4073337"/>
                  </a:lnTo>
                  <a:lnTo>
                    <a:pt x="3479" y="4019919"/>
                  </a:lnTo>
                  <a:lnTo>
                    <a:pt x="1959" y="3966391"/>
                  </a:lnTo>
                  <a:lnTo>
                    <a:pt x="872" y="3912757"/>
                  </a:lnTo>
                  <a:lnTo>
                    <a:pt x="218" y="3859017"/>
                  </a:lnTo>
                  <a:lnTo>
                    <a:pt x="0" y="3805174"/>
                  </a:lnTo>
                  <a:lnTo>
                    <a:pt x="218" y="3751332"/>
                  </a:lnTo>
                  <a:lnTo>
                    <a:pt x="872" y="3697595"/>
                  </a:lnTo>
                  <a:lnTo>
                    <a:pt x="1959" y="3643963"/>
                  </a:lnTo>
                  <a:lnTo>
                    <a:pt x="3479" y="3590438"/>
                  </a:lnTo>
                  <a:lnTo>
                    <a:pt x="5430" y="3537021"/>
                  </a:lnTo>
                  <a:lnTo>
                    <a:pt x="7809" y="3483715"/>
                  </a:lnTo>
                  <a:lnTo>
                    <a:pt x="10616" y="3430521"/>
                  </a:lnTo>
                  <a:lnTo>
                    <a:pt x="13847" y="3377441"/>
                  </a:lnTo>
                  <a:lnTo>
                    <a:pt x="17503" y="3324476"/>
                  </a:lnTo>
                  <a:lnTo>
                    <a:pt x="21581" y="3271629"/>
                  </a:lnTo>
                  <a:lnTo>
                    <a:pt x="26079" y="3218900"/>
                  </a:lnTo>
                  <a:lnTo>
                    <a:pt x="30997" y="3166291"/>
                  </a:lnTo>
                  <a:lnTo>
                    <a:pt x="36331" y="3113805"/>
                  </a:lnTo>
                  <a:lnTo>
                    <a:pt x="42080" y="3061442"/>
                  </a:lnTo>
                  <a:lnTo>
                    <a:pt x="48244" y="3009205"/>
                  </a:lnTo>
                  <a:lnTo>
                    <a:pt x="54819" y="2957095"/>
                  </a:lnTo>
                  <a:lnTo>
                    <a:pt x="61805" y="2905114"/>
                  </a:lnTo>
                  <a:lnTo>
                    <a:pt x="69200" y="2853263"/>
                  </a:lnTo>
                  <a:lnTo>
                    <a:pt x="77002" y="2801544"/>
                  </a:lnTo>
                  <a:lnTo>
                    <a:pt x="85209" y="2749960"/>
                  </a:lnTo>
                  <a:lnTo>
                    <a:pt x="93820" y="2698510"/>
                  </a:lnTo>
                  <a:lnTo>
                    <a:pt x="102832" y="2647198"/>
                  </a:lnTo>
                  <a:lnTo>
                    <a:pt x="112246" y="2596025"/>
                  </a:lnTo>
                  <a:lnTo>
                    <a:pt x="122057" y="2544992"/>
                  </a:lnTo>
                  <a:lnTo>
                    <a:pt x="132266" y="2494102"/>
                  </a:lnTo>
                  <a:lnTo>
                    <a:pt x="142870" y="2443355"/>
                  </a:lnTo>
                  <a:lnTo>
                    <a:pt x="153868" y="2392754"/>
                  </a:lnTo>
                  <a:lnTo>
                    <a:pt x="165258" y="2342300"/>
                  </a:lnTo>
                  <a:lnTo>
                    <a:pt x="177038" y="2291995"/>
                  </a:lnTo>
                  <a:lnTo>
                    <a:pt x="189207" y="2241841"/>
                  </a:lnTo>
                  <a:lnTo>
                    <a:pt x="201763" y="2191839"/>
                  </a:lnTo>
                  <a:lnTo>
                    <a:pt x="214704" y="2141991"/>
                  </a:lnTo>
                  <a:lnTo>
                    <a:pt x="228028" y="2092298"/>
                  </a:lnTo>
                  <a:lnTo>
                    <a:pt x="241735" y="2042763"/>
                  </a:lnTo>
                  <a:lnTo>
                    <a:pt x="255821" y="1993386"/>
                  </a:lnTo>
                  <a:lnTo>
                    <a:pt x="270287" y="1944170"/>
                  </a:lnTo>
                  <a:lnTo>
                    <a:pt x="285129" y="1895117"/>
                  </a:lnTo>
                  <a:lnTo>
                    <a:pt x="300346" y="1846227"/>
                  </a:lnTo>
                  <a:lnTo>
                    <a:pt x="315937" y="1797504"/>
                  </a:lnTo>
                  <a:lnTo>
                    <a:pt x="331900" y="1748947"/>
                  </a:lnTo>
                  <a:lnTo>
                    <a:pt x="348233" y="1700559"/>
                  </a:lnTo>
                  <a:lnTo>
                    <a:pt x="364935" y="1652343"/>
                  </a:lnTo>
                  <a:lnTo>
                    <a:pt x="382003" y="1604298"/>
                  </a:lnTo>
                  <a:lnTo>
                    <a:pt x="399437" y="1556427"/>
                  </a:lnTo>
                  <a:lnTo>
                    <a:pt x="417234" y="1508733"/>
                  </a:lnTo>
                  <a:lnTo>
                    <a:pt x="435393" y="1461215"/>
                  </a:lnTo>
                  <a:lnTo>
                    <a:pt x="453912" y="1413877"/>
                  </a:lnTo>
                  <a:lnTo>
                    <a:pt x="472789" y="1366719"/>
                  </a:lnTo>
                  <a:lnTo>
                    <a:pt x="492024" y="1319744"/>
                  </a:lnTo>
                  <a:lnTo>
                    <a:pt x="511613" y="1272952"/>
                  </a:lnTo>
                  <a:lnTo>
                    <a:pt x="531556" y="1226347"/>
                  </a:lnTo>
                  <a:lnTo>
                    <a:pt x="551850" y="1179929"/>
                  </a:lnTo>
                  <a:lnTo>
                    <a:pt x="572495" y="1133700"/>
                  </a:lnTo>
                  <a:lnTo>
                    <a:pt x="593488" y="1087661"/>
                  </a:lnTo>
                  <a:lnTo>
                    <a:pt x="614828" y="1041815"/>
                  </a:lnTo>
                  <a:lnTo>
                    <a:pt x="636513" y="996164"/>
                  </a:lnTo>
                  <a:lnTo>
                    <a:pt x="658541" y="950708"/>
                  </a:lnTo>
                  <a:lnTo>
                    <a:pt x="680911" y="905449"/>
                  </a:lnTo>
                  <a:lnTo>
                    <a:pt x="703621" y="860390"/>
                  </a:lnTo>
                  <a:lnTo>
                    <a:pt x="726670" y="815531"/>
                  </a:lnTo>
                  <a:lnTo>
                    <a:pt x="750055" y="770875"/>
                  </a:lnTo>
                  <a:lnTo>
                    <a:pt x="773775" y="726423"/>
                  </a:lnTo>
                  <a:lnTo>
                    <a:pt x="797828" y="682177"/>
                  </a:lnTo>
                  <a:lnTo>
                    <a:pt x="822213" y="638139"/>
                  </a:lnTo>
                  <a:lnTo>
                    <a:pt x="846928" y="594309"/>
                  </a:lnTo>
                  <a:lnTo>
                    <a:pt x="871972" y="550691"/>
                  </a:lnTo>
                  <a:lnTo>
                    <a:pt x="897342" y="507285"/>
                  </a:lnTo>
                  <a:lnTo>
                    <a:pt x="923037" y="464093"/>
                  </a:lnTo>
                  <a:lnTo>
                    <a:pt x="949055" y="421117"/>
                  </a:lnTo>
                  <a:lnTo>
                    <a:pt x="975395" y="378359"/>
                  </a:lnTo>
                  <a:lnTo>
                    <a:pt x="1002055" y="335819"/>
                  </a:lnTo>
                  <a:lnTo>
                    <a:pt x="1029033" y="293501"/>
                  </a:lnTo>
                  <a:lnTo>
                    <a:pt x="1056327" y="251405"/>
                  </a:lnTo>
                  <a:lnTo>
                    <a:pt x="1083937" y="209534"/>
                  </a:lnTo>
                  <a:lnTo>
                    <a:pt x="1111859" y="167889"/>
                  </a:lnTo>
                  <a:lnTo>
                    <a:pt x="1140094" y="126471"/>
                  </a:lnTo>
                  <a:lnTo>
                    <a:pt x="1168638" y="85282"/>
                  </a:lnTo>
                  <a:lnTo>
                    <a:pt x="1197490" y="44324"/>
                  </a:lnTo>
                  <a:lnTo>
                    <a:pt x="1226649" y="3599"/>
                  </a:lnTo>
                  <a:lnTo>
                    <a:pt x="1229269" y="0"/>
                  </a:lnTo>
                </a:path>
              </a:pathLst>
            </a:custGeom>
            <a:ln w="12699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825" y="0"/>
              <a:ext cx="5210175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637" y="323278"/>
            <a:ext cx="5404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BI</a:t>
            </a:r>
            <a:r>
              <a:rPr spc="-5" dirty="0"/>
              <a:t>行业发展历程：从</a:t>
            </a:r>
            <a:r>
              <a:rPr spc="-25" dirty="0"/>
              <a:t>Excel</a:t>
            </a:r>
            <a:r>
              <a:rPr spc="-10" dirty="0"/>
              <a:t>到AI</a:t>
            </a:r>
            <a:r>
              <a:rPr spc="-15" dirty="0"/>
              <a:t>时代演进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9220200" cy="5495925"/>
            <a:chOff x="0" y="304800"/>
            <a:chExt cx="9220200" cy="5495925"/>
          </a:xfrm>
        </p:grpSpPr>
        <p:sp>
          <p:nvSpPr>
            <p:cNvPr id="6" name="object 6"/>
            <p:cNvSpPr/>
            <p:nvPr/>
          </p:nvSpPr>
          <p:spPr>
            <a:xfrm>
              <a:off x="0" y="304799"/>
              <a:ext cx="9220200" cy="5495925"/>
            </a:xfrm>
            <a:custGeom>
              <a:avLst/>
              <a:gdLst/>
              <a:ahLst/>
              <a:cxnLst/>
              <a:rect l="l" t="t" r="r" b="b"/>
              <a:pathLst>
                <a:path w="9220200" h="5495925">
                  <a:moveTo>
                    <a:pt x="1143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4300" y="447675"/>
                  </a:lnTo>
                  <a:lnTo>
                    <a:pt x="114300" y="0"/>
                  </a:lnTo>
                  <a:close/>
                </a:path>
                <a:path w="9220200" h="5495925">
                  <a:moveTo>
                    <a:pt x="9220200" y="1104900"/>
                  </a:moveTo>
                  <a:lnTo>
                    <a:pt x="6467475" y="1104900"/>
                  </a:lnTo>
                  <a:lnTo>
                    <a:pt x="6467475" y="5495925"/>
                  </a:lnTo>
                  <a:lnTo>
                    <a:pt x="9220200" y="5495925"/>
                  </a:lnTo>
                  <a:lnTo>
                    <a:pt x="9220200" y="110490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62700" y="2181225"/>
              <a:ext cx="2857500" cy="400050"/>
            </a:xfrm>
            <a:custGeom>
              <a:avLst/>
              <a:gdLst/>
              <a:ahLst/>
              <a:cxnLst/>
              <a:rect l="l" t="t" r="r" b="b"/>
              <a:pathLst>
                <a:path w="2857500" h="400050">
                  <a:moveTo>
                    <a:pt x="1012444" y="99949"/>
                  </a:moveTo>
                  <a:lnTo>
                    <a:pt x="0" y="99949"/>
                  </a:lnTo>
                  <a:lnTo>
                    <a:pt x="88900" y="200025"/>
                  </a:lnTo>
                  <a:lnTo>
                    <a:pt x="0" y="299974"/>
                  </a:lnTo>
                  <a:lnTo>
                    <a:pt x="1013078" y="299974"/>
                  </a:lnTo>
                  <a:lnTo>
                    <a:pt x="1011808" y="295401"/>
                  </a:lnTo>
                  <a:lnTo>
                    <a:pt x="1008048" y="271857"/>
                  </a:lnTo>
                  <a:lnTo>
                    <a:pt x="1005347" y="247919"/>
                  </a:lnTo>
                  <a:lnTo>
                    <a:pt x="1003718" y="223625"/>
                  </a:lnTo>
                  <a:lnTo>
                    <a:pt x="1003195" y="200025"/>
                  </a:lnTo>
                  <a:lnTo>
                    <a:pt x="1003173" y="199009"/>
                  </a:lnTo>
                  <a:lnTo>
                    <a:pt x="1003718" y="174390"/>
                  </a:lnTo>
                  <a:lnTo>
                    <a:pt x="1005347" y="150082"/>
                  </a:lnTo>
                  <a:lnTo>
                    <a:pt x="1008048" y="126107"/>
                  </a:lnTo>
                  <a:lnTo>
                    <a:pt x="1011808" y="102488"/>
                  </a:lnTo>
                  <a:lnTo>
                    <a:pt x="1012444" y="99949"/>
                  </a:lnTo>
                  <a:close/>
                </a:path>
                <a:path w="2857500" h="400050">
                  <a:moveTo>
                    <a:pt x="2679827" y="0"/>
                  </a:moveTo>
                  <a:lnTo>
                    <a:pt x="2679827" y="99949"/>
                  </a:lnTo>
                  <a:lnTo>
                    <a:pt x="1843785" y="99949"/>
                  </a:lnTo>
                  <a:lnTo>
                    <a:pt x="1844548" y="102488"/>
                  </a:lnTo>
                  <a:lnTo>
                    <a:pt x="1848254" y="126107"/>
                  </a:lnTo>
                  <a:lnTo>
                    <a:pt x="1850961" y="150082"/>
                  </a:lnTo>
                  <a:lnTo>
                    <a:pt x="1852620" y="174390"/>
                  </a:lnTo>
                  <a:lnTo>
                    <a:pt x="1853183" y="199009"/>
                  </a:lnTo>
                  <a:lnTo>
                    <a:pt x="1852620" y="223625"/>
                  </a:lnTo>
                  <a:lnTo>
                    <a:pt x="1850961" y="247919"/>
                  </a:lnTo>
                  <a:lnTo>
                    <a:pt x="1848254" y="271857"/>
                  </a:lnTo>
                  <a:lnTo>
                    <a:pt x="1844548" y="295401"/>
                  </a:lnTo>
                  <a:lnTo>
                    <a:pt x="1843151" y="299974"/>
                  </a:lnTo>
                  <a:lnTo>
                    <a:pt x="2679827" y="299974"/>
                  </a:lnTo>
                  <a:lnTo>
                    <a:pt x="2679827" y="400050"/>
                  </a:lnTo>
                  <a:lnTo>
                    <a:pt x="2857500" y="200025"/>
                  </a:lnTo>
                  <a:lnTo>
                    <a:pt x="2679827" y="0"/>
                  </a:lnTo>
                  <a:close/>
                </a:path>
              </a:pathLst>
            </a:custGeom>
            <a:solidFill>
              <a:srgbClr val="FF7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5200" y="1943100"/>
              <a:ext cx="923925" cy="876300"/>
            </a:xfrm>
            <a:custGeom>
              <a:avLst/>
              <a:gdLst/>
              <a:ahLst/>
              <a:cxnLst/>
              <a:rect l="l" t="t" r="r" b="b"/>
              <a:pathLst>
                <a:path w="923925" h="876300">
                  <a:moveTo>
                    <a:pt x="462025" y="0"/>
                  </a:moveTo>
                  <a:lnTo>
                    <a:pt x="411687" y="2571"/>
                  </a:lnTo>
                  <a:lnTo>
                    <a:pt x="362918" y="10108"/>
                  </a:lnTo>
                  <a:lnTo>
                    <a:pt x="316000" y="22341"/>
                  </a:lnTo>
                  <a:lnTo>
                    <a:pt x="271215" y="39005"/>
                  </a:lnTo>
                  <a:lnTo>
                    <a:pt x="228844" y="59831"/>
                  </a:lnTo>
                  <a:lnTo>
                    <a:pt x="189171" y="84551"/>
                  </a:lnTo>
                  <a:lnTo>
                    <a:pt x="152476" y="112899"/>
                  </a:lnTo>
                  <a:lnTo>
                    <a:pt x="119042" y="144606"/>
                  </a:lnTo>
                  <a:lnTo>
                    <a:pt x="89151" y="179405"/>
                  </a:lnTo>
                  <a:lnTo>
                    <a:pt x="63086" y="217028"/>
                  </a:lnTo>
                  <a:lnTo>
                    <a:pt x="41127" y="257209"/>
                  </a:lnTo>
                  <a:lnTo>
                    <a:pt x="23556" y="299679"/>
                  </a:lnTo>
                  <a:lnTo>
                    <a:pt x="10657" y="344171"/>
                  </a:lnTo>
                  <a:lnTo>
                    <a:pt x="2711" y="390417"/>
                  </a:lnTo>
                  <a:lnTo>
                    <a:pt x="0" y="438150"/>
                  </a:lnTo>
                  <a:lnTo>
                    <a:pt x="2711" y="485882"/>
                  </a:lnTo>
                  <a:lnTo>
                    <a:pt x="10657" y="532128"/>
                  </a:lnTo>
                  <a:lnTo>
                    <a:pt x="23556" y="576620"/>
                  </a:lnTo>
                  <a:lnTo>
                    <a:pt x="41127" y="619090"/>
                  </a:lnTo>
                  <a:lnTo>
                    <a:pt x="63086" y="659271"/>
                  </a:lnTo>
                  <a:lnTo>
                    <a:pt x="89151" y="696894"/>
                  </a:lnTo>
                  <a:lnTo>
                    <a:pt x="119042" y="731693"/>
                  </a:lnTo>
                  <a:lnTo>
                    <a:pt x="152476" y="763400"/>
                  </a:lnTo>
                  <a:lnTo>
                    <a:pt x="189171" y="791748"/>
                  </a:lnTo>
                  <a:lnTo>
                    <a:pt x="228844" y="816468"/>
                  </a:lnTo>
                  <a:lnTo>
                    <a:pt x="271215" y="837294"/>
                  </a:lnTo>
                  <a:lnTo>
                    <a:pt x="316000" y="853958"/>
                  </a:lnTo>
                  <a:lnTo>
                    <a:pt x="362918" y="866191"/>
                  </a:lnTo>
                  <a:lnTo>
                    <a:pt x="411687" y="873728"/>
                  </a:lnTo>
                  <a:lnTo>
                    <a:pt x="462025" y="876300"/>
                  </a:lnTo>
                  <a:lnTo>
                    <a:pt x="512340" y="873728"/>
                  </a:lnTo>
                  <a:lnTo>
                    <a:pt x="561089" y="866191"/>
                  </a:lnTo>
                  <a:lnTo>
                    <a:pt x="607989" y="853958"/>
                  </a:lnTo>
                  <a:lnTo>
                    <a:pt x="652760" y="837294"/>
                  </a:lnTo>
                  <a:lnTo>
                    <a:pt x="695118" y="816468"/>
                  </a:lnTo>
                  <a:lnTo>
                    <a:pt x="734781" y="791748"/>
                  </a:lnTo>
                  <a:lnTo>
                    <a:pt x="771467" y="763400"/>
                  </a:lnTo>
                  <a:lnTo>
                    <a:pt x="804895" y="731693"/>
                  </a:lnTo>
                  <a:lnTo>
                    <a:pt x="834781" y="696894"/>
                  </a:lnTo>
                  <a:lnTo>
                    <a:pt x="860843" y="659271"/>
                  </a:lnTo>
                  <a:lnTo>
                    <a:pt x="882800" y="619090"/>
                  </a:lnTo>
                  <a:lnTo>
                    <a:pt x="900369" y="576620"/>
                  </a:lnTo>
                  <a:lnTo>
                    <a:pt x="913267" y="532128"/>
                  </a:lnTo>
                  <a:lnTo>
                    <a:pt x="921213" y="485882"/>
                  </a:lnTo>
                  <a:lnTo>
                    <a:pt x="923925" y="438150"/>
                  </a:lnTo>
                  <a:lnTo>
                    <a:pt x="921213" y="390417"/>
                  </a:lnTo>
                  <a:lnTo>
                    <a:pt x="913267" y="344171"/>
                  </a:lnTo>
                  <a:lnTo>
                    <a:pt x="900369" y="299679"/>
                  </a:lnTo>
                  <a:lnTo>
                    <a:pt x="882800" y="257209"/>
                  </a:lnTo>
                  <a:lnTo>
                    <a:pt x="860843" y="217028"/>
                  </a:lnTo>
                  <a:lnTo>
                    <a:pt x="834781" y="179405"/>
                  </a:lnTo>
                  <a:lnTo>
                    <a:pt x="804895" y="144606"/>
                  </a:lnTo>
                  <a:lnTo>
                    <a:pt x="771467" y="112899"/>
                  </a:lnTo>
                  <a:lnTo>
                    <a:pt x="734781" y="84551"/>
                  </a:lnTo>
                  <a:lnTo>
                    <a:pt x="695118" y="59831"/>
                  </a:lnTo>
                  <a:lnTo>
                    <a:pt x="652760" y="39005"/>
                  </a:lnTo>
                  <a:lnTo>
                    <a:pt x="607989" y="22341"/>
                  </a:lnTo>
                  <a:lnTo>
                    <a:pt x="561089" y="10108"/>
                  </a:lnTo>
                  <a:lnTo>
                    <a:pt x="512340" y="2571"/>
                  </a:lnTo>
                  <a:lnTo>
                    <a:pt x="462025" y="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24825" y="854710"/>
            <a:ext cx="1835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1C4AE6"/>
                </a:solidFill>
                <a:latin typeface="Microsoft YaHei"/>
                <a:cs typeface="Microsoft YaHei"/>
              </a:rPr>
              <a:t>Chat</a:t>
            </a:r>
            <a:r>
              <a:rPr sz="2400" b="1" spc="-20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BI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7475" y="6019800"/>
            <a:ext cx="2752725" cy="371475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4508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AI</a:t>
            </a:r>
            <a:r>
              <a:rPr sz="18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时代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7475" y="1409700"/>
            <a:ext cx="2752725" cy="439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00">
              <a:latin typeface="Times New Roman"/>
              <a:cs typeface="Times New Roman"/>
            </a:endParaRPr>
          </a:p>
          <a:p>
            <a:pPr marL="722630" marR="650240" algn="just">
              <a:lnSpc>
                <a:spcPct val="199900"/>
              </a:lnSpc>
            </a:pPr>
            <a:r>
              <a:rPr sz="1800" b="1" spc="-20" dirty="0">
                <a:solidFill>
                  <a:srgbClr val="FFFFFF"/>
                </a:solidFill>
                <a:latin typeface="Microsoft YaHei"/>
                <a:cs typeface="Microsoft YaHei"/>
              </a:rPr>
              <a:t>不限数据量级面向所有用户自然语言交互</a:t>
            </a:r>
            <a:endParaRPr sz="1800">
              <a:latin typeface="Microsoft YaHei"/>
              <a:cs typeface="Microsoft YaHei"/>
            </a:endParaRPr>
          </a:p>
          <a:p>
            <a:pPr marL="493395">
              <a:lnSpc>
                <a:spcPct val="100000"/>
              </a:lnSpc>
              <a:spcBef>
                <a:spcPts val="2200"/>
              </a:spcBef>
            </a:pPr>
            <a:r>
              <a:rPr sz="18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随时随地获取数据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50" y="2047875"/>
            <a:ext cx="542925" cy="6000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63612" y="1673542"/>
            <a:ext cx="9410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Microsoft YaHei"/>
                <a:cs typeface="Microsoft YaHei"/>
              </a:rPr>
              <a:t>传统分析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17266" y="1677606"/>
            <a:ext cx="9410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Microsoft YaHei"/>
                <a:cs typeface="Microsoft YaHei"/>
              </a:rPr>
              <a:t>固定分析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0059" y="1674177"/>
            <a:ext cx="1168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Microsoft YaHei"/>
                <a:cs typeface="Microsoft YaHei"/>
              </a:rPr>
              <a:t>自助式分析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8985" y="5372100"/>
            <a:ext cx="5731510" cy="371475"/>
            <a:chOff x="518985" y="5372100"/>
            <a:chExt cx="5731510" cy="371475"/>
          </a:xfrm>
        </p:grpSpPr>
        <p:sp>
          <p:nvSpPr>
            <p:cNvPr id="17" name="object 17"/>
            <p:cNvSpPr/>
            <p:nvPr/>
          </p:nvSpPr>
          <p:spPr>
            <a:xfrm>
              <a:off x="518985" y="5481701"/>
              <a:ext cx="5731510" cy="76200"/>
            </a:xfrm>
            <a:custGeom>
              <a:avLst/>
              <a:gdLst/>
              <a:ahLst/>
              <a:cxnLst/>
              <a:rect l="l" t="t" r="r" b="b"/>
              <a:pathLst>
                <a:path w="5731510" h="76200">
                  <a:moveTo>
                    <a:pt x="38353" y="0"/>
                  </a:moveTo>
                  <a:lnTo>
                    <a:pt x="38100" y="0"/>
                  </a:lnTo>
                  <a:lnTo>
                    <a:pt x="0" y="38100"/>
                  </a:lnTo>
                  <a:lnTo>
                    <a:pt x="253" y="38100"/>
                  </a:lnTo>
                  <a:lnTo>
                    <a:pt x="38353" y="76200"/>
                  </a:lnTo>
                  <a:lnTo>
                    <a:pt x="38100" y="76200"/>
                  </a:lnTo>
                  <a:lnTo>
                    <a:pt x="69850" y="44450"/>
                  </a:lnTo>
                  <a:lnTo>
                    <a:pt x="38226" y="44450"/>
                  </a:lnTo>
                  <a:lnTo>
                    <a:pt x="38226" y="31750"/>
                  </a:lnTo>
                  <a:lnTo>
                    <a:pt x="70103" y="31750"/>
                  </a:lnTo>
                  <a:lnTo>
                    <a:pt x="38353" y="0"/>
                  </a:lnTo>
                  <a:close/>
                </a:path>
                <a:path w="5731510" h="76200">
                  <a:moveTo>
                    <a:pt x="5655246" y="0"/>
                  </a:moveTo>
                  <a:lnTo>
                    <a:pt x="5655246" y="76200"/>
                  </a:lnTo>
                  <a:lnTo>
                    <a:pt x="5718746" y="44450"/>
                  </a:lnTo>
                  <a:lnTo>
                    <a:pt x="5667946" y="44450"/>
                  </a:lnTo>
                  <a:lnTo>
                    <a:pt x="5667946" y="31750"/>
                  </a:lnTo>
                  <a:lnTo>
                    <a:pt x="5718746" y="31750"/>
                  </a:lnTo>
                  <a:lnTo>
                    <a:pt x="5655246" y="0"/>
                  </a:lnTo>
                  <a:close/>
                </a:path>
                <a:path w="5731510" h="76200">
                  <a:moveTo>
                    <a:pt x="70103" y="31750"/>
                  </a:moveTo>
                  <a:lnTo>
                    <a:pt x="38226" y="31750"/>
                  </a:lnTo>
                  <a:lnTo>
                    <a:pt x="38226" y="44450"/>
                  </a:lnTo>
                  <a:lnTo>
                    <a:pt x="69850" y="44450"/>
                  </a:lnTo>
                  <a:lnTo>
                    <a:pt x="76200" y="38100"/>
                  </a:lnTo>
                  <a:lnTo>
                    <a:pt x="76453" y="38100"/>
                  </a:lnTo>
                  <a:lnTo>
                    <a:pt x="70103" y="31750"/>
                  </a:lnTo>
                  <a:close/>
                </a:path>
                <a:path w="5731510" h="76200">
                  <a:moveTo>
                    <a:pt x="5655246" y="31750"/>
                  </a:moveTo>
                  <a:lnTo>
                    <a:pt x="70103" y="31750"/>
                  </a:lnTo>
                  <a:lnTo>
                    <a:pt x="76453" y="38100"/>
                  </a:lnTo>
                  <a:lnTo>
                    <a:pt x="76200" y="38100"/>
                  </a:lnTo>
                  <a:lnTo>
                    <a:pt x="69850" y="44450"/>
                  </a:lnTo>
                  <a:lnTo>
                    <a:pt x="5655246" y="44450"/>
                  </a:lnTo>
                  <a:lnTo>
                    <a:pt x="5655246" y="31750"/>
                  </a:lnTo>
                  <a:close/>
                </a:path>
                <a:path w="5731510" h="76200">
                  <a:moveTo>
                    <a:pt x="5718746" y="31750"/>
                  </a:moveTo>
                  <a:lnTo>
                    <a:pt x="5667946" y="31750"/>
                  </a:lnTo>
                  <a:lnTo>
                    <a:pt x="5667946" y="44450"/>
                  </a:lnTo>
                  <a:lnTo>
                    <a:pt x="5718746" y="44450"/>
                  </a:lnTo>
                  <a:lnTo>
                    <a:pt x="5731446" y="38100"/>
                  </a:lnTo>
                  <a:lnTo>
                    <a:pt x="5718746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86049" y="5372100"/>
              <a:ext cx="1285875" cy="371475"/>
            </a:xfrm>
            <a:custGeom>
              <a:avLst/>
              <a:gdLst/>
              <a:ahLst/>
              <a:cxnLst/>
              <a:rect l="l" t="t" r="r" b="b"/>
              <a:pathLst>
                <a:path w="1285875" h="371475">
                  <a:moveTo>
                    <a:pt x="128587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285875" y="371475"/>
                  </a:lnTo>
                  <a:lnTo>
                    <a:pt x="1285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37510" y="5406390"/>
            <a:ext cx="788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585858"/>
                </a:solidFill>
                <a:latin typeface="Microsoft YaHei"/>
                <a:cs typeface="Microsoft YaHei"/>
              </a:rPr>
              <a:t>PC</a:t>
            </a:r>
            <a:r>
              <a:rPr sz="1800" b="1" spc="-25" dirty="0">
                <a:solidFill>
                  <a:srgbClr val="585858"/>
                </a:solidFill>
                <a:latin typeface="Microsoft YaHei"/>
                <a:cs typeface="Microsoft YaHei"/>
              </a:rPr>
              <a:t>时代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0525" y="2009838"/>
            <a:ext cx="5972175" cy="3352800"/>
            <a:chOff x="390525" y="2009838"/>
            <a:chExt cx="5972175" cy="3352800"/>
          </a:xfrm>
        </p:grpSpPr>
        <p:sp>
          <p:nvSpPr>
            <p:cNvPr id="21" name="object 21"/>
            <p:cNvSpPr/>
            <p:nvPr/>
          </p:nvSpPr>
          <p:spPr>
            <a:xfrm>
              <a:off x="557212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1733550" y="0"/>
                  </a:moveTo>
                  <a:lnTo>
                    <a:pt x="0" y="0"/>
                  </a:lnTo>
                  <a:lnTo>
                    <a:pt x="0" y="3343275"/>
                  </a:lnTo>
                  <a:lnTo>
                    <a:pt x="1733550" y="33432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7212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0" y="3343275"/>
                  </a:moveTo>
                  <a:lnTo>
                    <a:pt x="1733550" y="33432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34327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8476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1733550" y="0"/>
                  </a:moveTo>
                  <a:lnTo>
                    <a:pt x="0" y="0"/>
                  </a:lnTo>
                  <a:lnTo>
                    <a:pt x="0" y="3343275"/>
                  </a:lnTo>
                  <a:lnTo>
                    <a:pt x="1733550" y="33432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38476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0" y="3343275"/>
                  </a:moveTo>
                  <a:lnTo>
                    <a:pt x="1733550" y="33432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34327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19676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1733550" y="0"/>
                  </a:moveTo>
                  <a:lnTo>
                    <a:pt x="0" y="0"/>
                  </a:lnTo>
                  <a:lnTo>
                    <a:pt x="0" y="3343275"/>
                  </a:lnTo>
                  <a:lnTo>
                    <a:pt x="1733550" y="3343275"/>
                  </a:lnTo>
                  <a:lnTo>
                    <a:pt x="1733550" y="0"/>
                  </a:lnTo>
                  <a:close/>
                </a:path>
              </a:pathLst>
            </a:custGeom>
            <a:solidFill>
              <a:srgbClr val="FFFFFF">
                <a:alpha val="4823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19676" y="2014601"/>
              <a:ext cx="1733550" cy="3343275"/>
            </a:xfrm>
            <a:custGeom>
              <a:avLst/>
              <a:gdLst/>
              <a:ahLst/>
              <a:cxnLst/>
              <a:rect l="l" t="t" r="r" b="b"/>
              <a:pathLst>
                <a:path w="1733550" h="3343275">
                  <a:moveTo>
                    <a:pt x="0" y="3343275"/>
                  </a:moveTo>
                  <a:lnTo>
                    <a:pt x="1733550" y="3343275"/>
                  </a:lnTo>
                  <a:lnTo>
                    <a:pt x="1733550" y="0"/>
                  </a:lnTo>
                  <a:lnTo>
                    <a:pt x="0" y="0"/>
                  </a:lnTo>
                  <a:lnTo>
                    <a:pt x="0" y="334327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0525" y="2266949"/>
              <a:ext cx="5972175" cy="647700"/>
            </a:xfrm>
            <a:custGeom>
              <a:avLst/>
              <a:gdLst/>
              <a:ahLst/>
              <a:cxnLst/>
              <a:rect l="l" t="t" r="r" b="b"/>
              <a:pathLst>
                <a:path w="5972175" h="647700">
                  <a:moveTo>
                    <a:pt x="1990725" y="338074"/>
                  </a:moveTo>
                  <a:lnTo>
                    <a:pt x="1866900" y="200025"/>
                  </a:lnTo>
                  <a:lnTo>
                    <a:pt x="1866900" y="269113"/>
                  </a:lnTo>
                  <a:lnTo>
                    <a:pt x="1301991" y="269113"/>
                  </a:lnTo>
                  <a:lnTo>
                    <a:pt x="1292009" y="220116"/>
                  </a:lnTo>
                  <a:lnTo>
                    <a:pt x="1276578" y="179019"/>
                  </a:lnTo>
                  <a:lnTo>
                    <a:pt x="1255801" y="140970"/>
                  </a:lnTo>
                  <a:lnTo>
                    <a:pt x="1230134" y="106451"/>
                  </a:lnTo>
                  <a:lnTo>
                    <a:pt x="1200061" y="75920"/>
                  </a:lnTo>
                  <a:lnTo>
                    <a:pt x="1166063" y="49860"/>
                  </a:lnTo>
                  <a:lnTo>
                    <a:pt x="1128585" y="28765"/>
                  </a:lnTo>
                  <a:lnTo>
                    <a:pt x="1088123" y="13106"/>
                  </a:lnTo>
                  <a:lnTo>
                    <a:pt x="1045146" y="3365"/>
                  </a:lnTo>
                  <a:lnTo>
                    <a:pt x="1000125" y="0"/>
                  </a:lnTo>
                  <a:lnTo>
                    <a:pt x="955078" y="3365"/>
                  </a:lnTo>
                  <a:lnTo>
                    <a:pt x="912088" y="13106"/>
                  </a:lnTo>
                  <a:lnTo>
                    <a:pt x="871626" y="28765"/>
                  </a:lnTo>
                  <a:lnTo>
                    <a:pt x="834148" y="49860"/>
                  </a:lnTo>
                  <a:lnTo>
                    <a:pt x="800150" y="75920"/>
                  </a:lnTo>
                  <a:lnTo>
                    <a:pt x="770077" y="106451"/>
                  </a:lnTo>
                  <a:lnTo>
                    <a:pt x="744423" y="140970"/>
                  </a:lnTo>
                  <a:lnTo>
                    <a:pt x="723646" y="179019"/>
                  </a:lnTo>
                  <a:lnTo>
                    <a:pt x="708228" y="220116"/>
                  </a:lnTo>
                  <a:lnTo>
                    <a:pt x="698627" y="263766"/>
                  </a:lnTo>
                  <a:lnTo>
                    <a:pt x="698233" y="269113"/>
                  </a:lnTo>
                  <a:lnTo>
                    <a:pt x="0" y="269113"/>
                  </a:lnTo>
                  <a:lnTo>
                    <a:pt x="61899" y="338074"/>
                  </a:lnTo>
                  <a:lnTo>
                    <a:pt x="0" y="407162"/>
                  </a:lnTo>
                  <a:lnTo>
                    <a:pt x="705751" y="407162"/>
                  </a:lnTo>
                  <a:lnTo>
                    <a:pt x="704850" y="403987"/>
                  </a:lnTo>
                  <a:lnTo>
                    <a:pt x="702246" y="387743"/>
                  </a:lnTo>
                  <a:lnTo>
                    <a:pt x="700366" y="371195"/>
                  </a:lnTo>
                  <a:lnTo>
                    <a:pt x="699566" y="359600"/>
                  </a:lnTo>
                  <a:lnTo>
                    <a:pt x="708228" y="398957"/>
                  </a:lnTo>
                  <a:lnTo>
                    <a:pt x="723646" y="440067"/>
                  </a:lnTo>
                  <a:lnTo>
                    <a:pt x="744423" y="478129"/>
                  </a:lnTo>
                  <a:lnTo>
                    <a:pt x="770077" y="512673"/>
                  </a:lnTo>
                  <a:lnTo>
                    <a:pt x="800150" y="543204"/>
                  </a:lnTo>
                  <a:lnTo>
                    <a:pt x="834148" y="569264"/>
                  </a:lnTo>
                  <a:lnTo>
                    <a:pt x="871626" y="590359"/>
                  </a:lnTo>
                  <a:lnTo>
                    <a:pt x="912088" y="606031"/>
                  </a:lnTo>
                  <a:lnTo>
                    <a:pt x="955078" y="615772"/>
                  </a:lnTo>
                  <a:lnTo>
                    <a:pt x="1000125" y="619125"/>
                  </a:lnTo>
                  <a:lnTo>
                    <a:pt x="1045146" y="615772"/>
                  </a:lnTo>
                  <a:lnTo>
                    <a:pt x="1088123" y="606031"/>
                  </a:lnTo>
                  <a:lnTo>
                    <a:pt x="1128585" y="590359"/>
                  </a:lnTo>
                  <a:lnTo>
                    <a:pt x="1166063" y="569264"/>
                  </a:lnTo>
                  <a:lnTo>
                    <a:pt x="1200061" y="543204"/>
                  </a:lnTo>
                  <a:lnTo>
                    <a:pt x="1230134" y="512673"/>
                  </a:lnTo>
                  <a:lnTo>
                    <a:pt x="1255801" y="478129"/>
                  </a:lnTo>
                  <a:lnTo>
                    <a:pt x="1276578" y="440067"/>
                  </a:lnTo>
                  <a:lnTo>
                    <a:pt x="1288923" y="407162"/>
                  </a:lnTo>
                  <a:lnTo>
                    <a:pt x="1866900" y="407162"/>
                  </a:lnTo>
                  <a:lnTo>
                    <a:pt x="1866900" y="476250"/>
                  </a:lnTo>
                  <a:lnTo>
                    <a:pt x="1990725" y="338074"/>
                  </a:lnTo>
                  <a:close/>
                </a:path>
                <a:path w="5972175" h="647700">
                  <a:moveTo>
                    <a:pt x="3267075" y="338074"/>
                  </a:moveTo>
                  <a:lnTo>
                    <a:pt x="3263138" y="287870"/>
                  </a:lnTo>
                  <a:lnTo>
                    <a:pt x="3251771" y="240245"/>
                  </a:lnTo>
                  <a:lnTo>
                    <a:pt x="3233572" y="195846"/>
                  </a:lnTo>
                  <a:lnTo>
                    <a:pt x="3209175" y="155295"/>
                  </a:lnTo>
                  <a:lnTo>
                    <a:pt x="3179191" y="119227"/>
                  </a:lnTo>
                  <a:lnTo>
                    <a:pt x="3144228" y="88290"/>
                  </a:lnTo>
                  <a:lnTo>
                    <a:pt x="3104921" y="63119"/>
                  </a:lnTo>
                  <a:lnTo>
                    <a:pt x="3061881" y="44361"/>
                  </a:lnTo>
                  <a:lnTo>
                    <a:pt x="3015742" y="32626"/>
                  </a:lnTo>
                  <a:lnTo>
                    <a:pt x="2967101" y="28575"/>
                  </a:lnTo>
                  <a:lnTo>
                    <a:pt x="2918422" y="32626"/>
                  </a:lnTo>
                  <a:lnTo>
                    <a:pt x="2872244" y="44361"/>
                  </a:lnTo>
                  <a:lnTo>
                    <a:pt x="2829179" y="63119"/>
                  </a:lnTo>
                  <a:lnTo>
                    <a:pt x="2789859" y="88290"/>
                  </a:lnTo>
                  <a:lnTo>
                    <a:pt x="2754896" y="119227"/>
                  </a:lnTo>
                  <a:lnTo>
                    <a:pt x="2724899" y="155295"/>
                  </a:lnTo>
                  <a:lnTo>
                    <a:pt x="2700490" y="195846"/>
                  </a:lnTo>
                  <a:lnTo>
                    <a:pt x="2682290" y="240245"/>
                  </a:lnTo>
                  <a:lnTo>
                    <a:pt x="2675394" y="269113"/>
                  </a:lnTo>
                  <a:lnTo>
                    <a:pt x="1971675" y="269113"/>
                  </a:lnTo>
                  <a:lnTo>
                    <a:pt x="2033905" y="338074"/>
                  </a:lnTo>
                  <a:lnTo>
                    <a:pt x="1971675" y="407162"/>
                  </a:lnTo>
                  <a:lnTo>
                    <a:pt x="2675407" y="407162"/>
                  </a:lnTo>
                  <a:lnTo>
                    <a:pt x="2700490" y="480402"/>
                  </a:lnTo>
                  <a:lnTo>
                    <a:pt x="2724899" y="520966"/>
                  </a:lnTo>
                  <a:lnTo>
                    <a:pt x="2754896" y="557047"/>
                  </a:lnTo>
                  <a:lnTo>
                    <a:pt x="2789859" y="587984"/>
                  </a:lnTo>
                  <a:lnTo>
                    <a:pt x="2829179" y="613156"/>
                  </a:lnTo>
                  <a:lnTo>
                    <a:pt x="2872244" y="631926"/>
                  </a:lnTo>
                  <a:lnTo>
                    <a:pt x="2918422" y="643661"/>
                  </a:lnTo>
                  <a:lnTo>
                    <a:pt x="2967101" y="647700"/>
                  </a:lnTo>
                  <a:lnTo>
                    <a:pt x="3015742" y="643661"/>
                  </a:lnTo>
                  <a:lnTo>
                    <a:pt x="3061881" y="631926"/>
                  </a:lnTo>
                  <a:lnTo>
                    <a:pt x="3104921" y="613156"/>
                  </a:lnTo>
                  <a:lnTo>
                    <a:pt x="3144228" y="587984"/>
                  </a:lnTo>
                  <a:lnTo>
                    <a:pt x="3179191" y="557047"/>
                  </a:lnTo>
                  <a:lnTo>
                    <a:pt x="3209175" y="520966"/>
                  </a:lnTo>
                  <a:lnTo>
                    <a:pt x="3233572" y="480402"/>
                  </a:lnTo>
                  <a:lnTo>
                    <a:pt x="3251771" y="435965"/>
                  </a:lnTo>
                  <a:lnTo>
                    <a:pt x="3263138" y="388315"/>
                  </a:lnTo>
                  <a:lnTo>
                    <a:pt x="3267075" y="338074"/>
                  </a:lnTo>
                  <a:close/>
                </a:path>
                <a:path w="5972175" h="647700">
                  <a:moveTo>
                    <a:pt x="3971925" y="338074"/>
                  </a:moveTo>
                  <a:lnTo>
                    <a:pt x="3847592" y="200025"/>
                  </a:lnTo>
                  <a:lnTo>
                    <a:pt x="3847592" y="269113"/>
                  </a:lnTo>
                  <a:lnTo>
                    <a:pt x="3262376" y="269113"/>
                  </a:lnTo>
                  <a:lnTo>
                    <a:pt x="3268472" y="320421"/>
                  </a:lnTo>
                  <a:lnTo>
                    <a:pt x="3268853" y="337439"/>
                  </a:lnTo>
                  <a:lnTo>
                    <a:pt x="3268459" y="354418"/>
                  </a:lnTo>
                  <a:lnTo>
                    <a:pt x="3267329" y="371195"/>
                  </a:lnTo>
                  <a:lnTo>
                    <a:pt x="3265424" y="387743"/>
                  </a:lnTo>
                  <a:lnTo>
                    <a:pt x="3262757" y="403987"/>
                  </a:lnTo>
                  <a:lnTo>
                    <a:pt x="3261868" y="407162"/>
                  </a:lnTo>
                  <a:lnTo>
                    <a:pt x="3847592" y="407162"/>
                  </a:lnTo>
                  <a:lnTo>
                    <a:pt x="3847592" y="476250"/>
                  </a:lnTo>
                  <a:lnTo>
                    <a:pt x="3971925" y="338074"/>
                  </a:lnTo>
                  <a:close/>
                </a:path>
                <a:path w="5972175" h="647700">
                  <a:moveTo>
                    <a:pt x="5972175" y="357124"/>
                  </a:moveTo>
                  <a:lnTo>
                    <a:pt x="5847842" y="219075"/>
                  </a:lnTo>
                  <a:lnTo>
                    <a:pt x="5847842" y="288163"/>
                  </a:lnTo>
                  <a:lnTo>
                    <a:pt x="5272481" y="288163"/>
                  </a:lnTo>
                  <a:lnTo>
                    <a:pt x="5263540" y="248691"/>
                  </a:lnTo>
                  <a:lnTo>
                    <a:pt x="5247627" y="207594"/>
                  </a:lnTo>
                  <a:lnTo>
                    <a:pt x="5226202" y="169545"/>
                  </a:lnTo>
                  <a:lnTo>
                    <a:pt x="5199748" y="135026"/>
                  </a:lnTo>
                  <a:lnTo>
                    <a:pt x="5168747" y="104495"/>
                  </a:lnTo>
                  <a:lnTo>
                    <a:pt x="5133683" y="78435"/>
                  </a:lnTo>
                  <a:lnTo>
                    <a:pt x="5095037" y="57340"/>
                  </a:lnTo>
                  <a:lnTo>
                    <a:pt x="5053304" y="41681"/>
                  </a:lnTo>
                  <a:lnTo>
                    <a:pt x="5008969" y="31940"/>
                  </a:lnTo>
                  <a:lnTo>
                    <a:pt x="4962525" y="28575"/>
                  </a:lnTo>
                  <a:lnTo>
                    <a:pt x="4916068" y="31940"/>
                  </a:lnTo>
                  <a:lnTo>
                    <a:pt x="4871732" y="41681"/>
                  </a:lnTo>
                  <a:lnTo>
                    <a:pt x="4830000" y="57340"/>
                  </a:lnTo>
                  <a:lnTo>
                    <a:pt x="4791354" y="78435"/>
                  </a:lnTo>
                  <a:lnTo>
                    <a:pt x="4756289" y="104495"/>
                  </a:lnTo>
                  <a:lnTo>
                    <a:pt x="4725289" y="135026"/>
                  </a:lnTo>
                  <a:lnTo>
                    <a:pt x="4698835" y="169545"/>
                  </a:lnTo>
                  <a:lnTo>
                    <a:pt x="4677410" y="207594"/>
                  </a:lnTo>
                  <a:lnTo>
                    <a:pt x="4661497" y="248691"/>
                  </a:lnTo>
                  <a:lnTo>
                    <a:pt x="4652543" y="288163"/>
                  </a:lnTo>
                  <a:lnTo>
                    <a:pt x="3971925" y="288163"/>
                  </a:lnTo>
                  <a:lnTo>
                    <a:pt x="4034155" y="357124"/>
                  </a:lnTo>
                  <a:lnTo>
                    <a:pt x="3971925" y="426212"/>
                  </a:lnTo>
                  <a:lnTo>
                    <a:pt x="4661192" y="426212"/>
                  </a:lnTo>
                  <a:lnTo>
                    <a:pt x="4677410" y="468642"/>
                  </a:lnTo>
                  <a:lnTo>
                    <a:pt x="4698835" y="506704"/>
                  </a:lnTo>
                  <a:lnTo>
                    <a:pt x="4725289" y="541248"/>
                  </a:lnTo>
                  <a:lnTo>
                    <a:pt x="4756289" y="571779"/>
                  </a:lnTo>
                  <a:lnTo>
                    <a:pt x="4791354" y="597839"/>
                  </a:lnTo>
                  <a:lnTo>
                    <a:pt x="4830000" y="618934"/>
                  </a:lnTo>
                  <a:lnTo>
                    <a:pt x="4871732" y="634606"/>
                  </a:lnTo>
                  <a:lnTo>
                    <a:pt x="4916068" y="644347"/>
                  </a:lnTo>
                  <a:lnTo>
                    <a:pt x="4962525" y="647700"/>
                  </a:lnTo>
                  <a:lnTo>
                    <a:pt x="5008969" y="644347"/>
                  </a:lnTo>
                  <a:lnTo>
                    <a:pt x="5053304" y="634606"/>
                  </a:lnTo>
                  <a:lnTo>
                    <a:pt x="5095037" y="618934"/>
                  </a:lnTo>
                  <a:lnTo>
                    <a:pt x="5133683" y="597839"/>
                  </a:lnTo>
                  <a:lnTo>
                    <a:pt x="5168747" y="571779"/>
                  </a:lnTo>
                  <a:lnTo>
                    <a:pt x="5199748" y="541248"/>
                  </a:lnTo>
                  <a:lnTo>
                    <a:pt x="5226202" y="506704"/>
                  </a:lnTo>
                  <a:lnTo>
                    <a:pt x="5247627" y="468642"/>
                  </a:lnTo>
                  <a:lnTo>
                    <a:pt x="5263540" y="427532"/>
                  </a:lnTo>
                  <a:lnTo>
                    <a:pt x="5263832" y="426212"/>
                  </a:lnTo>
                  <a:lnTo>
                    <a:pt x="5847842" y="426212"/>
                  </a:lnTo>
                  <a:lnTo>
                    <a:pt x="5847842" y="495300"/>
                  </a:lnTo>
                  <a:lnTo>
                    <a:pt x="5972175" y="357124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300" y="2466975"/>
              <a:ext cx="266700" cy="2952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9225" y="2447925"/>
              <a:ext cx="257175" cy="2952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600" y="2486025"/>
              <a:ext cx="219075" cy="24765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71842" y="3255962"/>
            <a:ext cx="1454785" cy="1447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Excel</a:t>
            </a:r>
            <a:endParaRPr sz="1400">
              <a:latin typeface="Microsoft YaHei"/>
              <a:cs typeface="Microsoft YaHei"/>
            </a:endParaRPr>
          </a:p>
          <a:p>
            <a:pPr marL="12700" marR="5080" algn="ctr">
              <a:lnSpc>
                <a:spcPts val="3429"/>
              </a:lnSpc>
              <a:spcBef>
                <a:spcPts val="120"/>
              </a:spcBef>
            </a:pPr>
            <a:r>
              <a:rPr sz="1400" spc="-35" dirty="0">
                <a:solidFill>
                  <a:srgbClr val="1C4AE6"/>
                </a:solidFill>
                <a:latin typeface="Microsoft YaHei"/>
                <a:cs typeface="Microsoft YaHei"/>
              </a:rPr>
              <a:t>面向“表哥表姐”</a:t>
            </a: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万级别数据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有限程度分析数据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22245" y="3255962"/>
            <a:ext cx="1454785" cy="1447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系统化报表</a:t>
            </a:r>
            <a:endParaRPr sz="1400">
              <a:latin typeface="Microsoft YaHei"/>
              <a:cs typeface="Microsoft YaHei"/>
            </a:endParaRPr>
          </a:p>
          <a:p>
            <a:pPr marL="152400" marR="142875" indent="139065">
              <a:lnSpc>
                <a:spcPts val="3429"/>
              </a:lnSpc>
              <a:spcBef>
                <a:spcPts val="120"/>
              </a:spcBef>
            </a:pP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面向</a:t>
            </a:r>
            <a:r>
              <a:rPr sz="1400" spc="-10" dirty="0">
                <a:solidFill>
                  <a:srgbClr val="1C4AE6"/>
                </a:solidFill>
                <a:latin typeface="Microsoft YaHei"/>
                <a:cs typeface="Microsoft YaHei"/>
              </a:rPr>
              <a:t>IT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技术</a:t>
            </a: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百/千万级数据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按天响应固定分析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06315" y="3273425"/>
            <a:ext cx="1273810" cy="1446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拖拽式</a:t>
            </a:r>
            <a:r>
              <a:rPr sz="1400" spc="-25" dirty="0">
                <a:solidFill>
                  <a:srgbClr val="404040"/>
                </a:solidFill>
                <a:latin typeface="Microsoft YaHei"/>
                <a:cs typeface="Microsoft YaHei"/>
              </a:rPr>
              <a:t>BI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1460"/>
              </a:spcBef>
            </a:pPr>
            <a:r>
              <a:rPr sz="1400" spc="-35" dirty="0">
                <a:solidFill>
                  <a:srgbClr val="1C4AE6"/>
                </a:solidFill>
                <a:latin typeface="Microsoft YaHei"/>
                <a:cs typeface="Microsoft YaHei"/>
              </a:rPr>
              <a:t>面向数据分析师</a:t>
            </a:r>
            <a:endParaRPr sz="1400">
              <a:latin typeface="Microsoft YaHei"/>
              <a:cs typeface="Microsoft YaHei"/>
            </a:endParaRPr>
          </a:p>
          <a:p>
            <a:pPr marL="12700" marR="5080" algn="ctr">
              <a:lnSpc>
                <a:spcPct val="173000"/>
              </a:lnSpc>
              <a:spcBef>
                <a:spcPts val="520"/>
              </a:spcBef>
            </a:pP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千万/亿级数据</a:t>
            </a: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范围内自由分析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64751" y="3240151"/>
            <a:ext cx="1739900" cy="4826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456419" y="3277806"/>
            <a:ext cx="1988185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智能</a:t>
            </a:r>
            <a:endParaRPr sz="2400">
              <a:latin typeface="Microsoft YaHei"/>
              <a:cs typeface="Microsoft YaHei"/>
            </a:endParaRPr>
          </a:p>
          <a:p>
            <a:pPr marL="12700" marR="5080" algn="ctr">
              <a:lnSpc>
                <a:spcPct val="129600"/>
              </a:lnSpc>
              <a:spcBef>
                <a:spcPts val="1030"/>
              </a:spcBef>
            </a:pPr>
            <a:r>
              <a:rPr sz="1400" spc="-45" dirty="0">
                <a:solidFill>
                  <a:srgbClr val="444444"/>
                </a:solidFill>
                <a:latin typeface="Microsoft YaHei"/>
                <a:cs typeface="Microsoft YaHei"/>
              </a:rPr>
              <a:t>自然语言自动转化为洞察</a:t>
            </a:r>
            <a:r>
              <a:rPr sz="1400" spc="-35" dirty="0">
                <a:solidFill>
                  <a:srgbClr val="444444"/>
                </a:solidFill>
                <a:latin typeface="Microsoft YaHei"/>
                <a:cs typeface="Microsoft YaHei"/>
              </a:rPr>
              <a:t>所有维度自由分析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1400" spc="-10" dirty="0">
                <a:solidFill>
                  <a:srgbClr val="444444"/>
                </a:solidFill>
                <a:latin typeface="Microsoft YaHei"/>
                <a:cs typeface="Microsoft YaHei"/>
              </a:rPr>
              <a:t>AI</a:t>
            </a:r>
            <a:r>
              <a:rPr sz="1400" spc="-45" dirty="0">
                <a:solidFill>
                  <a:srgbClr val="444444"/>
                </a:solidFill>
                <a:latin typeface="Microsoft YaHei"/>
                <a:cs typeface="Microsoft YaHei"/>
              </a:rPr>
              <a:t>智能洞察和决策建议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345676" y="3262376"/>
            <a:ext cx="6350" cy="1296035"/>
            <a:chOff x="9345676" y="3262376"/>
            <a:chExt cx="6350" cy="129603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45676" y="3262376"/>
              <a:ext cx="6350" cy="254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3306826"/>
              <a:ext cx="6350" cy="254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3351276"/>
              <a:ext cx="6350" cy="254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3395726"/>
              <a:ext cx="6350" cy="254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3440176"/>
              <a:ext cx="6350" cy="25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3484626"/>
              <a:ext cx="6350" cy="254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3529076"/>
              <a:ext cx="6350" cy="254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3573526"/>
              <a:ext cx="6350" cy="254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3617976"/>
              <a:ext cx="6350" cy="254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3662426"/>
              <a:ext cx="6350" cy="254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5676" y="3706876"/>
              <a:ext cx="6350" cy="254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3751326"/>
              <a:ext cx="6350" cy="254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3795776"/>
              <a:ext cx="6350" cy="254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45676" y="3840226"/>
              <a:ext cx="6350" cy="25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3884676"/>
              <a:ext cx="6350" cy="254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3929126"/>
              <a:ext cx="6350" cy="254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45676" y="3973576"/>
              <a:ext cx="6350" cy="254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4018026"/>
              <a:ext cx="6350" cy="254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4062476"/>
              <a:ext cx="6350" cy="254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5676" y="4106926"/>
              <a:ext cx="6350" cy="254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4151376"/>
              <a:ext cx="6350" cy="254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4195826"/>
              <a:ext cx="6350" cy="254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4240276"/>
              <a:ext cx="6350" cy="254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4284726"/>
              <a:ext cx="6350" cy="254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4329176"/>
              <a:ext cx="6350" cy="254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4373626"/>
              <a:ext cx="6350" cy="254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4418076"/>
              <a:ext cx="6350" cy="254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4462526"/>
              <a:ext cx="6350" cy="254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4506976"/>
              <a:ext cx="6350" cy="254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45676" y="4551426"/>
              <a:ext cx="6350" cy="6857"/>
            </a:xfrm>
            <a:prstGeom prst="rect">
              <a:avLst/>
            </a:prstGeom>
          </p:spPr>
        </p:pic>
      </p:grpSp>
      <p:pic>
        <p:nvPicPr>
          <p:cNvPr id="67" name="object 6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517126" y="1439925"/>
            <a:ext cx="1749425" cy="473075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9607804" y="1466532"/>
            <a:ext cx="1657350" cy="138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简单</a:t>
            </a:r>
            <a:endParaRPr sz="2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1750"/>
              </a:spcBef>
            </a:pPr>
            <a:r>
              <a:rPr sz="1400" spc="-45" dirty="0">
                <a:solidFill>
                  <a:srgbClr val="444444"/>
                </a:solidFill>
                <a:latin typeface="Microsoft YaHei"/>
                <a:cs typeface="Microsoft YaHei"/>
              </a:rPr>
              <a:t>中英文自然语言搜索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400" spc="-10" dirty="0">
                <a:solidFill>
                  <a:srgbClr val="444444"/>
                </a:solidFill>
                <a:latin typeface="Microsoft YaHei"/>
                <a:cs typeface="Microsoft YaHei"/>
              </a:rPr>
              <a:t>0</a:t>
            </a:r>
            <a:r>
              <a:rPr sz="1400" spc="-35" dirty="0">
                <a:solidFill>
                  <a:srgbClr val="444444"/>
                </a:solidFill>
                <a:latin typeface="Microsoft YaHei"/>
                <a:cs typeface="Microsoft YaHei"/>
              </a:rPr>
              <a:t>学习成本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1400" spc="-30" dirty="0">
                <a:solidFill>
                  <a:srgbClr val="444444"/>
                </a:solidFill>
                <a:latin typeface="Microsoft YaHei"/>
                <a:cs typeface="Microsoft YaHei"/>
              </a:rPr>
              <a:t>数据领域的</a:t>
            </a:r>
            <a:r>
              <a:rPr sz="1400" spc="-10" dirty="0">
                <a:solidFill>
                  <a:srgbClr val="444444"/>
                </a:solidFill>
                <a:latin typeface="Microsoft YaHei"/>
                <a:cs typeface="Microsoft YaHei"/>
              </a:rPr>
              <a:t>ChatGPT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9355201" y="1500250"/>
            <a:ext cx="6350" cy="1296035"/>
            <a:chOff x="9355201" y="1500250"/>
            <a:chExt cx="6350" cy="1296035"/>
          </a:xfrm>
        </p:grpSpPr>
        <p:pic>
          <p:nvPicPr>
            <p:cNvPr id="70" name="object 7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55201" y="1500250"/>
              <a:ext cx="6350" cy="254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1544700"/>
              <a:ext cx="6350" cy="254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1589150"/>
              <a:ext cx="6350" cy="254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1633600"/>
              <a:ext cx="6350" cy="254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1678050"/>
              <a:ext cx="6350" cy="254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1722500"/>
              <a:ext cx="6350" cy="254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1766950"/>
              <a:ext cx="6350" cy="254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1811400"/>
              <a:ext cx="6350" cy="254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1855850"/>
              <a:ext cx="6350" cy="254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5201" y="1900300"/>
              <a:ext cx="6350" cy="254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55201" y="1944750"/>
              <a:ext cx="6350" cy="254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5201" y="1989200"/>
              <a:ext cx="6350" cy="254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5201" y="2033650"/>
              <a:ext cx="6350" cy="254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55201" y="2078100"/>
              <a:ext cx="6350" cy="254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5201" y="2122550"/>
              <a:ext cx="6350" cy="254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5201" y="2167000"/>
              <a:ext cx="6350" cy="254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55201" y="2211450"/>
              <a:ext cx="6350" cy="254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5201" y="2255900"/>
              <a:ext cx="6350" cy="254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5201" y="2300350"/>
              <a:ext cx="6350" cy="254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55201" y="2344800"/>
              <a:ext cx="6350" cy="254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5201" y="2389250"/>
              <a:ext cx="6350" cy="254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5201" y="2433700"/>
              <a:ext cx="6350" cy="254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2478150"/>
              <a:ext cx="6350" cy="254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2522600"/>
              <a:ext cx="6350" cy="254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2567050"/>
              <a:ext cx="6350" cy="254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2611500"/>
              <a:ext cx="6350" cy="254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2655950"/>
              <a:ext cx="6350" cy="254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5201" y="2700400"/>
              <a:ext cx="6350" cy="254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5201" y="2744850"/>
              <a:ext cx="6350" cy="254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55201" y="2789300"/>
              <a:ext cx="6350" cy="6858"/>
            </a:xfrm>
            <a:prstGeom prst="rect">
              <a:avLst/>
            </a:prstGeom>
          </p:spPr>
        </p:pic>
      </p:grpSp>
      <p:pic>
        <p:nvPicPr>
          <p:cNvPr id="100" name="object 10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55226" y="5078476"/>
            <a:ext cx="1749425" cy="473075"/>
          </a:xfrm>
          <a:prstGeom prst="rect">
            <a:avLst/>
          </a:prstGeom>
        </p:spPr>
      </p:pic>
      <p:sp>
        <p:nvSpPr>
          <p:cNvPr id="101" name="object 101"/>
          <p:cNvSpPr txBox="1"/>
          <p:nvPr/>
        </p:nvSpPr>
        <p:spPr>
          <a:xfrm>
            <a:off x="9515475" y="5111115"/>
            <a:ext cx="1859914" cy="1350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105"/>
              </a:spcBef>
            </a:pPr>
            <a:r>
              <a:rPr sz="2400" b="1" spc="-30" dirty="0">
                <a:solidFill>
                  <a:srgbClr val="FD7B77"/>
                </a:solidFill>
                <a:latin typeface="Microsoft YaHei"/>
                <a:cs typeface="Microsoft YaHei"/>
              </a:rPr>
              <a:t>轻快</a:t>
            </a:r>
            <a:endParaRPr sz="2400">
              <a:latin typeface="Microsoft YaHei"/>
              <a:cs typeface="Microsoft YaHei"/>
            </a:endParaRPr>
          </a:p>
          <a:p>
            <a:pPr marL="213995" marR="208279" algn="ctr">
              <a:lnSpc>
                <a:spcPct val="129600"/>
              </a:lnSpc>
              <a:spcBef>
                <a:spcPts val="1000"/>
              </a:spcBef>
            </a:pPr>
            <a:r>
              <a:rPr sz="1400" spc="-35" dirty="0">
                <a:solidFill>
                  <a:srgbClr val="444444"/>
                </a:solidFill>
                <a:latin typeface="Microsoft YaHei"/>
                <a:cs typeface="Microsoft YaHei"/>
              </a:rPr>
              <a:t>实时搜索秒出结果支持跨终端操作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400" spc="-30" dirty="0">
                <a:solidFill>
                  <a:srgbClr val="444444"/>
                </a:solidFill>
                <a:latin typeface="Microsoft YaHei"/>
                <a:cs typeface="Microsoft YaHei"/>
              </a:rPr>
              <a:t>支持嵌入</a:t>
            </a:r>
            <a:r>
              <a:rPr sz="1400" spc="-10" dirty="0">
                <a:solidFill>
                  <a:srgbClr val="444444"/>
                </a:solidFill>
                <a:latin typeface="Microsoft YaHei"/>
                <a:cs typeface="Microsoft YaHei"/>
              </a:rPr>
              <a:t>IM</a:t>
            </a:r>
            <a:r>
              <a:rPr sz="1400" spc="-30" dirty="0">
                <a:solidFill>
                  <a:srgbClr val="444444"/>
                </a:solidFill>
                <a:latin typeface="Microsoft YaHei"/>
                <a:cs typeface="Microsoft YaHei"/>
              </a:rPr>
              <a:t>和业务系统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9345676" y="5119751"/>
            <a:ext cx="6350" cy="1296035"/>
            <a:chOff x="9345676" y="5119751"/>
            <a:chExt cx="6350" cy="1296035"/>
          </a:xfrm>
        </p:grpSpPr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45676" y="5119751"/>
              <a:ext cx="6350" cy="254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5164201"/>
              <a:ext cx="6350" cy="254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5208651"/>
              <a:ext cx="6350" cy="254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5253101"/>
              <a:ext cx="6350" cy="254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5297551"/>
              <a:ext cx="6350" cy="254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5342001"/>
              <a:ext cx="6350" cy="254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5386451"/>
              <a:ext cx="6350" cy="254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5430901"/>
              <a:ext cx="6350" cy="254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5475351"/>
              <a:ext cx="6350" cy="254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5519801"/>
              <a:ext cx="6350" cy="254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5564251"/>
              <a:ext cx="6350" cy="2533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5608637"/>
              <a:ext cx="6350" cy="2540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5653087"/>
              <a:ext cx="6350" cy="2540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45676" y="5697537"/>
              <a:ext cx="6350" cy="254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5741987"/>
              <a:ext cx="6350" cy="2540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5786437"/>
              <a:ext cx="6350" cy="2540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45676" y="5830887"/>
              <a:ext cx="6350" cy="2540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5875337"/>
              <a:ext cx="6350" cy="254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5676" y="5919787"/>
              <a:ext cx="6350" cy="254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5676" y="5964237"/>
              <a:ext cx="6350" cy="2540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6008687"/>
              <a:ext cx="6350" cy="2540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5676" y="6053137"/>
              <a:ext cx="6350" cy="2540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6097587"/>
              <a:ext cx="6350" cy="2540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6142037"/>
              <a:ext cx="6350" cy="254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6186487"/>
              <a:ext cx="6350" cy="254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6230937"/>
              <a:ext cx="6350" cy="2540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6275387"/>
              <a:ext cx="6350" cy="254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5676" y="6319837"/>
              <a:ext cx="6350" cy="254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5676" y="6364287"/>
              <a:ext cx="6350" cy="254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45676" y="6408737"/>
              <a:ext cx="6350" cy="69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637" y="323278"/>
            <a:ext cx="37090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AI</a:t>
            </a:r>
            <a:r>
              <a:rPr spc="-15" dirty="0"/>
              <a:t>大模型时代的挑战和机遇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6496050" cy="4629150"/>
            <a:chOff x="0" y="304800"/>
            <a:chExt cx="6496050" cy="4629150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14300" cy="447675"/>
            </a:xfrm>
            <a:custGeom>
              <a:avLst/>
              <a:gdLst/>
              <a:ahLst/>
              <a:cxnLst/>
              <a:rect l="l" t="t" r="r" b="b"/>
              <a:pathLst>
                <a:path w="114300" h="447675">
                  <a:moveTo>
                    <a:pt x="1143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4300" y="4476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7900" y="1009649"/>
              <a:ext cx="4248150" cy="3924300"/>
            </a:xfrm>
            <a:custGeom>
              <a:avLst/>
              <a:gdLst/>
              <a:ahLst/>
              <a:cxnLst/>
              <a:rect l="l" t="t" r="r" b="b"/>
              <a:pathLst>
                <a:path w="4248150" h="3924300">
                  <a:moveTo>
                    <a:pt x="4238625" y="2771775"/>
                  </a:moveTo>
                  <a:lnTo>
                    <a:pt x="0" y="2771775"/>
                  </a:lnTo>
                  <a:lnTo>
                    <a:pt x="0" y="3732149"/>
                  </a:lnTo>
                  <a:lnTo>
                    <a:pt x="5867" y="3770896"/>
                  </a:lnTo>
                  <a:lnTo>
                    <a:pt x="22733" y="3806964"/>
                  </a:lnTo>
                  <a:lnTo>
                    <a:pt x="49415" y="3839616"/>
                  </a:lnTo>
                  <a:lnTo>
                    <a:pt x="84747" y="3868039"/>
                  </a:lnTo>
                  <a:lnTo>
                    <a:pt x="127584" y="3891508"/>
                  </a:lnTo>
                  <a:lnTo>
                    <a:pt x="176745" y="3909212"/>
                  </a:lnTo>
                  <a:lnTo>
                    <a:pt x="231089" y="3920401"/>
                  </a:lnTo>
                  <a:lnTo>
                    <a:pt x="289433" y="3924300"/>
                  </a:lnTo>
                  <a:lnTo>
                    <a:pt x="4238625" y="3924300"/>
                  </a:lnTo>
                  <a:lnTo>
                    <a:pt x="4238625" y="2771775"/>
                  </a:lnTo>
                  <a:close/>
                </a:path>
                <a:path w="4248150" h="3924300">
                  <a:moveTo>
                    <a:pt x="4238625" y="0"/>
                  </a:moveTo>
                  <a:lnTo>
                    <a:pt x="192151" y="0"/>
                  </a:lnTo>
                  <a:lnTo>
                    <a:pt x="148069" y="5080"/>
                  </a:lnTo>
                  <a:lnTo>
                    <a:pt x="107619" y="19532"/>
                  </a:lnTo>
                  <a:lnTo>
                    <a:pt x="71945" y="42202"/>
                  </a:lnTo>
                  <a:lnTo>
                    <a:pt x="42189" y="71958"/>
                  </a:lnTo>
                  <a:lnTo>
                    <a:pt x="19519" y="107632"/>
                  </a:lnTo>
                  <a:lnTo>
                    <a:pt x="5067" y="148082"/>
                  </a:lnTo>
                  <a:lnTo>
                    <a:pt x="0" y="192151"/>
                  </a:lnTo>
                  <a:lnTo>
                    <a:pt x="0" y="1152525"/>
                  </a:lnTo>
                  <a:lnTo>
                    <a:pt x="4238625" y="1152525"/>
                  </a:lnTo>
                  <a:lnTo>
                    <a:pt x="4238625" y="0"/>
                  </a:lnTo>
                  <a:close/>
                </a:path>
                <a:path w="4248150" h="3924300">
                  <a:moveTo>
                    <a:pt x="4248150" y="1390650"/>
                  </a:moveTo>
                  <a:lnTo>
                    <a:pt x="0" y="1390650"/>
                  </a:lnTo>
                  <a:lnTo>
                    <a:pt x="0" y="2543175"/>
                  </a:lnTo>
                  <a:lnTo>
                    <a:pt x="4248150" y="2543175"/>
                  </a:lnTo>
                  <a:lnTo>
                    <a:pt x="4248150" y="1390650"/>
                  </a:lnTo>
                  <a:close/>
                </a:path>
              </a:pathLst>
            </a:custGeom>
            <a:solidFill>
              <a:srgbClr val="A3B7F5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6237" y="5062537"/>
            <a:ext cx="3562350" cy="1504950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835"/>
              </a:spcBef>
            </a:pPr>
            <a:r>
              <a:rPr sz="1400" b="1" spc="-40" dirty="0">
                <a:latin typeface="Microsoft YaHei"/>
                <a:cs typeface="Microsoft YaHei"/>
              </a:rPr>
              <a:t>大模型能力：</a:t>
            </a:r>
            <a:endParaRPr sz="1400">
              <a:latin typeface="Microsoft YaHei"/>
              <a:cs typeface="Microsoft YaHei"/>
            </a:endParaRPr>
          </a:p>
          <a:p>
            <a:pPr marL="109855" marR="60960">
              <a:lnSpc>
                <a:spcPct val="149800"/>
              </a:lnSpc>
              <a:spcBef>
                <a:spcPts val="35"/>
              </a:spcBef>
            </a:pPr>
            <a:r>
              <a:rPr sz="1400" spc="-55" dirty="0">
                <a:latin typeface="Microsoft YaHei"/>
                <a:cs typeface="Microsoft YaHei"/>
              </a:rPr>
              <a:t>语义的泛化、理解和生成方面的优秀能力，</a:t>
            </a:r>
            <a:r>
              <a:rPr sz="1400" spc="-50" dirty="0">
                <a:latin typeface="Microsoft YaHei"/>
                <a:cs typeface="Microsoft YaHei"/>
              </a:rPr>
              <a:t> </a:t>
            </a:r>
            <a:r>
              <a:rPr sz="1400" dirty="0">
                <a:latin typeface="Microsoft YaHei"/>
                <a:cs typeface="Microsoft YaHei"/>
              </a:rPr>
              <a:t>DeepSeek </a:t>
            </a:r>
            <a:r>
              <a:rPr sz="1400" spc="-10" dirty="0">
                <a:latin typeface="Microsoft YaHei"/>
                <a:cs typeface="Microsoft YaHei"/>
              </a:rPr>
              <a:t>R1</a:t>
            </a:r>
            <a:r>
              <a:rPr sz="1400" spc="-40" dirty="0">
                <a:latin typeface="Microsoft YaHei"/>
                <a:cs typeface="Microsoft YaHei"/>
              </a:rPr>
              <a:t>等模型实现了人类对</a:t>
            </a:r>
            <a:r>
              <a:rPr sz="1400" spc="-10" dirty="0">
                <a:latin typeface="Microsoft YaHei"/>
                <a:cs typeface="Microsoft YaHei"/>
              </a:rPr>
              <a:t>AI</a:t>
            </a:r>
            <a:r>
              <a:rPr sz="1400" spc="-25" dirty="0">
                <a:latin typeface="Microsoft YaHei"/>
                <a:cs typeface="Microsoft YaHei"/>
              </a:rPr>
              <a:t>推理</a:t>
            </a:r>
            <a:r>
              <a:rPr sz="1400" spc="-30" dirty="0">
                <a:latin typeface="Microsoft YaHei"/>
                <a:cs typeface="Microsoft YaHei"/>
              </a:rPr>
              <a:t>能力的诉求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6776" y="2664142"/>
            <a:ext cx="3035300" cy="64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Microsoft YaHei"/>
                <a:cs typeface="Microsoft YaHei"/>
              </a:rPr>
              <a:t>对底层数据没有感知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生成语法正确但语义和意图错误的</a:t>
            </a:r>
            <a:r>
              <a:rPr sz="1400" spc="-25" dirty="0">
                <a:solidFill>
                  <a:srgbClr val="252525"/>
                </a:solidFill>
                <a:latin typeface="Microsoft YaHei"/>
                <a:cs typeface="Microsoft YaHei"/>
              </a:rPr>
              <a:t>SQL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25" y="1608200"/>
            <a:ext cx="2881630" cy="2911475"/>
            <a:chOff x="9525" y="1608200"/>
            <a:chExt cx="2881630" cy="29114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1619122"/>
              <a:ext cx="2881376" cy="29004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325" y="2781236"/>
              <a:ext cx="2252726" cy="11287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4793" y="1614550"/>
              <a:ext cx="2495550" cy="2505075"/>
            </a:xfrm>
            <a:custGeom>
              <a:avLst/>
              <a:gdLst/>
              <a:ahLst/>
              <a:cxnLst/>
              <a:rect l="l" t="t" r="r" b="b"/>
              <a:pathLst>
                <a:path w="2495550" h="2505075">
                  <a:moveTo>
                    <a:pt x="1247832" y="0"/>
                  </a:moveTo>
                  <a:lnTo>
                    <a:pt x="1196706" y="2799"/>
                  </a:lnTo>
                  <a:lnTo>
                    <a:pt x="1146090" y="11196"/>
                  </a:lnTo>
                  <a:lnTo>
                    <a:pt x="1096476" y="25192"/>
                  </a:lnTo>
                  <a:lnTo>
                    <a:pt x="1048356" y="44786"/>
                  </a:lnTo>
                  <a:lnTo>
                    <a:pt x="1002221" y="69979"/>
                  </a:lnTo>
                  <a:lnTo>
                    <a:pt x="958563" y="100770"/>
                  </a:lnTo>
                  <a:lnTo>
                    <a:pt x="917873" y="137160"/>
                  </a:lnTo>
                  <a:lnTo>
                    <a:pt x="136645" y="921258"/>
                  </a:lnTo>
                  <a:lnTo>
                    <a:pt x="104619" y="956845"/>
                  </a:lnTo>
                  <a:lnTo>
                    <a:pt x="76863" y="994758"/>
                  </a:lnTo>
                  <a:lnTo>
                    <a:pt x="53377" y="1034664"/>
                  </a:lnTo>
                  <a:lnTo>
                    <a:pt x="34161" y="1076231"/>
                  </a:lnTo>
                  <a:lnTo>
                    <a:pt x="19215" y="1119127"/>
                  </a:lnTo>
                  <a:lnTo>
                    <a:pt x="8540" y="1163018"/>
                  </a:lnTo>
                  <a:lnTo>
                    <a:pt x="2135" y="1207572"/>
                  </a:lnTo>
                  <a:lnTo>
                    <a:pt x="0" y="1252458"/>
                  </a:lnTo>
                  <a:lnTo>
                    <a:pt x="2135" y="1297342"/>
                  </a:lnTo>
                  <a:lnTo>
                    <a:pt x="8540" y="1341892"/>
                  </a:lnTo>
                  <a:lnTo>
                    <a:pt x="19215" y="1385775"/>
                  </a:lnTo>
                  <a:lnTo>
                    <a:pt x="34161" y="1428660"/>
                  </a:lnTo>
                  <a:lnTo>
                    <a:pt x="53377" y="1470214"/>
                  </a:lnTo>
                  <a:lnTo>
                    <a:pt x="76863" y="1510104"/>
                  </a:lnTo>
                  <a:lnTo>
                    <a:pt x="104619" y="1547997"/>
                  </a:lnTo>
                  <a:lnTo>
                    <a:pt x="136645" y="1583563"/>
                  </a:lnTo>
                  <a:lnTo>
                    <a:pt x="917873" y="2367788"/>
                  </a:lnTo>
                  <a:lnTo>
                    <a:pt x="953316" y="2399957"/>
                  </a:lnTo>
                  <a:lnTo>
                    <a:pt x="991076" y="2427837"/>
                  </a:lnTo>
                  <a:lnTo>
                    <a:pt x="1030823" y="2451427"/>
                  </a:lnTo>
                  <a:lnTo>
                    <a:pt x="1072225" y="2470729"/>
                  </a:lnTo>
                  <a:lnTo>
                    <a:pt x="1114952" y="2485741"/>
                  </a:lnTo>
                  <a:lnTo>
                    <a:pt x="1158672" y="2496464"/>
                  </a:lnTo>
                  <a:lnTo>
                    <a:pt x="1203054" y="2502898"/>
                  </a:lnTo>
                  <a:lnTo>
                    <a:pt x="1247767" y="2505043"/>
                  </a:lnTo>
                  <a:lnTo>
                    <a:pt x="1292479" y="2502898"/>
                  </a:lnTo>
                  <a:lnTo>
                    <a:pt x="1336861" y="2496464"/>
                  </a:lnTo>
                  <a:lnTo>
                    <a:pt x="1380580" y="2485741"/>
                  </a:lnTo>
                  <a:lnTo>
                    <a:pt x="1423306" y="2470729"/>
                  </a:lnTo>
                  <a:lnTo>
                    <a:pt x="1464707" y="2451427"/>
                  </a:lnTo>
                  <a:lnTo>
                    <a:pt x="1504452" y="2427837"/>
                  </a:lnTo>
                  <a:lnTo>
                    <a:pt x="1542210" y="2399957"/>
                  </a:lnTo>
                  <a:lnTo>
                    <a:pt x="1577651" y="2367788"/>
                  </a:lnTo>
                  <a:lnTo>
                    <a:pt x="2358955" y="1583563"/>
                  </a:lnTo>
                  <a:lnTo>
                    <a:pt x="2390968" y="1547997"/>
                  </a:lnTo>
                  <a:lnTo>
                    <a:pt x="2418712" y="1510104"/>
                  </a:lnTo>
                  <a:lnTo>
                    <a:pt x="2442188" y="1470214"/>
                  </a:lnTo>
                  <a:lnTo>
                    <a:pt x="2461396" y="1428660"/>
                  </a:lnTo>
                  <a:lnTo>
                    <a:pt x="2476335" y="1385775"/>
                  </a:lnTo>
                  <a:lnTo>
                    <a:pt x="2487006" y="1341892"/>
                  </a:lnTo>
                  <a:lnTo>
                    <a:pt x="2493409" y="1297342"/>
                  </a:lnTo>
                  <a:lnTo>
                    <a:pt x="2495543" y="1252458"/>
                  </a:lnTo>
                  <a:lnTo>
                    <a:pt x="2493409" y="1207572"/>
                  </a:lnTo>
                  <a:lnTo>
                    <a:pt x="2487006" y="1163018"/>
                  </a:lnTo>
                  <a:lnTo>
                    <a:pt x="2476335" y="1119127"/>
                  </a:lnTo>
                  <a:lnTo>
                    <a:pt x="2461396" y="1076231"/>
                  </a:lnTo>
                  <a:lnTo>
                    <a:pt x="2442188" y="1034664"/>
                  </a:lnTo>
                  <a:lnTo>
                    <a:pt x="2418712" y="994758"/>
                  </a:lnTo>
                  <a:lnTo>
                    <a:pt x="2390968" y="956845"/>
                  </a:lnTo>
                  <a:lnTo>
                    <a:pt x="2358955" y="921258"/>
                  </a:lnTo>
                  <a:lnTo>
                    <a:pt x="1577651" y="137160"/>
                  </a:lnTo>
                  <a:lnTo>
                    <a:pt x="1536974" y="100770"/>
                  </a:lnTo>
                  <a:lnTo>
                    <a:pt x="1493325" y="69979"/>
                  </a:lnTo>
                  <a:lnTo>
                    <a:pt x="1447199" y="44786"/>
                  </a:lnTo>
                  <a:lnTo>
                    <a:pt x="1399091" y="25192"/>
                  </a:lnTo>
                  <a:lnTo>
                    <a:pt x="1349497" y="11196"/>
                  </a:lnTo>
                  <a:lnTo>
                    <a:pt x="1298912" y="2799"/>
                  </a:lnTo>
                  <a:lnTo>
                    <a:pt x="12478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4793" y="1614550"/>
              <a:ext cx="2495550" cy="2505075"/>
            </a:xfrm>
            <a:custGeom>
              <a:avLst/>
              <a:gdLst/>
              <a:ahLst/>
              <a:cxnLst/>
              <a:rect l="l" t="t" r="r" b="b"/>
              <a:pathLst>
                <a:path w="2495550" h="2505075">
                  <a:moveTo>
                    <a:pt x="1247832" y="0"/>
                  </a:moveTo>
                  <a:lnTo>
                    <a:pt x="1298912" y="2799"/>
                  </a:lnTo>
                  <a:lnTo>
                    <a:pt x="1349497" y="11196"/>
                  </a:lnTo>
                  <a:lnTo>
                    <a:pt x="1399091" y="25192"/>
                  </a:lnTo>
                  <a:lnTo>
                    <a:pt x="1447199" y="44786"/>
                  </a:lnTo>
                  <a:lnTo>
                    <a:pt x="1493325" y="69979"/>
                  </a:lnTo>
                  <a:lnTo>
                    <a:pt x="1536974" y="100770"/>
                  </a:lnTo>
                  <a:lnTo>
                    <a:pt x="1577651" y="137160"/>
                  </a:lnTo>
                  <a:lnTo>
                    <a:pt x="2358955" y="921258"/>
                  </a:lnTo>
                  <a:lnTo>
                    <a:pt x="2390968" y="956845"/>
                  </a:lnTo>
                  <a:lnTo>
                    <a:pt x="2418712" y="994758"/>
                  </a:lnTo>
                  <a:lnTo>
                    <a:pt x="2442188" y="1034664"/>
                  </a:lnTo>
                  <a:lnTo>
                    <a:pt x="2461396" y="1076231"/>
                  </a:lnTo>
                  <a:lnTo>
                    <a:pt x="2476335" y="1119127"/>
                  </a:lnTo>
                  <a:lnTo>
                    <a:pt x="2487006" y="1163018"/>
                  </a:lnTo>
                  <a:lnTo>
                    <a:pt x="2493409" y="1207572"/>
                  </a:lnTo>
                  <a:lnTo>
                    <a:pt x="2495543" y="1252458"/>
                  </a:lnTo>
                  <a:lnTo>
                    <a:pt x="2493409" y="1297342"/>
                  </a:lnTo>
                  <a:lnTo>
                    <a:pt x="2487006" y="1341892"/>
                  </a:lnTo>
                  <a:lnTo>
                    <a:pt x="2476335" y="1385775"/>
                  </a:lnTo>
                  <a:lnTo>
                    <a:pt x="2461396" y="1428660"/>
                  </a:lnTo>
                  <a:lnTo>
                    <a:pt x="2442188" y="1470214"/>
                  </a:lnTo>
                  <a:lnTo>
                    <a:pt x="2418712" y="1510104"/>
                  </a:lnTo>
                  <a:lnTo>
                    <a:pt x="2390968" y="1547997"/>
                  </a:lnTo>
                  <a:lnTo>
                    <a:pt x="2358955" y="1583563"/>
                  </a:lnTo>
                  <a:lnTo>
                    <a:pt x="1577651" y="2367788"/>
                  </a:lnTo>
                  <a:lnTo>
                    <a:pt x="1542210" y="2399957"/>
                  </a:lnTo>
                  <a:lnTo>
                    <a:pt x="1504452" y="2427837"/>
                  </a:lnTo>
                  <a:lnTo>
                    <a:pt x="1464707" y="2451427"/>
                  </a:lnTo>
                  <a:lnTo>
                    <a:pt x="1423306" y="2470729"/>
                  </a:lnTo>
                  <a:lnTo>
                    <a:pt x="1380580" y="2485741"/>
                  </a:lnTo>
                  <a:lnTo>
                    <a:pt x="1336861" y="2496464"/>
                  </a:lnTo>
                  <a:lnTo>
                    <a:pt x="1292479" y="2502898"/>
                  </a:lnTo>
                  <a:lnTo>
                    <a:pt x="1247767" y="2505043"/>
                  </a:lnTo>
                  <a:lnTo>
                    <a:pt x="1203054" y="2502898"/>
                  </a:lnTo>
                  <a:lnTo>
                    <a:pt x="1158672" y="2496464"/>
                  </a:lnTo>
                  <a:lnTo>
                    <a:pt x="1114952" y="2485741"/>
                  </a:lnTo>
                  <a:lnTo>
                    <a:pt x="1072225" y="2470729"/>
                  </a:lnTo>
                  <a:lnTo>
                    <a:pt x="1030823" y="2451427"/>
                  </a:lnTo>
                  <a:lnTo>
                    <a:pt x="991076" y="2427837"/>
                  </a:lnTo>
                  <a:lnTo>
                    <a:pt x="953316" y="2399957"/>
                  </a:lnTo>
                  <a:lnTo>
                    <a:pt x="917873" y="2367788"/>
                  </a:lnTo>
                  <a:lnTo>
                    <a:pt x="136645" y="1583563"/>
                  </a:lnTo>
                  <a:lnTo>
                    <a:pt x="104619" y="1547997"/>
                  </a:lnTo>
                  <a:lnTo>
                    <a:pt x="76863" y="1510104"/>
                  </a:lnTo>
                  <a:lnTo>
                    <a:pt x="53377" y="1470214"/>
                  </a:lnTo>
                  <a:lnTo>
                    <a:pt x="34161" y="1428660"/>
                  </a:lnTo>
                  <a:lnTo>
                    <a:pt x="19215" y="1385775"/>
                  </a:lnTo>
                  <a:lnTo>
                    <a:pt x="8540" y="1341892"/>
                  </a:lnTo>
                  <a:lnTo>
                    <a:pt x="2135" y="1297342"/>
                  </a:lnTo>
                  <a:lnTo>
                    <a:pt x="0" y="1252458"/>
                  </a:lnTo>
                  <a:lnTo>
                    <a:pt x="2135" y="1207572"/>
                  </a:lnTo>
                  <a:lnTo>
                    <a:pt x="8540" y="1163018"/>
                  </a:lnTo>
                  <a:lnTo>
                    <a:pt x="19215" y="1119127"/>
                  </a:lnTo>
                  <a:lnTo>
                    <a:pt x="34161" y="1076231"/>
                  </a:lnTo>
                  <a:lnTo>
                    <a:pt x="53377" y="1034664"/>
                  </a:lnTo>
                  <a:lnTo>
                    <a:pt x="76863" y="994758"/>
                  </a:lnTo>
                  <a:lnTo>
                    <a:pt x="104619" y="956845"/>
                  </a:lnTo>
                  <a:lnTo>
                    <a:pt x="136645" y="921258"/>
                  </a:lnTo>
                  <a:lnTo>
                    <a:pt x="917873" y="137160"/>
                  </a:lnTo>
                  <a:lnTo>
                    <a:pt x="958563" y="100770"/>
                  </a:lnTo>
                  <a:lnTo>
                    <a:pt x="1002221" y="69979"/>
                  </a:lnTo>
                  <a:lnTo>
                    <a:pt x="1048356" y="44786"/>
                  </a:lnTo>
                  <a:lnTo>
                    <a:pt x="1096476" y="25192"/>
                  </a:lnTo>
                  <a:lnTo>
                    <a:pt x="1146090" y="11196"/>
                  </a:lnTo>
                  <a:lnTo>
                    <a:pt x="1196706" y="2799"/>
                  </a:lnTo>
                  <a:lnTo>
                    <a:pt x="1247832" y="0"/>
                  </a:lnTo>
                  <a:close/>
                </a:path>
              </a:pathLst>
            </a:custGeom>
            <a:ln w="12700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3412" y="2816161"/>
            <a:ext cx="16281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能够理解复杂、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6630" y="3092767"/>
            <a:ext cx="9410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1C4AE6"/>
                </a:solidFill>
                <a:latin typeface="Microsoft YaHei"/>
                <a:cs typeface="Microsoft YaHei"/>
              </a:rPr>
              <a:t>宽泛问题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3950" y="1962150"/>
            <a:ext cx="647700" cy="6477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619629" y="1265237"/>
            <a:ext cx="3216910" cy="715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Microsoft YaHei"/>
                <a:cs typeface="Microsoft YaHei"/>
              </a:rPr>
              <a:t>对业务实际没有感知</a:t>
            </a:r>
            <a:endParaRPr sz="1800">
              <a:latin typeface="Microsoft YaHei"/>
              <a:cs typeface="Microsoft YaHei"/>
            </a:endParaRPr>
          </a:p>
          <a:p>
            <a:pPr marL="169545">
              <a:lnSpc>
                <a:spcPct val="100000"/>
              </a:lnSpc>
              <a:spcBef>
                <a:spcPts val="1585"/>
              </a:spcBef>
            </a:pP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缺少对业务实际场景和表达方式的训练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9629" y="3945953"/>
            <a:ext cx="3759835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Microsoft YaHei"/>
                <a:cs typeface="Microsoft YaHei"/>
              </a:rPr>
              <a:t>大模型自身技术特点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400" spc="-60" dirty="0">
                <a:solidFill>
                  <a:srgbClr val="252525"/>
                </a:solidFill>
                <a:latin typeface="Microsoft YaHei"/>
                <a:cs typeface="Microsoft YaHei"/>
              </a:rPr>
              <a:t>大模型温度参数和随机采样策略下回答结果不同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86301" y="5062537"/>
            <a:ext cx="3829050" cy="149542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919"/>
              </a:spcBef>
            </a:pPr>
            <a:r>
              <a:rPr sz="1400" b="1" spc="-50" dirty="0">
                <a:latin typeface="Microsoft YaHei"/>
                <a:cs typeface="Microsoft YaHei"/>
              </a:rPr>
              <a:t>大模型潜力-能实现复杂问题理解：</a:t>
            </a:r>
            <a:endParaRPr sz="1400">
              <a:latin typeface="Microsoft YaHei"/>
              <a:cs typeface="Microsoft YaHei"/>
            </a:endParaRPr>
          </a:p>
          <a:p>
            <a:pPr marL="156845">
              <a:lnSpc>
                <a:spcPct val="100000"/>
              </a:lnSpc>
              <a:spcBef>
                <a:spcPts val="869"/>
              </a:spcBef>
            </a:pPr>
            <a:r>
              <a:rPr sz="1400" spc="-45" dirty="0">
                <a:latin typeface="Microsoft YaHei"/>
                <a:cs typeface="Microsoft YaHei"/>
              </a:rPr>
              <a:t>如何提高市场份额？</a:t>
            </a:r>
            <a:endParaRPr sz="1400">
              <a:latin typeface="Microsoft YaHei"/>
              <a:cs typeface="Microsoft YaHei"/>
            </a:endParaRPr>
          </a:p>
          <a:p>
            <a:pPr marL="156845">
              <a:lnSpc>
                <a:spcPct val="100000"/>
              </a:lnSpc>
              <a:spcBef>
                <a:spcPts val="800"/>
              </a:spcBef>
            </a:pPr>
            <a:r>
              <a:rPr sz="1400" spc="-50" dirty="0">
                <a:latin typeface="Microsoft YaHei"/>
                <a:cs typeface="Microsoft YaHei"/>
              </a:rPr>
              <a:t>哪些区域市场值得战略性投入？</a:t>
            </a:r>
            <a:endParaRPr sz="1400">
              <a:latin typeface="Microsoft YaHei"/>
              <a:cs typeface="Microsoft YaHei"/>
            </a:endParaRPr>
          </a:p>
          <a:p>
            <a:pPr marL="156845">
              <a:lnSpc>
                <a:spcPct val="100000"/>
              </a:lnSpc>
              <a:spcBef>
                <a:spcPts val="875"/>
              </a:spcBef>
            </a:pPr>
            <a:r>
              <a:rPr sz="1400" spc="-55" dirty="0">
                <a:latin typeface="Microsoft YaHei"/>
                <a:cs typeface="Microsoft YaHei"/>
              </a:rPr>
              <a:t>客户全生命周期价值充分挖掘的情况怎么样？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63001" y="5062537"/>
            <a:ext cx="3524250" cy="94551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52400" marR="24130">
              <a:lnSpc>
                <a:spcPct val="149800"/>
              </a:lnSpc>
              <a:spcBef>
                <a:spcPts val="110"/>
              </a:spcBef>
            </a:pPr>
            <a:r>
              <a:rPr sz="1400" b="1" spc="-45" dirty="0" err="1">
                <a:latin typeface="Microsoft YaHei"/>
                <a:cs typeface="Microsoft YaHei"/>
              </a:rPr>
              <a:t>大模型技术+数据领域语言算法训练：</a:t>
            </a:r>
            <a:r>
              <a:rPr sz="1400" spc="-45" dirty="0" err="1">
                <a:latin typeface="Microsoft YaHei"/>
                <a:cs typeface="Microsoft YaHei"/>
              </a:rPr>
              <a:t>实现自然语言交互更灵活、结果查询更准确</a:t>
            </a:r>
            <a:r>
              <a:rPr sz="1400" spc="-30" dirty="0" err="1">
                <a:latin typeface="Microsoft YaHei"/>
                <a:cs typeface="Microsoft YaHei"/>
              </a:rPr>
              <a:t>、数据响应更快速</a:t>
            </a:r>
            <a:endParaRPr sz="1400" dirty="0">
              <a:latin typeface="Microsoft YaHei"/>
              <a:cs typeface="Microsoft YaHe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58025" y="2381250"/>
            <a:ext cx="4791075" cy="1152525"/>
            <a:chOff x="7058025" y="2381250"/>
            <a:chExt cx="4791075" cy="1152525"/>
          </a:xfrm>
        </p:grpSpPr>
        <p:sp>
          <p:nvSpPr>
            <p:cNvPr id="23" name="object 23"/>
            <p:cNvSpPr/>
            <p:nvPr/>
          </p:nvSpPr>
          <p:spPr>
            <a:xfrm>
              <a:off x="7058025" y="3505200"/>
              <a:ext cx="4791075" cy="28575"/>
            </a:xfrm>
            <a:custGeom>
              <a:avLst/>
              <a:gdLst/>
              <a:ahLst/>
              <a:cxnLst/>
              <a:rect l="l" t="t" r="r" b="b"/>
              <a:pathLst>
                <a:path w="4791075" h="28575">
                  <a:moveTo>
                    <a:pt x="0" y="28575"/>
                  </a:moveTo>
                  <a:lnTo>
                    <a:pt x="4791075" y="28575"/>
                  </a:lnTo>
                  <a:lnTo>
                    <a:pt x="479107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58025" y="2381250"/>
              <a:ext cx="4791075" cy="1123950"/>
            </a:xfrm>
            <a:custGeom>
              <a:avLst/>
              <a:gdLst/>
              <a:ahLst/>
              <a:cxnLst/>
              <a:rect l="l" t="t" r="r" b="b"/>
              <a:pathLst>
                <a:path w="4791075" h="1123950">
                  <a:moveTo>
                    <a:pt x="4791075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4791075" y="1123950"/>
                  </a:lnTo>
                  <a:lnTo>
                    <a:pt x="47910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058025" y="2601912"/>
            <a:ext cx="4791075" cy="71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1800" b="1" spc="-10" dirty="0" err="1">
                <a:solidFill>
                  <a:srgbClr val="FD7B77"/>
                </a:solidFill>
                <a:latin typeface="Microsoft YaHei"/>
                <a:cs typeface="Microsoft YaHei"/>
              </a:rPr>
              <a:t>SemanticDB</a:t>
            </a:r>
            <a:r>
              <a:rPr sz="1800" b="1" spc="-20" dirty="0" err="1">
                <a:solidFill>
                  <a:srgbClr val="FD7B77"/>
                </a:solidFill>
                <a:latin typeface="Microsoft YaHei"/>
                <a:cs typeface="Microsoft YaHei"/>
              </a:rPr>
              <a:t>语义数据库</a:t>
            </a:r>
            <a:endParaRPr sz="1800" dirty="0">
              <a:latin typeface="Microsoft YaHei"/>
              <a:cs typeface="Microsoft YaHei"/>
            </a:endParaRPr>
          </a:p>
          <a:p>
            <a:pPr marL="97790">
              <a:lnSpc>
                <a:spcPct val="100000"/>
              </a:lnSpc>
              <a:spcBef>
                <a:spcPts val="1395"/>
              </a:spcBef>
            </a:pPr>
            <a:r>
              <a:rPr sz="1550" b="1" spc="20" dirty="0">
                <a:solidFill>
                  <a:srgbClr val="FFFFFF"/>
                </a:solidFill>
                <a:latin typeface="Microsoft YaHei"/>
                <a:cs typeface="Microsoft YaHei"/>
              </a:rPr>
              <a:t>搭建业务知识图谱和实体 </a:t>
            </a:r>
            <a:r>
              <a:rPr sz="1550" b="1" dirty="0">
                <a:solidFill>
                  <a:srgbClr val="FFFFFF"/>
                </a:solidFill>
                <a:latin typeface="Microsoft YaHei"/>
                <a:cs typeface="Microsoft YaHei"/>
              </a:rPr>
              <a:t>x</a:t>
            </a:r>
            <a:r>
              <a:rPr sz="1550" b="1" spc="25" dirty="0">
                <a:solidFill>
                  <a:srgbClr val="FFFFFF"/>
                </a:solidFill>
                <a:latin typeface="Microsoft YaHei"/>
                <a:cs typeface="Microsoft YaHei"/>
              </a:rPr>
              <a:t> 事件数据模型</a:t>
            </a:r>
            <a:endParaRPr sz="1550" dirty="0">
              <a:latin typeface="Microsoft YaHei"/>
              <a:cs typeface="Microsoft YaHe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058025" y="990600"/>
            <a:ext cx="4791075" cy="1152525"/>
            <a:chOff x="7058025" y="990600"/>
            <a:chExt cx="4791075" cy="1152525"/>
          </a:xfrm>
        </p:grpSpPr>
        <p:sp>
          <p:nvSpPr>
            <p:cNvPr id="27" name="object 27"/>
            <p:cNvSpPr/>
            <p:nvPr/>
          </p:nvSpPr>
          <p:spPr>
            <a:xfrm>
              <a:off x="7058025" y="2114550"/>
              <a:ext cx="4791075" cy="28575"/>
            </a:xfrm>
            <a:custGeom>
              <a:avLst/>
              <a:gdLst/>
              <a:ahLst/>
              <a:cxnLst/>
              <a:rect l="l" t="t" r="r" b="b"/>
              <a:pathLst>
                <a:path w="4791075" h="28575">
                  <a:moveTo>
                    <a:pt x="0" y="28575"/>
                  </a:moveTo>
                  <a:lnTo>
                    <a:pt x="4791075" y="28575"/>
                  </a:lnTo>
                  <a:lnTo>
                    <a:pt x="479107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58025" y="990600"/>
              <a:ext cx="4791075" cy="1123950"/>
            </a:xfrm>
            <a:custGeom>
              <a:avLst/>
              <a:gdLst/>
              <a:ahLst/>
              <a:cxnLst/>
              <a:rect l="l" t="t" r="r" b="b"/>
              <a:pathLst>
                <a:path w="4791075" h="1123950">
                  <a:moveTo>
                    <a:pt x="4791075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4791075" y="1123950"/>
                  </a:lnTo>
                  <a:lnTo>
                    <a:pt x="47910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058025" y="3743325"/>
            <a:ext cx="4791075" cy="1171575"/>
            <a:chOff x="7058025" y="3743325"/>
            <a:chExt cx="4791075" cy="1171575"/>
          </a:xfrm>
        </p:grpSpPr>
        <p:sp>
          <p:nvSpPr>
            <p:cNvPr id="30" name="object 30"/>
            <p:cNvSpPr/>
            <p:nvPr/>
          </p:nvSpPr>
          <p:spPr>
            <a:xfrm>
              <a:off x="7058025" y="4886325"/>
              <a:ext cx="4791075" cy="28575"/>
            </a:xfrm>
            <a:custGeom>
              <a:avLst/>
              <a:gdLst/>
              <a:ahLst/>
              <a:cxnLst/>
              <a:rect l="l" t="t" r="r" b="b"/>
              <a:pathLst>
                <a:path w="4791075" h="28575">
                  <a:moveTo>
                    <a:pt x="0" y="28575"/>
                  </a:moveTo>
                  <a:lnTo>
                    <a:pt x="4791075" y="28575"/>
                  </a:lnTo>
                  <a:lnTo>
                    <a:pt x="479107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58025" y="3743325"/>
              <a:ext cx="4791075" cy="1143000"/>
            </a:xfrm>
            <a:custGeom>
              <a:avLst/>
              <a:gdLst/>
              <a:ahLst/>
              <a:cxnLst/>
              <a:rect l="l" t="t" r="r" b="b"/>
              <a:pathLst>
                <a:path w="4791075" h="1143000">
                  <a:moveTo>
                    <a:pt x="4791075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4791075" y="1143000"/>
                  </a:lnTo>
                  <a:lnTo>
                    <a:pt x="47910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058025" y="1189672"/>
            <a:ext cx="4791075" cy="71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00"/>
              </a:spcBef>
            </a:pPr>
            <a:r>
              <a:rPr sz="1800" b="1" spc="-10" dirty="0" err="1">
                <a:solidFill>
                  <a:srgbClr val="FD7B77"/>
                </a:solidFill>
                <a:latin typeface="Microsoft YaHei"/>
                <a:cs typeface="Microsoft YaHei"/>
              </a:rPr>
              <a:t>Alisa</a:t>
            </a:r>
            <a:r>
              <a:rPr sz="1800" b="1" spc="-15" dirty="0" err="1">
                <a:solidFill>
                  <a:srgbClr val="FD7B77"/>
                </a:solidFill>
                <a:latin typeface="Microsoft YaHei"/>
                <a:cs typeface="Microsoft YaHei"/>
              </a:rPr>
              <a:t>自然语义理解算法</a:t>
            </a:r>
            <a:endParaRPr sz="1800" dirty="0">
              <a:latin typeface="Microsoft YaHei"/>
              <a:cs typeface="Microsoft YaHei"/>
            </a:endParaRPr>
          </a:p>
          <a:p>
            <a:pPr marL="98425">
              <a:lnSpc>
                <a:spcPct val="100000"/>
              </a:lnSpc>
              <a:spcBef>
                <a:spcPts val="1395"/>
              </a:spcBef>
            </a:pPr>
            <a:r>
              <a:rPr sz="155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通过深度学习，实现对用户意图的筛选和判断</a:t>
            </a:r>
            <a:endParaRPr sz="1550" dirty="0">
              <a:latin typeface="Microsoft YaHei"/>
              <a:cs typeface="Microsoft Ya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58025" y="3981132"/>
            <a:ext cx="4791075" cy="71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D7B77"/>
                </a:solidFill>
                <a:latin typeface="Microsoft YaHei"/>
                <a:cs typeface="Microsoft YaHei"/>
              </a:rPr>
              <a:t>NL2DSL</a:t>
            </a:r>
            <a:r>
              <a:rPr sz="1800" b="1" spc="-15" dirty="0">
                <a:solidFill>
                  <a:srgbClr val="FD7B77"/>
                </a:solidFill>
                <a:latin typeface="Microsoft YaHei"/>
                <a:cs typeface="Microsoft YaHei"/>
              </a:rPr>
              <a:t>-数据领域语言训练路线</a:t>
            </a:r>
            <a:endParaRPr sz="1800" dirty="0">
              <a:latin typeface="Microsoft YaHei"/>
              <a:cs typeface="Microsoft YaHei"/>
            </a:endParaRPr>
          </a:p>
          <a:p>
            <a:pPr marL="97790">
              <a:lnSpc>
                <a:spcPct val="100000"/>
              </a:lnSpc>
              <a:spcBef>
                <a:spcPts val="1395"/>
              </a:spcBef>
            </a:pPr>
            <a:r>
              <a:rPr sz="155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对数据分析意图强化训练，精确控制数据分析场景</a:t>
            </a:r>
            <a:endParaRPr sz="1550" dirty="0">
              <a:latin typeface="Microsoft YaHei"/>
              <a:cs typeface="Microsoft YaHe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86550" y="1019175"/>
            <a:ext cx="209550" cy="3933825"/>
          </a:xfrm>
          <a:custGeom>
            <a:avLst/>
            <a:gdLst/>
            <a:ahLst/>
            <a:cxnLst/>
            <a:rect l="l" t="t" r="r" b="b"/>
            <a:pathLst>
              <a:path w="209550" h="3933825">
                <a:moveTo>
                  <a:pt x="0" y="0"/>
                </a:moveTo>
                <a:lnTo>
                  <a:pt x="0" y="3933825"/>
                </a:lnTo>
                <a:lnTo>
                  <a:pt x="209550" y="1966849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901045" cy="6419850"/>
            <a:chOff x="0" y="0"/>
            <a:chExt cx="10901045" cy="6419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4787" y="947800"/>
              <a:ext cx="9182100" cy="790575"/>
            </a:xfrm>
            <a:custGeom>
              <a:avLst/>
              <a:gdLst/>
              <a:ahLst/>
              <a:cxnLst/>
              <a:rect l="l" t="t" r="r" b="b"/>
              <a:pathLst>
                <a:path w="9182100" h="790575">
                  <a:moveTo>
                    <a:pt x="9182100" y="0"/>
                  </a:moveTo>
                  <a:lnTo>
                    <a:pt x="0" y="0"/>
                  </a:lnTo>
                  <a:lnTo>
                    <a:pt x="0" y="790575"/>
                  </a:lnTo>
                  <a:lnTo>
                    <a:pt x="9182100" y="790575"/>
                  </a:lnTo>
                  <a:lnTo>
                    <a:pt x="9182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4787" y="947800"/>
              <a:ext cx="9182100" cy="790575"/>
            </a:xfrm>
            <a:custGeom>
              <a:avLst/>
              <a:gdLst/>
              <a:ahLst/>
              <a:cxnLst/>
              <a:rect l="l" t="t" r="r" b="b"/>
              <a:pathLst>
                <a:path w="9182100" h="790575">
                  <a:moveTo>
                    <a:pt x="0" y="790575"/>
                  </a:moveTo>
                  <a:lnTo>
                    <a:pt x="9182100" y="790575"/>
                  </a:lnTo>
                  <a:lnTo>
                    <a:pt x="9182100" y="0"/>
                  </a:lnTo>
                  <a:lnTo>
                    <a:pt x="0" y="0"/>
                  </a:lnTo>
                  <a:lnTo>
                    <a:pt x="0" y="79057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025" y="2447925"/>
              <a:ext cx="3305175" cy="2447925"/>
            </a:xfrm>
            <a:custGeom>
              <a:avLst/>
              <a:gdLst/>
              <a:ahLst/>
              <a:cxnLst/>
              <a:rect l="l" t="t" r="r" b="b"/>
              <a:pathLst>
                <a:path w="3305175" h="2447925">
                  <a:moveTo>
                    <a:pt x="3305175" y="0"/>
                  </a:moveTo>
                  <a:lnTo>
                    <a:pt x="0" y="0"/>
                  </a:lnTo>
                  <a:lnTo>
                    <a:pt x="0" y="2447925"/>
                  </a:lnTo>
                  <a:lnTo>
                    <a:pt x="3305175" y="2447925"/>
                  </a:lnTo>
                  <a:lnTo>
                    <a:pt x="3305175" y="0"/>
                  </a:lnTo>
                  <a:close/>
                </a:path>
              </a:pathLst>
            </a:custGeom>
            <a:solidFill>
              <a:srgbClr val="F1F1F1">
                <a:alpha val="8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4525" y="3009899"/>
              <a:ext cx="1314450" cy="1343025"/>
            </a:xfrm>
            <a:custGeom>
              <a:avLst/>
              <a:gdLst/>
              <a:ahLst/>
              <a:cxnLst/>
              <a:rect l="l" t="t" r="r" b="b"/>
              <a:pathLst>
                <a:path w="1314450" h="1343025">
                  <a:moveTo>
                    <a:pt x="1304925" y="46863"/>
                  </a:moveTo>
                  <a:lnTo>
                    <a:pt x="1301242" y="28613"/>
                  </a:lnTo>
                  <a:lnTo>
                    <a:pt x="1291209" y="13716"/>
                  </a:lnTo>
                  <a:lnTo>
                    <a:pt x="1276311" y="3683"/>
                  </a:lnTo>
                  <a:lnTo>
                    <a:pt x="1258062" y="0"/>
                  </a:lnTo>
                  <a:lnTo>
                    <a:pt x="46863" y="0"/>
                  </a:lnTo>
                  <a:lnTo>
                    <a:pt x="28600" y="3683"/>
                  </a:lnTo>
                  <a:lnTo>
                    <a:pt x="13716" y="13716"/>
                  </a:lnTo>
                  <a:lnTo>
                    <a:pt x="3670" y="28613"/>
                  </a:lnTo>
                  <a:lnTo>
                    <a:pt x="0" y="46863"/>
                  </a:lnTo>
                  <a:lnTo>
                    <a:pt x="0" y="524637"/>
                  </a:lnTo>
                  <a:lnTo>
                    <a:pt x="3670" y="542899"/>
                  </a:lnTo>
                  <a:lnTo>
                    <a:pt x="13716" y="557796"/>
                  </a:lnTo>
                  <a:lnTo>
                    <a:pt x="28600" y="567829"/>
                  </a:lnTo>
                  <a:lnTo>
                    <a:pt x="46863" y="571500"/>
                  </a:lnTo>
                  <a:lnTo>
                    <a:pt x="1258062" y="571500"/>
                  </a:lnTo>
                  <a:lnTo>
                    <a:pt x="1276311" y="567829"/>
                  </a:lnTo>
                  <a:lnTo>
                    <a:pt x="1291209" y="557796"/>
                  </a:lnTo>
                  <a:lnTo>
                    <a:pt x="1301242" y="542899"/>
                  </a:lnTo>
                  <a:lnTo>
                    <a:pt x="1304925" y="524637"/>
                  </a:lnTo>
                  <a:lnTo>
                    <a:pt x="1304925" y="46863"/>
                  </a:lnTo>
                  <a:close/>
                </a:path>
                <a:path w="1314450" h="1343025">
                  <a:moveTo>
                    <a:pt x="1314450" y="818388"/>
                  </a:moveTo>
                  <a:lnTo>
                    <a:pt x="1310767" y="800138"/>
                  </a:lnTo>
                  <a:lnTo>
                    <a:pt x="1300734" y="785241"/>
                  </a:lnTo>
                  <a:lnTo>
                    <a:pt x="1285836" y="775208"/>
                  </a:lnTo>
                  <a:lnTo>
                    <a:pt x="1267587" y="771525"/>
                  </a:lnTo>
                  <a:lnTo>
                    <a:pt x="56388" y="771525"/>
                  </a:lnTo>
                  <a:lnTo>
                    <a:pt x="38125" y="775208"/>
                  </a:lnTo>
                  <a:lnTo>
                    <a:pt x="23241" y="785241"/>
                  </a:lnTo>
                  <a:lnTo>
                    <a:pt x="13195" y="800138"/>
                  </a:lnTo>
                  <a:lnTo>
                    <a:pt x="9525" y="818388"/>
                  </a:lnTo>
                  <a:lnTo>
                    <a:pt x="9525" y="1296162"/>
                  </a:lnTo>
                  <a:lnTo>
                    <a:pt x="13195" y="1314424"/>
                  </a:lnTo>
                  <a:lnTo>
                    <a:pt x="23241" y="1329309"/>
                  </a:lnTo>
                  <a:lnTo>
                    <a:pt x="38125" y="1339354"/>
                  </a:lnTo>
                  <a:lnTo>
                    <a:pt x="56388" y="1343025"/>
                  </a:lnTo>
                  <a:lnTo>
                    <a:pt x="1267587" y="1343025"/>
                  </a:lnTo>
                  <a:lnTo>
                    <a:pt x="1285836" y="1339354"/>
                  </a:lnTo>
                  <a:lnTo>
                    <a:pt x="1300734" y="1329309"/>
                  </a:lnTo>
                  <a:lnTo>
                    <a:pt x="1310767" y="1314424"/>
                  </a:lnTo>
                  <a:lnTo>
                    <a:pt x="1314450" y="1296162"/>
                  </a:lnTo>
                  <a:lnTo>
                    <a:pt x="1314450" y="818388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787" y="5348287"/>
              <a:ext cx="9182100" cy="1066800"/>
            </a:xfrm>
            <a:custGeom>
              <a:avLst/>
              <a:gdLst/>
              <a:ahLst/>
              <a:cxnLst/>
              <a:rect l="l" t="t" r="r" b="b"/>
              <a:pathLst>
                <a:path w="9182100" h="1066800">
                  <a:moveTo>
                    <a:pt x="0" y="1066800"/>
                  </a:moveTo>
                  <a:lnTo>
                    <a:pt x="9182100" y="1066800"/>
                  </a:lnTo>
                  <a:lnTo>
                    <a:pt x="91821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0200" y="6238875"/>
              <a:ext cx="3705225" cy="19050"/>
            </a:xfrm>
            <a:custGeom>
              <a:avLst/>
              <a:gdLst/>
              <a:ahLst/>
              <a:cxnLst/>
              <a:rect l="l" t="t" r="r" b="b"/>
              <a:pathLst>
                <a:path w="3705225" h="19050">
                  <a:moveTo>
                    <a:pt x="0" y="19050"/>
                  </a:moveTo>
                  <a:lnTo>
                    <a:pt x="3705225" y="19050"/>
                  </a:lnTo>
                  <a:lnTo>
                    <a:pt x="37052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0200" y="5543550"/>
              <a:ext cx="3705225" cy="695325"/>
            </a:xfrm>
            <a:custGeom>
              <a:avLst/>
              <a:gdLst/>
              <a:ahLst/>
              <a:cxnLst/>
              <a:rect l="l" t="t" r="r" b="b"/>
              <a:pathLst>
                <a:path w="3705225" h="695325">
                  <a:moveTo>
                    <a:pt x="370522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3705225" y="695325"/>
                  </a:lnTo>
                  <a:lnTo>
                    <a:pt x="370522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4637" y="323278"/>
            <a:ext cx="65728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Chat</a:t>
            </a:r>
            <a:r>
              <a:rPr spc="110" dirty="0"/>
              <a:t> </a:t>
            </a:r>
            <a:r>
              <a:rPr spc="-20" dirty="0"/>
              <a:t>BI：AI</a:t>
            </a:r>
            <a:r>
              <a:rPr spc="-15" dirty="0"/>
              <a:t>大模型基座+数据领域算法训练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object 13"/>
            <p:cNvSpPr/>
            <p:nvPr/>
          </p:nvSpPr>
          <p:spPr>
            <a:xfrm>
              <a:off x="0" y="304800"/>
              <a:ext cx="114300" cy="447675"/>
            </a:xfrm>
            <a:custGeom>
              <a:avLst/>
              <a:gdLst/>
              <a:ahLst/>
              <a:cxnLst/>
              <a:rect l="l" t="t" r="r" b="b"/>
              <a:pathLst>
                <a:path w="114300" h="447675">
                  <a:moveTo>
                    <a:pt x="1143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4300" y="4476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58300" y="0"/>
              <a:ext cx="2933700" cy="6858000"/>
            </a:xfrm>
            <a:custGeom>
              <a:avLst/>
              <a:gdLst/>
              <a:ahLst/>
              <a:cxnLst/>
              <a:rect l="l" t="t" r="r" b="b"/>
              <a:pathLst>
                <a:path w="2933700" h="6858000">
                  <a:moveTo>
                    <a:pt x="2933700" y="0"/>
                  </a:moveTo>
                  <a:lnTo>
                    <a:pt x="1226762" y="0"/>
                  </a:lnTo>
                  <a:lnTo>
                    <a:pt x="0" y="6858000"/>
                  </a:lnTo>
                  <a:lnTo>
                    <a:pt x="2933699" y="6858000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7925" y="1733550"/>
              <a:ext cx="2124075" cy="3390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7925" y="1781048"/>
              <a:ext cx="2119376" cy="26146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01375" y="5838825"/>
              <a:ext cx="1190625" cy="10191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58525" y="3895661"/>
              <a:ext cx="1133475" cy="21765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96625" y="3933825"/>
              <a:ext cx="1095375" cy="20478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87100" y="3971861"/>
              <a:ext cx="1100137" cy="19955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53625" y="5191061"/>
              <a:ext cx="1090612" cy="16669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10775" y="3714750"/>
              <a:ext cx="985837" cy="17098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48875" y="3752850"/>
              <a:ext cx="857250" cy="15811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20300" y="3791077"/>
              <a:ext cx="919162" cy="15572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09892" y="931354"/>
            <a:ext cx="8692515" cy="749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3300"/>
              </a:lnSpc>
              <a:spcBef>
                <a:spcPts val="95"/>
              </a:spcBef>
            </a:pPr>
            <a:r>
              <a:rPr sz="1550" spc="10" dirty="0">
                <a:latin typeface="Microsoft YaHei"/>
                <a:cs typeface="Microsoft YaHei"/>
              </a:rPr>
              <a:t>我们是为企业级客户提供</a:t>
            </a:r>
            <a:r>
              <a:rPr sz="1550" b="1" spc="15" dirty="0">
                <a:latin typeface="Microsoft YaHei"/>
                <a:cs typeface="Microsoft YaHei"/>
              </a:rPr>
              <a:t>智能数据分析与可视化的</a:t>
            </a:r>
            <a:r>
              <a:rPr sz="1550" b="1" dirty="0">
                <a:latin typeface="Microsoft YaHei"/>
                <a:cs typeface="Microsoft YaHei"/>
              </a:rPr>
              <a:t>Chat</a:t>
            </a:r>
            <a:r>
              <a:rPr sz="1550" b="1" spc="500" dirty="0">
                <a:latin typeface="Microsoft YaHei"/>
                <a:cs typeface="Microsoft YaHei"/>
              </a:rPr>
              <a:t> </a:t>
            </a:r>
            <a:r>
              <a:rPr sz="1550" b="1" dirty="0">
                <a:latin typeface="Microsoft YaHei"/>
                <a:cs typeface="Microsoft YaHei"/>
              </a:rPr>
              <a:t>BI</a:t>
            </a:r>
            <a:r>
              <a:rPr sz="1550" b="1" spc="30" dirty="0">
                <a:latin typeface="Microsoft YaHei"/>
                <a:cs typeface="Microsoft YaHei"/>
              </a:rPr>
              <a:t>系统</a:t>
            </a:r>
            <a:r>
              <a:rPr sz="1550" spc="25" dirty="0">
                <a:latin typeface="Microsoft YaHei"/>
                <a:cs typeface="Microsoft YaHei"/>
              </a:rPr>
              <a:t>，通过</a:t>
            </a:r>
            <a:r>
              <a:rPr sz="1550" dirty="0">
                <a:latin typeface="Microsoft YaHei"/>
                <a:cs typeface="Microsoft YaHei"/>
              </a:rPr>
              <a:t>AI</a:t>
            </a:r>
            <a:r>
              <a:rPr sz="1550" spc="15" dirty="0">
                <a:latin typeface="Microsoft YaHei"/>
                <a:cs typeface="Microsoft YaHei"/>
              </a:rPr>
              <a:t>技术，帮助用户</a:t>
            </a:r>
            <a:r>
              <a:rPr sz="1550" b="1" spc="5" dirty="0">
                <a:latin typeface="Microsoft YaHei"/>
                <a:cs typeface="Microsoft YaHei"/>
              </a:rPr>
              <a:t>用自然语</a:t>
            </a:r>
            <a:r>
              <a:rPr sz="1550" b="1" dirty="0">
                <a:latin typeface="Microsoft YaHei"/>
                <a:cs typeface="Microsoft YaHei"/>
              </a:rPr>
              <a:t>言对话数据，实现精准的数据查询、分析，生成业务洞察</a:t>
            </a:r>
            <a:r>
              <a:rPr sz="1550" spc="-5" dirty="0">
                <a:latin typeface="Microsoft YaHei"/>
                <a:cs typeface="Microsoft YaHei"/>
              </a:rPr>
              <a:t>，降低数据分析门槛，提升决策效率。</a:t>
            </a:r>
            <a:endParaRPr sz="1550">
              <a:latin typeface="Microsoft YaHei"/>
              <a:cs typeface="Microsoft YaHe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0525" y="3400425"/>
            <a:ext cx="3857625" cy="2867025"/>
            <a:chOff x="390525" y="3400425"/>
            <a:chExt cx="3857625" cy="2867025"/>
          </a:xfrm>
        </p:grpSpPr>
        <p:sp>
          <p:nvSpPr>
            <p:cNvPr id="29" name="object 29"/>
            <p:cNvSpPr/>
            <p:nvPr/>
          </p:nvSpPr>
          <p:spPr>
            <a:xfrm>
              <a:off x="533400" y="6238875"/>
              <a:ext cx="3714750" cy="28575"/>
            </a:xfrm>
            <a:custGeom>
              <a:avLst/>
              <a:gdLst/>
              <a:ahLst/>
              <a:cxnLst/>
              <a:rect l="l" t="t" r="r" b="b"/>
              <a:pathLst>
                <a:path w="3714750" h="28575">
                  <a:moveTo>
                    <a:pt x="0" y="28575"/>
                  </a:moveTo>
                  <a:lnTo>
                    <a:pt x="3714750" y="28575"/>
                  </a:lnTo>
                  <a:lnTo>
                    <a:pt x="3714750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3400" y="5553075"/>
              <a:ext cx="3714750" cy="685800"/>
            </a:xfrm>
            <a:custGeom>
              <a:avLst/>
              <a:gdLst/>
              <a:ahLst/>
              <a:cxnLst/>
              <a:rect l="l" t="t" r="r" b="b"/>
              <a:pathLst>
                <a:path w="3714750" h="685800">
                  <a:moveTo>
                    <a:pt x="371475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714750" y="685800"/>
                  </a:lnTo>
                  <a:lnTo>
                    <a:pt x="371475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0525" y="3400425"/>
              <a:ext cx="1276350" cy="571500"/>
            </a:xfrm>
            <a:custGeom>
              <a:avLst/>
              <a:gdLst/>
              <a:ahLst/>
              <a:cxnLst/>
              <a:rect l="l" t="t" r="r" b="b"/>
              <a:pathLst>
                <a:path w="1276350" h="571500">
                  <a:moveTo>
                    <a:pt x="1229487" y="0"/>
                  </a:moveTo>
                  <a:lnTo>
                    <a:pt x="46812" y="0"/>
                  </a:lnTo>
                  <a:lnTo>
                    <a:pt x="28589" y="3679"/>
                  </a:lnTo>
                  <a:lnTo>
                    <a:pt x="13709" y="13715"/>
                  </a:lnTo>
                  <a:lnTo>
                    <a:pt x="3678" y="28610"/>
                  </a:lnTo>
                  <a:lnTo>
                    <a:pt x="0" y="46862"/>
                  </a:lnTo>
                  <a:lnTo>
                    <a:pt x="0" y="524637"/>
                  </a:lnTo>
                  <a:lnTo>
                    <a:pt x="3678" y="542889"/>
                  </a:lnTo>
                  <a:lnTo>
                    <a:pt x="13709" y="557783"/>
                  </a:lnTo>
                  <a:lnTo>
                    <a:pt x="28589" y="567820"/>
                  </a:lnTo>
                  <a:lnTo>
                    <a:pt x="46812" y="571500"/>
                  </a:lnTo>
                  <a:lnTo>
                    <a:pt x="1229487" y="571500"/>
                  </a:lnTo>
                  <a:lnTo>
                    <a:pt x="1247739" y="567820"/>
                  </a:lnTo>
                  <a:lnTo>
                    <a:pt x="1262633" y="557783"/>
                  </a:lnTo>
                  <a:lnTo>
                    <a:pt x="1272670" y="542889"/>
                  </a:lnTo>
                  <a:lnTo>
                    <a:pt x="1276350" y="524637"/>
                  </a:lnTo>
                  <a:lnTo>
                    <a:pt x="1276350" y="46862"/>
                  </a:lnTo>
                  <a:lnTo>
                    <a:pt x="1272670" y="28610"/>
                  </a:lnTo>
                  <a:lnTo>
                    <a:pt x="1262633" y="13715"/>
                  </a:lnTo>
                  <a:lnTo>
                    <a:pt x="1247739" y="3679"/>
                  </a:lnTo>
                  <a:lnTo>
                    <a:pt x="122948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00025" y="2447925"/>
            <a:ext cx="3305175" cy="2447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400">
              <a:latin typeface="Times New Roman"/>
              <a:cs typeface="Times New Roman"/>
            </a:endParaRPr>
          </a:p>
          <a:p>
            <a:pPr marL="2012950">
              <a:lnSpc>
                <a:spcPct val="100000"/>
              </a:lnSpc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数据问答</a:t>
            </a:r>
            <a:endParaRPr sz="1400">
              <a:latin typeface="Microsoft YaHei"/>
              <a:cs typeface="Microsoft YaHei"/>
            </a:endParaRPr>
          </a:p>
          <a:p>
            <a:pPr marL="472440">
              <a:lnSpc>
                <a:spcPct val="100000"/>
              </a:lnSpc>
              <a:spcBef>
                <a:spcPts val="145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用户问题</a:t>
            </a:r>
            <a:endParaRPr sz="1400">
              <a:latin typeface="Microsoft YaHei"/>
              <a:cs typeface="Microsoft YaHei"/>
            </a:endParaRPr>
          </a:p>
          <a:p>
            <a:pPr marL="2025014">
              <a:lnSpc>
                <a:spcPct val="100000"/>
              </a:lnSpc>
              <a:spcBef>
                <a:spcPts val="129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深度思考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71900" y="2447925"/>
            <a:ext cx="2276475" cy="2447925"/>
            <a:chOff x="3771900" y="2447925"/>
            <a:chExt cx="2276475" cy="2447925"/>
          </a:xfrm>
        </p:grpSpPr>
        <p:sp>
          <p:nvSpPr>
            <p:cNvPr id="34" name="object 34"/>
            <p:cNvSpPr/>
            <p:nvPr/>
          </p:nvSpPr>
          <p:spPr>
            <a:xfrm>
              <a:off x="3771900" y="2447925"/>
              <a:ext cx="2276475" cy="2447925"/>
            </a:xfrm>
            <a:custGeom>
              <a:avLst/>
              <a:gdLst/>
              <a:ahLst/>
              <a:cxnLst/>
              <a:rect l="l" t="t" r="r" b="b"/>
              <a:pathLst>
                <a:path w="2276475" h="2447925">
                  <a:moveTo>
                    <a:pt x="2276475" y="0"/>
                  </a:moveTo>
                  <a:lnTo>
                    <a:pt x="0" y="0"/>
                  </a:lnTo>
                  <a:lnTo>
                    <a:pt x="0" y="2447925"/>
                  </a:lnTo>
                  <a:lnTo>
                    <a:pt x="2276475" y="2447925"/>
                  </a:lnTo>
                  <a:lnTo>
                    <a:pt x="2276475" y="0"/>
                  </a:lnTo>
                  <a:close/>
                </a:path>
              </a:pathLst>
            </a:custGeom>
            <a:solidFill>
              <a:srgbClr val="F1F1F1">
                <a:alpha val="8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90975" y="3362325"/>
              <a:ext cx="1838325" cy="581025"/>
            </a:xfrm>
            <a:custGeom>
              <a:avLst/>
              <a:gdLst/>
              <a:ahLst/>
              <a:cxnLst/>
              <a:rect l="l" t="t" r="r" b="b"/>
              <a:pathLst>
                <a:path w="1838325" h="581025">
                  <a:moveTo>
                    <a:pt x="1790700" y="0"/>
                  </a:moveTo>
                  <a:lnTo>
                    <a:pt x="47625" y="0"/>
                  </a:ln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533400"/>
                  </a:lnTo>
                  <a:lnTo>
                    <a:pt x="3744" y="551932"/>
                  </a:lnTo>
                  <a:lnTo>
                    <a:pt x="13954" y="567070"/>
                  </a:lnTo>
                  <a:lnTo>
                    <a:pt x="29092" y="577280"/>
                  </a:lnTo>
                  <a:lnTo>
                    <a:pt x="47625" y="581025"/>
                  </a:lnTo>
                  <a:lnTo>
                    <a:pt x="1790700" y="581025"/>
                  </a:lnTo>
                  <a:lnTo>
                    <a:pt x="1809232" y="577280"/>
                  </a:lnTo>
                  <a:lnTo>
                    <a:pt x="1824370" y="567070"/>
                  </a:lnTo>
                  <a:lnTo>
                    <a:pt x="1834580" y="551932"/>
                  </a:lnTo>
                  <a:lnTo>
                    <a:pt x="1838325" y="533400"/>
                  </a:lnTo>
                  <a:lnTo>
                    <a:pt x="1838325" y="47625"/>
                  </a:lnTo>
                  <a:lnTo>
                    <a:pt x="1834580" y="29092"/>
                  </a:lnTo>
                  <a:lnTo>
                    <a:pt x="1824370" y="13954"/>
                  </a:lnTo>
                  <a:lnTo>
                    <a:pt x="1809232" y="3744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90975" y="4133850"/>
              <a:ext cx="1838325" cy="571500"/>
            </a:xfrm>
            <a:custGeom>
              <a:avLst/>
              <a:gdLst/>
              <a:ahLst/>
              <a:cxnLst/>
              <a:rect l="l" t="t" r="r" b="b"/>
              <a:pathLst>
                <a:path w="1838325" h="571500">
                  <a:moveTo>
                    <a:pt x="1791462" y="0"/>
                  </a:moveTo>
                  <a:lnTo>
                    <a:pt x="46862" y="0"/>
                  </a:lnTo>
                  <a:lnTo>
                    <a:pt x="28610" y="3679"/>
                  </a:lnTo>
                  <a:lnTo>
                    <a:pt x="13715" y="13716"/>
                  </a:lnTo>
                  <a:lnTo>
                    <a:pt x="3679" y="28610"/>
                  </a:lnTo>
                  <a:lnTo>
                    <a:pt x="0" y="46862"/>
                  </a:lnTo>
                  <a:lnTo>
                    <a:pt x="0" y="524637"/>
                  </a:lnTo>
                  <a:lnTo>
                    <a:pt x="3679" y="542889"/>
                  </a:lnTo>
                  <a:lnTo>
                    <a:pt x="13715" y="557783"/>
                  </a:lnTo>
                  <a:lnTo>
                    <a:pt x="28610" y="567820"/>
                  </a:lnTo>
                  <a:lnTo>
                    <a:pt x="46862" y="571500"/>
                  </a:lnTo>
                  <a:lnTo>
                    <a:pt x="1791462" y="571500"/>
                  </a:lnTo>
                  <a:lnTo>
                    <a:pt x="1809714" y="567820"/>
                  </a:lnTo>
                  <a:lnTo>
                    <a:pt x="1824609" y="557783"/>
                  </a:lnTo>
                  <a:lnTo>
                    <a:pt x="1834645" y="542889"/>
                  </a:lnTo>
                  <a:lnTo>
                    <a:pt x="1838325" y="524637"/>
                  </a:lnTo>
                  <a:lnTo>
                    <a:pt x="1838325" y="46862"/>
                  </a:lnTo>
                  <a:lnTo>
                    <a:pt x="1834645" y="28610"/>
                  </a:lnTo>
                  <a:lnTo>
                    <a:pt x="1824609" y="13716"/>
                  </a:lnTo>
                  <a:lnTo>
                    <a:pt x="1809714" y="3679"/>
                  </a:lnTo>
                  <a:lnTo>
                    <a:pt x="1791462" y="0"/>
                  </a:lnTo>
                  <a:close/>
                </a:path>
              </a:pathLst>
            </a:custGeom>
            <a:solidFill>
              <a:srgbClr val="3522C6">
                <a:alpha val="6392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0975" y="2600325"/>
              <a:ext cx="1838325" cy="581025"/>
            </a:xfrm>
            <a:custGeom>
              <a:avLst/>
              <a:gdLst/>
              <a:ahLst/>
              <a:cxnLst/>
              <a:rect l="l" t="t" r="r" b="b"/>
              <a:pathLst>
                <a:path w="1838325" h="581025">
                  <a:moveTo>
                    <a:pt x="1790700" y="0"/>
                  </a:moveTo>
                  <a:lnTo>
                    <a:pt x="47625" y="0"/>
                  </a:ln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533400"/>
                  </a:lnTo>
                  <a:lnTo>
                    <a:pt x="3744" y="551932"/>
                  </a:lnTo>
                  <a:lnTo>
                    <a:pt x="13954" y="567070"/>
                  </a:lnTo>
                  <a:lnTo>
                    <a:pt x="29092" y="577280"/>
                  </a:lnTo>
                  <a:lnTo>
                    <a:pt x="47625" y="581025"/>
                  </a:lnTo>
                  <a:lnTo>
                    <a:pt x="1790700" y="581025"/>
                  </a:lnTo>
                  <a:lnTo>
                    <a:pt x="1809232" y="577280"/>
                  </a:lnTo>
                  <a:lnTo>
                    <a:pt x="1824370" y="567070"/>
                  </a:lnTo>
                  <a:lnTo>
                    <a:pt x="1834580" y="551932"/>
                  </a:lnTo>
                  <a:lnTo>
                    <a:pt x="1838325" y="533400"/>
                  </a:lnTo>
                  <a:lnTo>
                    <a:pt x="1838325" y="47625"/>
                  </a:lnTo>
                  <a:lnTo>
                    <a:pt x="1834580" y="29092"/>
                  </a:lnTo>
                  <a:lnTo>
                    <a:pt x="1824370" y="13954"/>
                  </a:lnTo>
                  <a:lnTo>
                    <a:pt x="1809232" y="3744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771900" y="2447925"/>
            <a:ext cx="2276475" cy="24479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endParaRPr sz="1400">
              <a:latin typeface="Times New Roman"/>
              <a:cs typeface="Times New Roman"/>
            </a:endParaRPr>
          </a:p>
          <a:p>
            <a:pPr marL="8890" algn="ctr">
              <a:lnSpc>
                <a:spcPct val="100000"/>
              </a:lnSpc>
            </a:pPr>
            <a:r>
              <a:rPr sz="1400" b="1" spc="-45" dirty="0">
                <a:solidFill>
                  <a:srgbClr val="FFFFFF"/>
                </a:solidFill>
                <a:latin typeface="Microsoft YaHei"/>
                <a:cs typeface="Microsoft YaHei"/>
              </a:rPr>
              <a:t>自然语言转用户意图</a:t>
            </a:r>
            <a:endParaRPr sz="1400">
              <a:latin typeface="Microsoft YaHei"/>
              <a:cs typeface="Microsoft YaHei"/>
            </a:endParaRPr>
          </a:p>
          <a:p>
            <a:pPr marL="344170" marR="321310" algn="ctr">
              <a:lnSpc>
                <a:spcPts val="6050"/>
              </a:lnSpc>
              <a:spcBef>
                <a:spcPts val="885"/>
              </a:spcBef>
            </a:pPr>
            <a:r>
              <a:rPr sz="1400" b="1" spc="-45" dirty="0">
                <a:solidFill>
                  <a:srgbClr val="FFFFFF"/>
                </a:solidFill>
                <a:latin typeface="Microsoft YaHei"/>
                <a:cs typeface="Microsoft YaHei"/>
              </a:rPr>
              <a:t>业务和数据语义表达</a:t>
            </a: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业务和数据建模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15075" y="2447925"/>
            <a:ext cx="3076575" cy="2438400"/>
            <a:chOff x="6315075" y="2447925"/>
            <a:chExt cx="3076575" cy="2438400"/>
          </a:xfrm>
        </p:grpSpPr>
        <p:sp>
          <p:nvSpPr>
            <p:cNvPr id="40" name="object 40"/>
            <p:cNvSpPr/>
            <p:nvPr/>
          </p:nvSpPr>
          <p:spPr>
            <a:xfrm>
              <a:off x="6315075" y="2447925"/>
              <a:ext cx="3076575" cy="2438400"/>
            </a:xfrm>
            <a:custGeom>
              <a:avLst/>
              <a:gdLst/>
              <a:ahLst/>
              <a:cxnLst/>
              <a:rect l="l" t="t" r="r" b="b"/>
              <a:pathLst>
                <a:path w="3076575" h="2438400">
                  <a:moveTo>
                    <a:pt x="3076575" y="0"/>
                  </a:moveTo>
                  <a:lnTo>
                    <a:pt x="0" y="0"/>
                  </a:lnTo>
                  <a:lnTo>
                    <a:pt x="0" y="2438400"/>
                  </a:lnTo>
                  <a:lnTo>
                    <a:pt x="3076575" y="2438400"/>
                  </a:lnTo>
                  <a:lnTo>
                    <a:pt x="3076575" y="0"/>
                  </a:lnTo>
                  <a:close/>
                </a:path>
              </a:pathLst>
            </a:custGeom>
            <a:solidFill>
              <a:srgbClr val="F1F1F1">
                <a:alpha val="8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81950" y="2590800"/>
              <a:ext cx="1276350" cy="571500"/>
            </a:xfrm>
            <a:custGeom>
              <a:avLst/>
              <a:gdLst/>
              <a:ahLst/>
              <a:cxnLst/>
              <a:rect l="l" t="t" r="r" b="b"/>
              <a:pathLst>
                <a:path w="1276350" h="571500">
                  <a:moveTo>
                    <a:pt x="1229486" y="0"/>
                  </a:moveTo>
                  <a:lnTo>
                    <a:pt x="46863" y="0"/>
                  </a:lnTo>
                  <a:lnTo>
                    <a:pt x="28610" y="3679"/>
                  </a:lnTo>
                  <a:lnTo>
                    <a:pt x="13716" y="13715"/>
                  </a:lnTo>
                  <a:lnTo>
                    <a:pt x="3679" y="28610"/>
                  </a:lnTo>
                  <a:lnTo>
                    <a:pt x="0" y="46862"/>
                  </a:lnTo>
                  <a:lnTo>
                    <a:pt x="0" y="524637"/>
                  </a:lnTo>
                  <a:lnTo>
                    <a:pt x="3679" y="542889"/>
                  </a:lnTo>
                  <a:lnTo>
                    <a:pt x="13716" y="557784"/>
                  </a:lnTo>
                  <a:lnTo>
                    <a:pt x="28610" y="567820"/>
                  </a:lnTo>
                  <a:lnTo>
                    <a:pt x="46863" y="571500"/>
                  </a:lnTo>
                  <a:lnTo>
                    <a:pt x="1229486" y="571500"/>
                  </a:lnTo>
                  <a:lnTo>
                    <a:pt x="1247739" y="567820"/>
                  </a:lnTo>
                  <a:lnTo>
                    <a:pt x="1262633" y="557784"/>
                  </a:lnTo>
                  <a:lnTo>
                    <a:pt x="1272670" y="542889"/>
                  </a:lnTo>
                  <a:lnTo>
                    <a:pt x="1276350" y="524637"/>
                  </a:lnTo>
                  <a:lnTo>
                    <a:pt x="1276350" y="46862"/>
                  </a:lnTo>
                  <a:lnTo>
                    <a:pt x="1272670" y="28610"/>
                  </a:lnTo>
                  <a:lnTo>
                    <a:pt x="1262633" y="13715"/>
                  </a:lnTo>
                  <a:lnTo>
                    <a:pt x="1247739" y="3679"/>
                  </a:lnTo>
                  <a:lnTo>
                    <a:pt x="1229486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267700" y="2754312"/>
            <a:ext cx="7283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数据洞察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981950" y="3362325"/>
            <a:ext cx="1276350" cy="571500"/>
          </a:xfrm>
          <a:custGeom>
            <a:avLst/>
            <a:gdLst/>
            <a:ahLst/>
            <a:cxnLst/>
            <a:rect l="l" t="t" r="r" b="b"/>
            <a:pathLst>
              <a:path w="1276350" h="571500">
                <a:moveTo>
                  <a:pt x="1229486" y="0"/>
                </a:moveTo>
                <a:lnTo>
                  <a:pt x="46863" y="0"/>
                </a:lnTo>
                <a:lnTo>
                  <a:pt x="28610" y="3679"/>
                </a:lnTo>
                <a:lnTo>
                  <a:pt x="13716" y="13715"/>
                </a:lnTo>
                <a:lnTo>
                  <a:pt x="3679" y="28610"/>
                </a:lnTo>
                <a:lnTo>
                  <a:pt x="0" y="46862"/>
                </a:lnTo>
                <a:lnTo>
                  <a:pt x="0" y="524637"/>
                </a:lnTo>
                <a:lnTo>
                  <a:pt x="3679" y="542889"/>
                </a:lnTo>
                <a:lnTo>
                  <a:pt x="13716" y="557783"/>
                </a:lnTo>
                <a:lnTo>
                  <a:pt x="28610" y="567820"/>
                </a:lnTo>
                <a:lnTo>
                  <a:pt x="46863" y="571500"/>
                </a:lnTo>
                <a:lnTo>
                  <a:pt x="1229486" y="571500"/>
                </a:lnTo>
                <a:lnTo>
                  <a:pt x="1247739" y="567820"/>
                </a:lnTo>
                <a:lnTo>
                  <a:pt x="1262633" y="557783"/>
                </a:lnTo>
                <a:lnTo>
                  <a:pt x="1272670" y="542889"/>
                </a:lnTo>
                <a:lnTo>
                  <a:pt x="1276350" y="524637"/>
                </a:lnTo>
                <a:lnTo>
                  <a:pt x="1276350" y="46862"/>
                </a:lnTo>
                <a:lnTo>
                  <a:pt x="1272670" y="28610"/>
                </a:lnTo>
                <a:lnTo>
                  <a:pt x="1262633" y="13715"/>
                </a:lnTo>
                <a:lnTo>
                  <a:pt x="1247739" y="3679"/>
                </a:lnTo>
                <a:lnTo>
                  <a:pt x="1229486" y="0"/>
                </a:lnTo>
                <a:close/>
              </a:path>
            </a:pathLst>
          </a:custGeom>
          <a:solidFill>
            <a:srgbClr val="1B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267700" y="3522662"/>
            <a:ext cx="7283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决策建议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981950" y="4124325"/>
            <a:ext cx="1276350" cy="581025"/>
          </a:xfrm>
          <a:custGeom>
            <a:avLst/>
            <a:gdLst/>
            <a:ahLst/>
            <a:cxnLst/>
            <a:rect l="l" t="t" r="r" b="b"/>
            <a:pathLst>
              <a:path w="1276350" h="581025">
                <a:moveTo>
                  <a:pt x="1228725" y="0"/>
                </a:moveTo>
                <a:lnTo>
                  <a:pt x="47625" y="0"/>
                </a:lnTo>
                <a:lnTo>
                  <a:pt x="29092" y="3744"/>
                </a:lnTo>
                <a:lnTo>
                  <a:pt x="13954" y="13954"/>
                </a:lnTo>
                <a:lnTo>
                  <a:pt x="3744" y="29092"/>
                </a:lnTo>
                <a:lnTo>
                  <a:pt x="0" y="47625"/>
                </a:lnTo>
                <a:lnTo>
                  <a:pt x="0" y="533400"/>
                </a:lnTo>
                <a:lnTo>
                  <a:pt x="3744" y="551932"/>
                </a:lnTo>
                <a:lnTo>
                  <a:pt x="13954" y="567070"/>
                </a:lnTo>
                <a:lnTo>
                  <a:pt x="29092" y="577280"/>
                </a:lnTo>
                <a:lnTo>
                  <a:pt x="47625" y="581025"/>
                </a:lnTo>
                <a:lnTo>
                  <a:pt x="1228725" y="581025"/>
                </a:lnTo>
                <a:lnTo>
                  <a:pt x="1247257" y="577280"/>
                </a:lnTo>
                <a:lnTo>
                  <a:pt x="1262395" y="567070"/>
                </a:lnTo>
                <a:lnTo>
                  <a:pt x="1272605" y="551932"/>
                </a:lnTo>
                <a:lnTo>
                  <a:pt x="1276350" y="533400"/>
                </a:lnTo>
                <a:lnTo>
                  <a:pt x="1276350" y="47625"/>
                </a:lnTo>
                <a:lnTo>
                  <a:pt x="1272605" y="29092"/>
                </a:lnTo>
                <a:lnTo>
                  <a:pt x="1262395" y="13954"/>
                </a:lnTo>
                <a:lnTo>
                  <a:pt x="1247257" y="3744"/>
                </a:lnTo>
                <a:lnTo>
                  <a:pt x="1228725" y="0"/>
                </a:lnTo>
                <a:close/>
              </a:path>
            </a:pathLst>
          </a:custGeom>
          <a:solidFill>
            <a:srgbClr val="3522C6">
              <a:alpha val="635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174101" y="4291329"/>
            <a:ext cx="918844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Agent</a:t>
            </a:r>
            <a:r>
              <a:rPr sz="14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联动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3400" y="5727065"/>
            <a:ext cx="37147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39825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基座大模型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10200" y="5734367"/>
            <a:ext cx="3705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62330">
              <a:lnSpc>
                <a:spcPct val="100000"/>
              </a:lnSpc>
              <a:spcBef>
                <a:spcPts val="125"/>
              </a:spcBef>
            </a:pPr>
            <a:r>
              <a:rPr sz="20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数据领域算法训练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371975" y="2590800"/>
            <a:ext cx="3362325" cy="3919854"/>
            <a:chOff x="4371975" y="2590800"/>
            <a:chExt cx="3362325" cy="3919854"/>
          </a:xfrm>
        </p:grpSpPr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1975" y="5648325"/>
              <a:ext cx="1033462" cy="86201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448425" y="2590800"/>
              <a:ext cx="1285875" cy="571500"/>
            </a:xfrm>
            <a:custGeom>
              <a:avLst/>
              <a:gdLst/>
              <a:ahLst/>
              <a:cxnLst/>
              <a:rect l="l" t="t" r="r" b="b"/>
              <a:pathLst>
                <a:path w="1285875" h="571500">
                  <a:moveTo>
                    <a:pt x="1239011" y="0"/>
                  </a:moveTo>
                  <a:lnTo>
                    <a:pt x="46862" y="0"/>
                  </a:lnTo>
                  <a:lnTo>
                    <a:pt x="28610" y="3679"/>
                  </a:lnTo>
                  <a:lnTo>
                    <a:pt x="13715" y="13715"/>
                  </a:lnTo>
                  <a:lnTo>
                    <a:pt x="3679" y="28610"/>
                  </a:lnTo>
                  <a:lnTo>
                    <a:pt x="0" y="46862"/>
                  </a:lnTo>
                  <a:lnTo>
                    <a:pt x="0" y="524637"/>
                  </a:lnTo>
                  <a:lnTo>
                    <a:pt x="3679" y="542889"/>
                  </a:lnTo>
                  <a:lnTo>
                    <a:pt x="13715" y="557784"/>
                  </a:lnTo>
                  <a:lnTo>
                    <a:pt x="28610" y="567820"/>
                  </a:lnTo>
                  <a:lnTo>
                    <a:pt x="46862" y="571500"/>
                  </a:lnTo>
                  <a:lnTo>
                    <a:pt x="1239011" y="571500"/>
                  </a:lnTo>
                  <a:lnTo>
                    <a:pt x="1257264" y="567820"/>
                  </a:lnTo>
                  <a:lnTo>
                    <a:pt x="1272158" y="557784"/>
                  </a:lnTo>
                  <a:lnTo>
                    <a:pt x="1282195" y="542889"/>
                  </a:lnTo>
                  <a:lnTo>
                    <a:pt x="1285875" y="524637"/>
                  </a:lnTo>
                  <a:lnTo>
                    <a:pt x="1285875" y="46862"/>
                  </a:lnTo>
                  <a:lnTo>
                    <a:pt x="1282195" y="28610"/>
                  </a:lnTo>
                  <a:lnTo>
                    <a:pt x="1272158" y="13715"/>
                  </a:lnTo>
                  <a:lnTo>
                    <a:pt x="1257264" y="3679"/>
                  </a:lnTo>
                  <a:lnTo>
                    <a:pt x="1239011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741794" y="2748978"/>
            <a:ext cx="7283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数据查询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448425" y="3352800"/>
            <a:ext cx="1285875" cy="571500"/>
          </a:xfrm>
          <a:custGeom>
            <a:avLst/>
            <a:gdLst/>
            <a:ahLst/>
            <a:cxnLst/>
            <a:rect l="l" t="t" r="r" b="b"/>
            <a:pathLst>
              <a:path w="1285875" h="571500">
                <a:moveTo>
                  <a:pt x="1239011" y="0"/>
                </a:moveTo>
                <a:lnTo>
                  <a:pt x="46862" y="0"/>
                </a:lnTo>
                <a:lnTo>
                  <a:pt x="28610" y="3679"/>
                </a:lnTo>
                <a:lnTo>
                  <a:pt x="13715" y="13715"/>
                </a:lnTo>
                <a:lnTo>
                  <a:pt x="3679" y="28610"/>
                </a:lnTo>
                <a:lnTo>
                  <a:pt x="0" y="46862"/>
                </a:lnTo>
                <a:lnTo>
                  <a:pt x="0" y="524637"/>
                </a:lnTo>
                <a:lnTo>
                  <a:pt x="3679" y="542889"/>
                </a:lnTo>
                <a:lnTo>
                  <a:pt x="13715" y="557783"/>
                </a:lnTo>
                <a:lnTo>
                  <a:pt x="28610" y="567820"/>
                </a:lnTo>
                <a:lnTo>
                  <a:pt x="46862" y="571500"/>
                </a:lnTo>
                <a:lnTo>
                  <a:pt x="1239011" y="571500"/>
                </a:lnTo>
                <a:lnTo>
                  <a:pt x="1257264" y="567820"/>
                </a:lnTo>
                <a:lnTo>
                  <a:pt x="1272158" y="557783"/>
                </a:lnTo>
                <a:lnTo>
                  <a:pt x="1282195" y="542889"/>
                </a:lnTo>
                <a:lnTo>
                  <a:pt x="1285875" y="524637"/>
                </a:lnTo>
                <a:lnTo>
                  <a:pt x="1285875" y="46862"/>
                </a:lnTo>
                <a:lnTo>
                  <a:pt x="1282195" y="28610"/>
                </a:lnTo>
                <a:lnTo>
                  <a:pt x="1272158" y="13715"/>
                </a:lnTo>
                <a:lnTo>
                  <a:pt x="1257264" y="3679"/>
                </a:lnTo>
                <a:lnTo>
                  <a:pt x="1239011" y="0"/>
                </a:lnTo>
                <a:close/>
              </a:path>
            </a:pathLst>
          </a:custGeom>
          <a:solidFill>
            <a:srgbClr val="1B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652894" y="3517328"/>
            <a:ext cx="9086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分析及归因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448425" y="4124325"/>
            <a:ext cx="1285875" cy="571500"/>
          </a:xfrm>
          <a:custGeom>
            <a:avLst/>
            <a:gdLst/>
            <a:ahLst/>
            <a:cxnLst/>
            <a:rect l="l" t="t" r="r" b="b"/>
            <a:pathLst>
              <a:path w="1285875" h="571500">
                <a:moveTo>
                  <a:pt x="1239011" y="0"/>
                </a:moveTo>
                <a:lnTo>
                  <a:pt x="46862" y="0"/>
                </a:lnTo>
                <a:lnTo>
                  <a:pt x="28610" y="3679"/>
                </a:lnTo>
                <a:lnTo>
                  <a:pt x="13715" y="13716"/>
                </a:lnTo>
                <a:lnTo>
                  <a:pt x="3679" y="28610"/>
                </a:lnTo>
                <a:lnTo>
                  <a:pt x="0" y="46862"/>
                </a:lnTo>
                <a:lnTo>
                  <a:pt x="0" y="524637"/>
                </a:lnTo>
                <a:lnTo>
                  <a:pt x="3679" y="542889"/>
                </a:lnTo>
                <a:lnTo>
                  <a:pt x="13715" y="557783"/>
                </a:lnTo>
                <a:lnTo>
                  <a:pt x="28610" y="567820"/>
                </a:lnTo>
                <a:lnTo>
                  <a:pt x="46862" y="571500"/>
                </a:lnTo>
                <a:lnTo>
                  <a:pt x="1239011" y="571500"/>
                </a:lnTo>
                <a:lnTo>
                  <a:pt x="1257264" y="567820"/>
                </a:lnTo>
                <a:lnTo>
                  <a:pt x="1272158" y="557783"/>
                </a:lnTo>
                <a:lnTo>
                  <a:pt x="1282195" y="542889"/>
                </a:lnTo>
                <a:lnTo>
                  <a:pt x="1285875" y="524637"/>
                </a:lnTo>
                <a:lnTo>
                  <a:pt x="1285875" y="46862"/>
                </a:lnTo>
                <a:lnTo>
                  <a:pt x="1282195" y="28610"/>
                </a:lnTo>
                <a:lnTo>
                  <a:pt x="1272158" y="13716"/>
                </a:lnTo>
                <a:lnTo>
                  <a:pt x="1257264" y="3679"/>
                </a:lnTo>
                <a:lnTo>
                  <a:pt x="1239011" y="0"/>
                </a:lnTo>
                <a:close/>
              </a:path>
            </a:pathLst>
          </a:custGeom>
          <a:solidFill>
            <a:srgbClr val="1B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652894" y="4285869"/>
            <a:ext cx="9080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数据可视化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00025" y="2743200"/>
            <a:ext cx="9010650" cy="2600325"/>
            <a:chOff x="200025" y="2743200"/>
            <a:chExt cx="9010650" cy="2600325"/>
          </a:xfrm>
        </p:grpSpPr>
        <p:sp>
          <p:nvSpPr>
            <p:cNvPr id="58" name="object 58"/>
            <p:cNvSpPr/>
            <p:nvPr/>
          </p:nvSpPr>
          <p:spPr>
            <a:xfrm>
              <a:off x="3552825" y="2743199"/>
              <a:ext cx="2752725" cy="1838325"/>
            </a:xfrm>
            <a:custGeom>
              <a:avLst/>
              <a:gdLst/>
              <a:ahLst/>
              <a:cxnLst/>
              <a:rect l="l" t="t" r="r" b="b"/>
              <a:pathLst>
                <a:path w="2752725" h="1838325">
                  <a:moveTo>
                    <a:pt x="180975" y="942975"/>
                  </a:moveTo>
                  <a:lnTo>
                    <a:pt x="0" y="47625"/>
                  </a:lnTo>
                  <a:lnTo>
                    <a:pt x="0" y="1838325"/>
                  </a:lnTo>
                  <a:lnTo>
                    <a:pt x="180975" y="942975"/>
                  </a:lnTo>
                  <a:close/>
                </a:path>
                <a:path w="2752725" h="1838325">
                  <a:moveTo>
                    <a:pt x="2752725" y="895350"/>
                  </a:moveTo>
                  <a:lnTo>
                    <a:pt x="2571750" y="0"/>
                  </a:lnTo>
                  <a:lnTo>
                    <a:pt x="2571750" y="1790700"/>
                  </a:lnTo>
                  <a:lnTo>
                    <a:pt x="2752725" y="89535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00025" y="5143500"/>
              <a:ext cx="9001125" cy="200025"/>
            </a:xfrm>
            <a:custGeom>
              <a:avLst/>
              <a:gdLst/>
              <a:ahLst/>
              <a:cxnLst/>
              <a:rect l="l" t="t" r="r" b="b"/>
              <a:pathLst>
                <a:path w="9001125" h="200025">
                  <a:moveTo>
                    <a:pt x="4500499" y="0"/>
                  </a:moveTo>
                  <a:lnTo>
                    <a:pt x="0" y="200025"/>
                  </a:lnTo>
                  <a:lnTo>
                    <a:pt x="9001125" y="200025"/>
                  </a:lnTo>
                  <a:lnTo>
                    <a:pt x="450049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029075" y="4019549"/>
              <a:ext cx="5181600" cy="104775"/>
            </a:xfrm>
            <a:custGeom>
              <a:avLst/>
              <a:gdLst/>
              <a:ahLst/>
              <a:cxnLst/>
              <a:rect l="l" t="t" r="r" b="b"/>
              <a:pathLst>
                <a:path w="5181600" h="104775">
                  <a:moveTo>
                    <a:pt x="1790700" y="104775"/>
                  </a:moveTo>
                  <a:lnTo>
                    <a:pt x="895350" y="0"/>
                  </a:lnTo>
                  <a:lnTo>
                    <a:pt x="0" y="104775"/>
                  </a:lnTo>
                  <a:lnTo>
                    <a:pt x="1790700" y="104775"/>
                  </a:lnTo>
                  <a:close/>
                </a:path>
                <a:path w="5181600" h="104775">
                  <a:moveTo>
                    <a:pt x="5181600" y="104775"/>
                  </a:moveTo>
                  <a:lnTo>
                    <a:pt x="4586351" y="9525"/>
                  </a:lnTo>
                  <a:lnTo>
                    <a:pt x="3990975" y="104775"/>
                  </a:lnTo>
                  <a:lnTo>
                    <a:pt x="5181600" y="1047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969327" y="2112073"/>
            <a:ext cx="1644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用户自然语言交互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035044" y="2099627"/>
            <a:ext cx="1644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意图及程序化转译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08876" y="2116772"/>
            <a:ext cx="14471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数据分析及洞察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536680" cy="3373754"/>
            <a:chOff x="0" y="0"/>
            <a:chExt cx="11536680" cy="33737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9612" y="1147825"/>
              <a:ext cx="10820400" cy="2219325"/>
            </a:xfrm>
            <a:custGeom>
              <a:avLst/>
              <a:gdLst/>
              <a:ahLst/>
              <a:cxnLst/>
              <a:rect l="l" t="t" r="r" b="b"/>
              <a:pathLst>
                <a:path w="10820400" h="2219325">
                  <a:moveTo>
                    <a:pt x="10820400" y="0"/>
                  </a:moveTo>
                  <a:lnTo>
                    <a:pt x="0" y="0"/>
                  </a:lnTo>
                  <a:lnTo>
                    <a:pt x="0" y="2219325"/>
                  </a:lnTo>
                  <a:lnTo>
                    <a:pt x="10820400" y="2219325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9612" y="1147825"/>
              <a:ext cx="10820400" cy="2219325"/>
            </a:xfrm>
            <a:custGeom>
              <a:avLst/>
              <a:gdLst/>
              <a:ahLst/>
              <a:cxnLst/>
              <a:rect l="l" t="t" r="r" b="b"/>
              <a:pathLst>
                <a:path w="10820400" h="2219325">
                  <a:moveTo>
                    <a:pt x="0" y="2219325"/>
                  </a:moveTo>
                  <a:lnTo>
                    <a:pt x="10820400" y="2219325"/>
                  </a:lnTo>
                  <a:lnTo>
                    <a:pt x="10820400" y="0"/>
                  </a:lnTo>
                  <a:lnTo>
                    <a:pt x="0" y="0"/>
                  </a:lnTo>
                  <a:lnTo>
                    <a:pt x="0" y="2219325"/>
                  </a:lnTo>
                  <a:close/>
                </a:path>
              </a:pathLst>
            </a:custGeom>
            <a:ln w="12700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3262" y="5686425"/>
            <a:ext cx="10765155" cy="752475"/>
            <a:chOff x="703262" y="5686425"/>
            <a:chExt cx="10765155" cy="752475"/>
          </a:xfrm>
        </p:grpSpPr>
        <p:sp>
          <p:nvSpPr>
            <p:cNvPr id="8" name="object 8"/>
            <p:cNvSpPr/>
            <p:nvPr/>
          </p:nvSpPr>
          <p:spPr>
            <a:xfrm>
              <a:off x="742950" y="5686425"/>
              <a:ext cx="10725150" cy="752475"/>
            </a:xfrm>
            <a:custGeom>
              <a:avLst/>
              <a:gdLst/>
              <a:ahLst/>
              <a:cxnLst/>
              <a:rect l="l" t="t" r="r" b="b"/>
              <a:pathLst>
                <a:path w="10725150" h="752475">
                  <a:moveTo>
                    <a:pt x="10725150" y="0"/>
                  </a:moveTo>
                  <a:lnTo>
                    <a:pt x="0" y="0"/>
                  </a:lnTo>
                  <a:lnTo>
                    <a:pt x="0" y="752475"/>
                  </a:lnTo>
                  <a:lnTo>
                    <a:pt x="10725150" y="752475"/>
                  </a:lnTo>
                  <a:lnTo>
                    <a:pt x="10725150" y="0"/>
                  </a:lnTo>
                  <a:close/>
                </a:path>
              </a:pathLst>
            </a:custGeom>
            <a:solidFill>
              <a:srgbClr val="ECF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262" y="5703887"/>
              <a:ext cx="2853747" cy="70802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03262" y="4286250"/>
            <a:ext cx="10765155" cy="752475"/>
            <a:chOff x="703262" y="4286250"/>
            <a:chExt cx="10765155" cy="752475"/>
          </a:xfrm>
        </p:grpSpPr>
        <p:sp>
          <p:nvSpPr>
            <p:cNvPr id="11" name="object 11"/>
            <p:cNvSpPr/>
            <p:nvPr/>
          </p:nvSpPr>
          <p:spPr>
            <a:xfrm>
              <a:off x="742950" y="4286250"/>
              <a:ext cx="10725150" cy="752475"/>
            </a:xfrm>
            <a:custGeom>
              <a:avLst/>
              <a:gdLst/>
              <a:ahLst/>
              <a:cxnLst/>
              <a:rect l="l" t="t" r="r" b="b"/>
              <a:pathLst>
                <a:path w="10725150" h="752475">
                  <a:moveTo>
                    <a:pt x="10725150" y="0"/>
                  </a:moveTo>
                  <a:lnTo>
                    <a:pt x="0" y="0"/>
                  </a:lnTo>
                  <a:lnTo>
                    <a:pt x="0" y="752475"/>
                  </a:lnTo>
                  <a:lnTo>
                    <a:pt x="10725150" y="752475"/>
                  </a:lnTo>
                  <a:lnTo>
                    <a:pt x="10725150" y="0"/>
                  </a:lnTo>
                  <a:close/>
                </a:path>
              </a:pathLst>
            </a:custGeom>
            <a:solidFill>
              <a:srgbClr val="ECF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262" y="4303775"/>
              <a:ext cx="2853753" cy="7080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785620" y="1595437"/>
            <a:ext cx="30454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FFFF"/>
                </a:solidFill>
                <a:latin typeface="Microsoft YaHei"/>
                <a:cs typeface="Microsoft YaHei"/>
              </a:rPr>
              <a:t>以</a:t>
            </a:r>
            <a:r>
              <a:rPr sz="20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100张</a:t>
            </a:r>
            <a:r>
              <a:rPr sz="2000" spc="-30" dirty="0">
                <a:solidFill>
                  <a:srgbClr val="FFFFFF"/>
                </a:solidFill>
                <a:latin typeface="Microsoft YaHei"/>
                <a:cs typeface="Microsoft YaHei"/>
              </a:rPr>
              <a:t>报表建设成本为例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3737" y="1314450"/>
            <a:ext cx="10850880" cy="1638935"/>
            <a:chOff x="693737" y="1314450"/>
            <a:chExt cx="10850880" cy="1638935"/>
          </a:xfrm>
        </p:grpSpPr>
        <p:sp>
          <p:nvSpPr>
            <p:cNvPr id="15" name="object 15"/>
            <p:cNvSpPr/>
            <p:nvPr/>
          </p:nvSpPr>
          <p:spPr>
            <a:xfrm>
              <a:off x="700087" y="2100326"/>
              <a:ext cx="5952490" cy="635"/>
            </a:xfrm>
            <a:custGeom>
              <a:avLst/>
              <a:gdLst/>
              <a:ahLst/>
              <a:cxnLst/>
              <a:rect l="l" t="t" r="r" b="b"/>
              <a:pathLst>
                <a:path w="5952490" h="635">
                  <a:moveTo>
                    <a:pt x="0" y="635"/>
                  </a:moveTo>
                  <a:lnTo>
                    <a:pt x="59519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1314450"/>
              <a:ext cx="762000" cy="7524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9950" y="1504950"/>
              <a:ext cx="4114800" cy="14382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15226" y="2948051"/>
              <a:ext cx="4524375" cy="0"/>
            </a:xfrm>
            <a:custGeom>
              <a:avLst/>
              <a:gdLst/>
              <a:ahLst/>
              <a:cxnLst/>
              <a:rect l="l" t="t" r="r" b="b"/>
              <a:pathLst>
                <a:path w="4524375">
                  <a:moveTo>
                    <a:pt x="0" y="0"/>
                  </a:moveTo>
                  <a:lnTo>
                    <a:pt x="4524375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19950" y="1504950"/>
              <a:ext cx="4114800" cy="1371600"/>
            </a:xfrm>
            <a:custGeom>
              <a:avLst/>
              <a:gdLst/>
              <a:ahLst/>
              <a:cxnLst/>
              <a:rect l="l" t="t" r="r" b="b"/>
              <a:pathLst>
                <a:path w="4114800" h="1371600">
                  <a:moveTo>
                    <a:pt x="0" y="1371600"/>
                  </a:moveTo>
                  <a:lnTo>
                    <a:pt x="409575" y="1362075"/>
                  </a:lnTo>
                </a:path>
                <a:path w="4114800" h="1371600">
                  <a:moveTo>
                    <a:pt x="409575" y="1362075"/>
                  </a:moveTo>
                  <a:lnTo>
                    <a:pt x="819150" y="1219200"/>
                  </a:lnTo>
                </a:path>
                <a:path w="4114800" h="1371600">
                  <a:moveTo>
                    <a:pt x="819150" y="1219200"/>
                  </a:moveTo>
                  <a:lnTo>
                    <a:pt x="1228725" y="1104900"/>
                  </a:lnTo>
                </a:path>
                <a:path w="4114800" h="1371600">
                  <a:moveTo>
                    <a:pt x="1228725" y="1104900"/>
                  </a:moveTo>
                  <a:lnTo>
                    <a:pt x="1647825" y="857250"/>
                  </a:lnTo>
                </a:path>
                <a:path w="4114800" h="1371600">
                  <a:moveTo>
                    <a:pt x="1647825" y="857250"/>
                  </a:moveTo>
                  <a:lnTo>
                    <a:pt x="2057400" y="781050"/>
                  </a:lnTo>
                </a:path>
                <a:path w="4114800" h="1371600">
                  <a:moveTo>
                    <a:pt x="2057400" y="781050"/>
                  </a:moveTo>
                  <a:lnTo>
                    <a:pt x="2466975" y="695325"/>
                  </a:lnTo>
                </a:path>
                <a:path w="4114800" h="1371600">
                  <a:moveTo>
                    <a:pt x="2466975" y="695325"/>
                  </a:moveTo>
                  <a:lnTo>
                    <a:pt x="2876550" y="447675"/>
                  </a:lnTo>
                </a:path>
                <a:path w="4114800" h="1371600">
                  <a:moveTo>
                    <a:pt x="2876550" y="447675"/>
                  </a:moveTo>
                  <a:lnTo>
                    <a:pt x="3286125" y="285750"/>
                  </a:lnTo>
                </a:path>
                <a:path w="4114800" h="1371600">
                  <a:moveTo>
                    <a:pt x="3286125" y="285750"/>
                  </a:moveTo>
                  <a:lnTo>
                    <a:pt x="3705225" y="38100"/>
                  </a:lnTo>
                </a:path>
                <a:path w="4114800" h="1371600">
                  <a:moveTo>
                    <a:pt x="3705225" y="38100"/>
                  </a:moveTo>
                  <a:lnTo>
                    <a:pt x="4114800" y="0"/>
                  </a:lnTo>
                </a:path>
              </a:pathLst>
            </a:custGeom>
            <a:ln w="22225">
              <a:solidFill>
                <a:srgbClr val="FD7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976312" y="4157726"/>
            <a:ext cx="10553065" cy="0"/>
          </a:xfrm>
          <a:custGeom>
            <a:avLst/>
            <a:gdLst/>
            <a:ahLst/>
            <a:cxnLst/>
            <a:rect l="l" t="t" r="r" b="b"/>
            <a:pathLst>
              <a:path w="10553065">
                <a:moveTo>
                  <a:pt x="0" y="0"/>
                </a:moveTo>
                <a:lnTo>
                  <a:pt x="10552493" y="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08885" y="4460176"/>
            <a:ext cx="91566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YaHei"/>
                <a:cs typeface="Microsoft YaHei"/>
              </a:rPr>
              <a:t>传统</a:t>
            </a:r>
            <a:r>
              <a:rPr sz="2400" spc="-35" dirty="0">
                <a:latin typeface="Microsoft YaHei"/>
                <a:cs typeface="Microsoft YaHei"/>
              </a:rPr>
              <a:t>BI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7750" y="4410075"/>
            <a:ext cx="2520315" cy="533400"/>
            <a:chOff x="1047750" y="4410075"/>
            <a:chExt cx="2520315" cy="533400"/>
          </a:xfrm>
        </p:grpSpPr>
        <p:sp>
          <p:nvSpPr>
            <p:cNvPr id="23" name="object 23"/>
            <p:cNvSpPr/>
            <p:nvPr/>
          </p:nvSpPr>
          <p:spPr>
            <a:xfrm>
              <a:off x="1047750" y="44100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1836" y="146304"/>
                  </a:moveTo>
                  <a:lnTo>
                    <a:pt x="68392" y="155104"/>
                  </a:lnTo>
                  <a:lnTo>
                    <a:pt x="32834" y="179085"/>
                  </a:lnTo>
                  <a:lnTo>
                    <a:pt x="8817" y="214616"/>
                  </a:lnTo>
                  <a:lnTo>
                    <a:pt x="0" y="258063"/>
                  </a:lnTo>
                  <a:lnTo>
                    <a:pt x="3146" y="284382"/>
                  </a:lnTo>
                  <a:lnTo>
                    <a:pt x="12065" y="308403"/>
                  </a:lnTo>
                  <a:lnTo>
                    <a:pt x="25974" y="329447"/>
                  </a:lnTo>
                  <a:lnTo>
                    <a:pt x="44094" y="346837"/>
                  </a:lnTo>
                  <a:lnTo>
                    <a:pt x="25069" y="357798"/>
                  </a:lnTo>
                  <a:lnTo>
                    <a:pt x="11260" y="369665"/>
                  </a:lnTo>
                  <a:lnTo>
                    <a:pt x="2844" y="382341"/>
                  </a:lnTo>
                  <a:lnTo>
                    <a:pt x="0" y="395731"/>
                  </a:lnTo>
                  <a:lnTo>
                    <a:pt x="106" y="447675"/>
                  </a:lnTo>
                  <a:lnTo>
                    <a:pt x="40408" y="494547"/>
                  </a:lnTo>
                  <a:lnTo>
                    <a:pt x="84858" y="511365"/>
                  </a:lnTo>
                  <a:lnTo>
                    <a:pt x="140083" y="523526"/>
                  </a:lnTo>
                  <a:lnTo>
                    <a:pt x="202044" y="530911"/>
                  </a:lnTo>
                  <a:lnTo>
                    <a:pt x="266700" y="533400"/>
                  </a:lnTo>
                  <a:lnTo>
                    <a:pt x="331346" y="530911"/>
                  </a:lnTo>
                  <a:lnTo>
                    <a:pt x="393304" y="523526"/>
                  </a:lnTo>
                  <a:lnTo>
                    <a:pt x="426328" y="516255"/>
                  </a:lnTo>
                  <a:lnTo>
                    <a:pt x="258063" y="516255"/>
                  </a:lnTo>
                  <a:lnTo>
                    <a:pt x="244702" y="515899"/>
                  </a:lnTo>
                  <a:lnTo>
                    <a:pt x="231660" y="515413"/>
                  </a:lnTo>
                  <a:lnTo>
                    <a:pt x="206476" y="514095"/>
                  </a:lnTo>
                  <a:lnTo>
                    <a:pt x="206476" y="512699"/>
                  </a:lnTo>
                  <a:lnTo>
                    <a:pt x="189268" y="512699"/>
                  </a:lnTo>
                  <a:lnTo>
                    <a:pt x="175611" y="511214"/>
                  </a:lnTo>
                  <a:lnTo>
                    <a:pt x="162456" y="509587"/>
                  </a:lnTo>
                  <a:lnTo>
                    <a:pt x="149804" y="507769"/>
                  </a:lnTo>
                  <a:lnTo>
                    <a:pt x="137655" y="505713"/>
                  </a:lnTo>
                  <a:lnTo>
                    <a:pt x="137655" y="502538"/>
                  </a:lnTo>
                  <a:lnTo>
                    <a:pt x="120446" y="502538"/>
                  </a:lnTo>
                  <a:lnTo>
                    <a:pt x="106145" y="499203"/>
                  </a:lnTo>
                  <a:lnTo>
                    <a:pt x="92724" y="495665"/>
                  </a:lnTo>
                  <a:lnTo>
                    <a:pt x="80257" y="491912"/>
                  </a:lnTo>
                  <a:lnTo>
                    <a:pt x="68821" y="487933"/>
                  </a:lnTo>
                  <a:lnTo>
                    <a:pt x="68821" y="480694"/>
                  </a:lnTo>
                  <a:lnTo>
                    <a:pt x="51625" y="480694"/>
                  </a:lnTo>
                  <a:lnTo>
                    <a:pt x="19485" y="455870"/>
                  </a:lnTo>
                  <a:lnTo>
                    <a:pt x="17208" y="427736"/>
                  </a:lnTo>
                  <a:lnTo>
                    <a:pt x="48775" y="427736"/>
                  </a:lnTo>
                  <a:lnTo>
                    <a:pt x="25476" y="412119"/>
                  </a:lnTo>
                  <a:lnTo>
                    <a:pt x="17208" y="395731"/>
                  </a:lnTo>
                  <a:lnTo>
                    <a:pt x="18451" y="389630"/>
                  </a:lnTo>
                  <a:lnTo>
                    <a:pt x="22113" y="383397"/>
                  </a:lnTo>
                  <a:lnTo>
                    <a:pt x="28095" y="377140"/>
                  </a:lnTo>
                  <a:lnTo>
                    <a:pt x="36296" y="370967"/>
                  </a:lnTo>
                  <a:lnTo>
                    <a:pt x="58618" y="370967"/>
                  </a:lnTo>
                  <a:lnTo>
                    <a:pt x="51892" y="362457"/>
                  </a:lnTo>
                  <a:lnTo>
                    <a:pt x="55118" y="360806"/>
                  </a:lnTo>
                  <a:lnTo>
                    <a:pt x="58343" y="359410"/>
                  </a:lnTo>
                  <a:lnTo>
                    <a:pt x="61836" y="358139"/>
                  </a:lnTo>
                  <a:lnTo>
                    <a:pt x="160574" y="358139"/>
                  </a:lnTo>
                  <a:lnTo>
                    <a:pt x="170826" y="352679"/>
                  </a:lnTo>
                  <a:lnTo>
                    <a:pt x="111836" y="352679"/>
                  </a:lnTo>
                  <a:lnTo>
                    <a:pt x="75051" y="345235"/>
                  </a:lnTo>
                  <a:lnTo>
                    <a:pt x="44967" y="324945"/>
                  </a:lnTo>
                  <a:lnTo>
                    <a:pt x="24661" y="294868"/>
                  </a:lnTo>
                  <a:lnTo>
                    <a:pt x="17208" y="258063"/>
                  </a:lnTo>
                  <a:lnTo>
                    <a:pt x="24661" y="221313"/>
                  </a:lnTo>
                  <a:lnTo>
                    <a:pt x="44967" y="191230"/>
                  </a:lnTo>
                  <a:lnTo>
                    <a:pt x="75051" y="170910"/>
                  </a:lnTo>
                  <a:lnTo>
                    <a:pt x="111836" y="163449"/>
                  </a:lnTo>
                  <a:lnTo>
                    <a:pt x="170679" y="163449"/>
                  </a:lnTo>
                  <a:lnTo>
                    <a:pt x="154285" y="154749"/>
                  </a:lnTo>
                  <a:lnTo>
                    <a:pt x="133804" y="148490"/>
                  </a:lnTo>
                  <a:lnTo>
                    <a:pt x="111836" y="146304"/>
                  </a:lnTo>
                  <a:close/>
                </a:path>
                <a:path w="533400" h="533400">
                  <a:moveTo>
                    <a:pt x="326897" y="479679"/>
                  </a:moveTo>
                  <a:lnTo>
                    <a:pt x="206476" y="479679"/>
                  </a:lnTo>
                  <a:lnTo>
                    <a:pt x="219262" y="480498"/>
                  </a:lnTo>
                  <a:lnTo>
                    <a:pt x="232184" y="481091"/>
                  </a:lnTo>
                  <a:lnTo>
                    <a:pt x="258063" y="481838"/>
                  </a:lnTo>
                  <a:lnTo>
                    <a:pt x="258063" y="516255"/>
                  </a:lnTo>
                  <a:lnTo>
                    <a:pt x="275336" y="516255"/>
                  </a:lnTo>
                  <a:lnTo>
                    <a:pt x="275336" y="481838"/>
                  </a:lnTo>
                  <a:lnTo>
                    <a:pt x="286919" y="481518"/>
                  </a:lnTo>
                  <a:lnTo>
                    <a:pt x="298589" y="481091"/>
                  </a:lnTo>
                  <a:lnTo>
                    <a:pt x="299086" y="481091"/>
                  </a:lnTo>
                  <a:lnTo>
                    <a:pt x="311735" y="480498"/>
                  </a:lnTo>
                  <a:lnTo>
                    <a:pt x="312082" y="480498"/>
                  </a:lnTo>
                  <a:lnTo>
                    <a:pt x="326897" y="479679"/>
                  </a:lnTo>
                  <a:close/>
                </a:path>
                <a:path w="533400" h="533400">
                  <a:moveTo>
                    <a:pt x="344169" y="479679"/>
                  </a:moveTo>
                  <a:lnTo>
                    <a:pt x="326897" y="479679"/>
                  </a:lnTo>
                  <a:lnTo>
                    <a:pt x="326897" y="514095"/>
                  </a:lnTo>
                  <a:lnTo>
                    <a:pt x="301736" y="515413"/>
                  </a:lnTo>
                  <a:lnTo>
                    <a:pt x="288696" y="515899"/>
                  </a:lnTo>
                  <a:lnTo>
                    <a:pt x="275336" y="516255"/>
                  </a:lnTo>
                  <a:lnTo>
                    <a:pt x="426328" y="516255"/>
                  </a:lnTo>
                  <a:lnTo>
                    <a:pt x="442476" y="512699"/>
                  </a:lnTo>
                  <a:lnTo>
                    <a:pt x="344169" y="512699"/>
                  </a:lnTo>
                  <a:lnTo>
                    <a:pt x="344169" y="479679"/>
                  </a:lnTo>
                  <a:close/>
                </a:path>
                <a:path w="533400" h="533400">
                  <a:moveTo>
                    <a:pt x="394087" y="471550"/>
                  </a:moveTo>
                  <a:lnTo>
                    <a:pt x="137655" y="471550"/>
                  </a:lnTo>
                  <a:lnTo>
                    <a:pt x="150141" y="473459"/>
                  </a:lnTo>
                  <a:lnTo>
                    <a:pt x="162956" y="475202"/>
                  </a:lnTo>
                  <a:lnTo>
                    <a:pt x="176024" y="476801"/>
                  </a:lnTo>
                  <a:lnTo>
                    <a:pt x="189268" y="478281"/>
                  </a:lnTo>
                  <a:lnTo>
                    <a:pt x="189268" y="512699"/>
                  </a:lnTo>
                  <a:lnTo>
                    <a:pt x="206476" y="512699"/>
                  </a:lnTo>
                  <a:lnTo>
                    <a:pt x="206476" y="479679"/>
                  </a:lnTo>
                  <a:lnTo>
                    <a:pt x="344169" y="479679"/>
                  </a:lnTo>
                  <a:lnTo>
                    <a:pt x="344169" y="478027"/>
                  </a:lnTo>
                  <a:lnTo>
                    <a:pt x="357334" y="476654"/>
                  </a:lnTo>
                  <a:lnTo>
                    <a:pt x="370331" y="475043"/>
                  </a:lnTo>
                  <a:lnTo>
                    <a:pt x="383139" y="473241"/>
                  </a:lnTo>
                  <a:lnTo>
                    <a:pt x="394087" y="471550"/>
                  </a:lnTo>
                  <a:close/>
                </a:path>
                <a:path w="533400" h="533400">
                  <a:moveTo>
                    <a:pt x="413003" y="471297"/>
                  </a:moveTo>
                  <a:lnTo>
                    <a:pt x="395731" y="471297"/>
                  </a:lnTo>
                  <a:lnTo>
                    <a:pt x="395731" y="505713"/>
                  </a:lnTo>
                  <a:lnTo>
                    <a:pt x="383585" y="507769"/>
                  </a:lnTo>
                  <a:lnTo>
                    <a:pt x="370951" y="509587"/>
                  </a:lnTo>
                  <a:lnTo>
                    <a:pt x="357816" y="511214"/>
                  </a:lnTo>
                  <a:lnTo>
                    <a:pt x="344169" y="512699"/>
                  </a:lnTo>
                  <a:lnTo>
                    <a:pt x="442476" y="512699"/>
                  </a:lnTo>
                  <a:lnTo>
                    <a:pt x="448532" y="511365"/>
                  </a:lnTo>
                  <a:lnTo>
                    <a:pt x="471862" y="502538"/>
                  </a:lnTo>
                  <a:lnTo>
                    <a:pt x="413003" y="502538"/>
                  </a:lnTo>
                  <a:lnTo>
                    <a:pt x="413003" y="471297"/>
                  </a:lnTo>
                  <a:close/>
                </a:path>
                <a:path w="533400" h="533400">
                  <a:moveTo>
                    <a:pt x="142214" y="454660"/>
                  </a:moveTo>
                  <a:lnTo>
                    <a:pt x="68821" y="454660"/>
                  </a:lnTo>
                  <a:lnTo>
                    <a:pt x="80707" y="458517"/>
                  </a:lnTo>
                  <a:lnTo>
                    <a:pt x="93324" y="462089"/>
                  </a:lnTo>
                  <a:lnTo>
                    <a:pt x="106595" y="465375"/>
                  </a:lnTo>
                  <a:lnTo>
                    <a:pt x="120446" y="468375"/>
                  </a:lnTo>
                  <a:lnTo>
                    <a:pt x="120446" y="502538"/>
                  </a:lnTo>
                  <a:lnTo>
                    <a:pt x="137655" y="502538"/>
                  </a:lnTo>
                  <a:lnTo>
                    <a:pt x="137655" y="471550"/>
                  </a:lnTo>
                  <a:lnTo>
                    <a:pt x="394087" y="471550"/>
                  </a:lnTo>
                  <a:lnTo>
                    <a:pt x="395731" y="471297"/>
                  </a:lnTo>
                  <a:lnTo>
                    <a:pt x="413003" y="471297"/>
                  </a:lnTo>
                  <a:lnTo>
                    <a:pt x="413003" y="468122"/>
                  </a:lnTo>
                  <a:lnTo>
                    <a:pt x="426793" y="465121"/>
                  </a:lnTo>
                  <a:lnTo>
                    <a:pt x="429022" y="464566"/>
                  </a:lnTo>
                  <a:lnTo>
                    <a:pt x="266700" y="464566"/>
                  </a:lnTo>
                  <a:lnTo>
                    <a:pt x="200637" y="461867"/>
                  </a:lnTo>
                  <a:lnTo>
                    <a:pt x="198261" y="461867"/>
                  </a:lnTo>
                  <a:lnTo>
                    <a:pt x="142214" y="454660"/>
                  </a:lnTo>
                  <a:close/>
                </a:path>
                <a:path w="533400" h="533400">
                  <a:moveTo>
                    <a:pt x="481838" y="454448"/>
                  </a:moveTo>
                  <a:lnTo>
                    <a:pt x="464566" y="454448"/>
                  </a:lnTo>
                  <a:lnTo>
                    <a:pt x="464566" y="487933"/>
                  </a:lnTo>
                  <a:lnTo>
                    <a:pt x="453151" y="491912"/>
                  </a:lnTo>
                  <a:lnTo>
                    <a:pt x="440690" y="495665"/>
                  </a:lnTo>
                  <a:lnTo>
                    <a:pt x="427275" y="499203"/>
                  </a:lnTo>
                  <a:lnTo>
                    <a:pt x="413003" y="502538"/>
                  </a:lnTo>
                  <a:lnTo>
                    <a:pt x="471862" y="502538"/>
                  </a:lnTo>
                  <a:lnTo>
                    <a:pt x="492985" y="494547"/>
                  </a:lnTo>
                  <a:lnTo>
                    <a:pt x="512210" y="480694"/>
                  </a:lnTo>
                  <a:lnTo>
                    <a:pt x="481838" y="480694"/>
                  </a:lnTo>
                  <a:lnTo>
                    <a:pt x="481838" y="454448"/>
                  </a:lnTo>
                  <a:close/>
                </a:path>
                <a:path w="533400" h="533400">
                  <a:moveTo>
                    <a:pt x="48775" y="427736"/>
                  </a:moveTo>
                  <a:lnTo>
                    <a:pt x="17208" y="427736"/>
                  </a:lnTo>
                  <a:lnTo>
                    <a:pt x="24247" y="433216"/>
                  </a:lnTo>
                  <a:lnTo>
                    <a:pt x="32397" y="438435"/>
                  </a:lnTo>
                  <a:lnTo>
                    <a:pt x="41557" y="443416"/>
                  </a:lnTo>
                  <a:lnTo>
                    <a:pt x="51625" y="448182"/>
                  </a:lnTo>
                  <a:lnTo>
                    <a:pt x="51625" y="480694"/>
                  </a:lnTo>
                  <a:lnTo>
                    <a:pt x="68821" y="480694"/>
                  </a:lnTo>
                  <a:lnTo>
                    <a:pt x="68821" y="454660"/>
                  </a:lnTo>
                  <a:lnTo>
                    <a:pt x="142214" y="454660"/>
                  </a:lnTo>
                  <a:lnTo>
                    <a:pt x="136654" y="453945"/>
                  </a:lnTo>
                  <a:lnTo>
                    <a:pt x="86804" y="442341"/>
                  </a:lnTo>
                  <a:lnTo>
                    <a:pt x="49210" y="428027"/>
                  </a:lnTo>
                  <a:lnTo>
                    <a:pt x="48775" y="427736"/>
                  </a:lnTo>
                  <a:close/>
                </a:path>
                <a:path w="533400" h="533400">
                  <a:moveTo>
                    <a:pt x="533400" y="427481"/>
                  </a:moveTo>
                  <a:lnTo>
                    <a:pt x="516255" y="427481"/>
                  </a:lnTo>
                  <a:lnTo>
                    <a:pt x="516186" y="447675"/>
                  </a:lnTo>
                  <a:lnTo>
                    <a:pt x="513967" y="455870"/>
                  </a:lnTo>
                  <a:lnTo>
                    <a:pt x="507285" y="464343"/>
                  </a:lnTo>
                  <a:lnTo>
                    <a:pt x="496484" y="472674"/>
                  </a:lnTo>
                  <a:lnTo>
                    <a:pt x="481838" y="480694"/>
                  </a:lnTo>
                  <a:lnTo>
                    <a:pt x="512210" y="480694"/>
                  </a:lnTo>
                  <a:lnTo>
                    <a:pt x="522554" y="473241"/>
                  </a:lnTo>
                  <a:lnTo>
                    <a:pt x="522839" y="472674"/>
                  </a:lnTo>
                  <a:lnTo>
                    <a:pt x="533293" y="447675"/>
                  </a:lnTo>
                  <a:lnTo>
                    <a:pt x="533400" y="427481"/>
                  </a:lnTo>
                  <a:close/>
                </a:path>
                <a:path w="533400" h="533400">
                  <a:moveTo>
                    <a:pt x="206476" y="338455"/>
                  </a:moveTo>
                  <a:lnTo>
                    <a:pt x="189268" y="338455"/>
                  </a:lnTo>
                  <a:lnTo>
                    <a:pt x="189268" y="378587"/>
                  </a:lnTo>
                  <a:lnTo>
                    <a:pt x="516255" y="378587"/>
                  </a:lnTo>
                  <a:lnTo>
                    <a:pt x="516255" y="397891"/>
                  </a:lnTo>
                  <a:lnTo>
                    <a:pt x="515874" y="397891"/>
                  </a:lnTo>
                  <a:lnTo>
                    <a:pt x="505777" y="414030"/>
                  </a:lnTo>
                  <a:lnTo>
                    <a:pt x="481075" y="429514"/>
                  </a:lnTo>
                  <a:lnTo>
                    <a:pt x="443043" y="443416"/>
                  </a:lnTo>
                  <a:lnTo>
                    <a:pt x="442888" y="443416"/>
                  </a:lnTo>
                  <a:lnTo>
                    <a:pt x="393953" y="454448"/>
                  </a:lnTo>
                  <a:lnTo>
                    <a:pt x="334581" y="461867"/>
                  </a:lnTo>
                  <a:lnTo>
                    <a:pt x="266700" y="464566"/>
                  </a:lnTo>
                  <a:lnTo>
                    <a:pt x="429022" y="464566"/>
                  </a:lnTo>
                  <a:lnTo>
                    <a:pt x="439848" y="461867"/>
                  </a:lnTo>
                  <a:lnTo>
                    <a:pt x="452562" y="458263"/>
                  </a:lnTo>
                  <a:lnTo>
                    <a:pt x="464434" y="454448"/>
                  </a:lnTo>
                  <a:lnTo>
                    <a:pt x="481838" y="454448"/>
                  </a:lnTo>
                  <a:lnTo>
                    <a:pt x="481838" y="447675"/>
                  </a:lnTo>
                  <a:lnTo>
                    <a:pt x="491894" y="443055"/>
                  </a:lnTo>
                  <a:lnTo>
                    <a:pt x="501046" y="438150"/>
                  </a:lnTo>
                  <a:lnTo>
                    <a:pt x="509198" y="432958"/>
                  </a:lnTo>
                  <a:lnTo>
                    <a:pt x="516255" y="427481"/>
                  </a:lnTo>
                  <a:lnTo>
                    <a:pt x="533400" y="427481"/>
                  </a:lnTo>
                  <a:lnTo>
                    <a:pt x="533400" y="361314"/>
                  </a:lnTo>
                  <a:lnTo>
                    <a:pt x="206476" y="361314"/>
                  </a:lnTo>
                  <a:lnTo>
                    <a:pt x="206476" y="338455"/>
                  </a:lnTo>
                  <a:close/>
                </a:path>
                <a:path w="533400" h="533400">
                  <a:moveTo>
                    <a:pt x="58618" y="370967"/>
                  </a:moveTo>
                  <a:lnTo>
                    <a:pt x="36296" y="370967"/>
                  </a:lnTo>
                  <a:lnTo>
                    <a:pt x="55873" y="391996"/>
                  </a:lnTo>
                  <a:lnTo>
                    <a:pt x="93205" y="408532"/>
                  </a:lnTo>
                  <a:lnTo>
                    <a:pt x="143789" y="420472"/>
                  </a:lnTo>
                  <a:lnTo>
                    <a:pt x="203314" y="427736"/>
                  </a:lnTo>
                  <a:lnTo>
                    <a:pt x="203732" y="427736"/>
                  </a:lnTo>
                  <a:lnTo>
                    <a:pt x="266700" y="430149"/>
                  </a:lnTo>
                  <a:lnTo>
                    <a:pt x="322970" y="428188"/>
                  </a:lnTo>
                  <a:lnTo>
                    <a:pt x="378350" y="422203"/>
                  </a:lnTo>
                  <a:lnTo>
                    <a:pt x="423490" y="413004"/>
                  </a:lnTo>
                  <a:lnTo>
                    <a:pt x="266700" y="413004"/>
                  </a:lnTo>
                  <a:lnTo>
                    <a:pt x="194209" y="409807"/>
                  </a:lnTo>
                  <a:lnTo>
                    <a:pt x="135102" y="401393"/>
                  </a:lnTo>
                  <a:lnTo>
                    <a:pt x="91163" y="389630"/>
                  </a:lnTo>
                  <a:lnTo>
                    <a:pt x="90984" y="389630"/>
                  </a:lnTo>
                  <a:lnTo>
                    <a:pt x="62563" y="375956"/>
                  </a:lnTo>
                  <a:lnTo>
                    <a:pt x="58618" y="370967"/>
                  </a:lnTo>
                  <a:close/>
                </a:path>
                <a:path w="533400" h="533400">
                  <a:moveTo>
                    <a:pt x="492759" y="378587"/>
                  </a:moveTo>
                  <a:lnTo>
                    <a:pt x="466725" y="378587"/>
                  </a:lnTo>
                  <a:lnTo>
                    <a:pt x="436239" y="391787"/>
                  </a:lnTo>
                  <a:lnTo>
                    <a:pt x="391525" y="402748"/>
                  </a:lnTo>
                  <a:lnTo>
                    <a:pt x="334404" y="410233"/>
                  </a:lnTo>
                  <a:lnTo>
                    <a:pt x="266700" y="413004"/>
                  </a:lnTo>
                  <a:lnTo>
                    <a:pt x="423490" y="413004"/>
                  </a:lnTo>
                  <a:lnTo>
                    <a:pt x="427829" y="412119"/>
                  </a:lnTo>
                  <a:lnTo>
                    <a:pt x="427993" y="412119"/>
                  </a:lnTo>
                  <a:lnTo>
                    <a:pt x="467884" y="397555"/>
                  </a:lnTo>
                  <a:lnTo>
                    <a:pt x="492759" y="378587"/>
                  </a:lnTo>
                  <a:close/>
                </a:path>
                <a:path w="533400" h="533400">
                  <a:moveTo>
                    <a:pt x="160574" y="358139"/>
                  </a:moveTo>
                  <a:lnTo>
                    <a:pt x="61836" y="358139"/>
                  </a:lnTo>
                  <a:lnTo>
                    <a:pt x="73465" y="363146"/>
                  </a:lnTo>
                  <a:lnTo>
                    <a:pt x="85726" y="366855"/>
                  </a:lnTo>
                  <a:lnTo>
                    <a:pt x="98542" y="369159"/>
                  </a:lnTo>
                  <a:lnTo>
                    <a:pt x="111836" y="369950"/>
                  </a:lnTo>
                  <a:lnTo>
                    <a:pt x="133804" y="367762"/>
                  </a:lnTo>
                  <a:lnTo>
                    <a:pt x="154285" y="361489"/>
                  </a:lnTo>
                  <a:lnTo>
                    <a:pt x="160574" y="358139"/>
                  </a:lnTo>
                  <a:close/>
                </a:path>
                <a:path w="533400" h="533400">
                  <a:moveTo>
                    <a:pt x="533400" y="17144"/>
                  </a:moveTo>
                  <a:lnTo>
                    <a:pt x="516255" y="17144"/>
                  </a:lnTo>
                  <a:lnTo>
                    <a:pt x="516255" y="361314"/>
                  </a:lnTo>
                  <a:lnTo>
                    <a:pt x="533400" y="361314"/>
                  </a:lnTo>
                  <a:lnTo>
                    <a:pt x="533400" y="17144"/>
                  </a:lnTo>
                  <a:close/>
                </a:path>
                <a:path w="533400" h="533400">
                  <a:moveTo>
                    <a:pt x="170679" y="163449"/>
                  </a:moveTo>
                  <a:lnTo>
                    <a:pt x="111836" y="163449"/>
                  </a:lnTo>
                  <a:lnTo>
                    <a:pt x="148628" y="170910"/>
                  </a:lnTo>
                  <a:lnTo>
                    <a:pt x="178715" y="191230"/>
                  </a:lnTo>
                  <a:lnTo>
                    <a:pt x="199023" y="221313"/>
                  </a:lnTo>
                  <a:lnTo>
                    <a:pt x="206476" y="258063"/>
                  </a:lnTo>
                  <a:lnTo>
                    <a:pt x="199023" y="294868"/>
                  </a:lnTo>
                  <a:lnTo>
                    <a:pt x="178715" y="324945"/>
                  </a:lnTo>
                  <a:lnTo>
                    <a:pt x="148628" y="345235"/>
                  </a:lnTo>
                  <a:lnTo>
                    <a:pt x="111836" y="352679"/>
                  </a:lnTo>
                  <a:lnTo>
                    <a:pt x="170826" y="352679"/>
                  </a:lnTo>
                  <a:lnTo>
                    <a:pt x="172900" y="351573"/>
                  </a:lnTo>
                  <a:lnTo>
                    <a:pt x="189268" y="338455"/>
                  </a:lnTo>
                  <a:lnTo>
                    <a:pt x="206476" y="338455"/>
                  </a:lnTo>
                  <a:lnTo>
                    <a:pt x="206476" y="317500"/>
                  </a:lnTo>
                  <a:lnTo>
                    <a:pt x="213697" y="304051"/>
                  </a:lnTo>
                  <a:lnTo>
                    <a:pt x="219095" y="289544"/>
                  </a:lnTo>
                  <a:lnTo>
                    <a:pt x="222476" y="274155"/>
                  </a:lnTo>
                  <a:lnTo>
                    <a:pt x="223647" y="258063"/>
                  </a:lnTo>
                  <a:lnTo>
                    <a:pt x="222476" y="242044"/>
                  </a:lnTo>
                  <a:lnTo>
                    <a:pt x="219095" y="226679"/>
                  </a:lnTo>
                  <a:lnTo>
                    <a:pt x="213697" y="212147"/>
                  </a:lnTo>
                  <a:lnTo>
                    <a:pt x="206476" y="198627"/>
                  </a:lnTo>
                  <a:lnTo>
                    <a:pt x="206476" y="177673"/>
                  </a:lnTo>
                  <a:lnTo>
                    <a:pt x="189268" y="177673"/>
                  </a:lnTo>
                  <a:lnTo>
                    <a:pt x="172900" y="164627"/>
                  </a:lnTo>
                  <a:lnTo>
                    <a:pt x="170679" y="163449"/>
                  </a:lnTo>
                  <a:close/>
                </a:path>
                <a:path w="533400" h="533400">
                  <a:moveTo>
                    <a:pt x="533400" y="0"/>
                  </a:moveTo>
                  <a:lnTo>
                    <a:pt x="189268" y="0"/>
                  </a:lnTo>
                  <a:lnTo>
                    <a:pt x="189268" y="177673"/>
                  </a:lnTo>
                  <a:lnTo>
                    <a:pt x="206476" y="177673"/>
                  </a:lnTo>
                  <a:lnTo>
                    <a:pt x="206476" y="17144"/>
                  </a:lnTo>
                  <a:lnTo>
                    <a:pt x="533400" y="1714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925" y="4438650"/>
              <a:ext cx="247650" cy="1714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5875" y="4544060"/>
              <a:ext cx="266700" cy="2095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6350" y="4438650"/>
              <a:ext cx="9525" cy="190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6350" y="4476750"/>
              <a:ext cx="9525" cy="190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4425" y="4600575"/>
              <a:ext cx="95250" cy="1333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62275" y="4619625"/>
              <a:ext cx="605789" cy="7620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709612" y="5348351"/>
            <a:ext cx="10833735" cy="0"/>
          </a:xfrm>
          <a:custGeom>
            <a:avLst/>
            <a:gdLst/>
            <a:ahLst/>
            <a:cxnLst/>
            <a:rect l="l" t="t" r="r" b="b"/>
            <a:pathLst>
              <a:path w="10833735">
                <a:moveTo>
                  <a:pt x="0" y="0"/>
                </a:moveTo>
                <a:lnTo>
                  <a:pt x="10833671" y="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099310" y="5897879"/>
            <a:ext cx="697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YaHei"/>
                <a:cs typeface="Microsoft YaHei"/>
              </a:rPr>
              <a:t>AI</a:t>
            </a:r>
            <a:r>
              <a:rPr sz="2400" spc="-40" dirty="0">
                <a:latin typeface="Microsoft YaHei"/>
                <a:cs typeface="Microsoft YaHei"/>
              </a:rPr>
              <a:t> </a:t>
            </a:r>
            <a:r>
              <a:rPr sz="2400" spc="-25" dirty="0">
                <a:latin typeface="Microsoft YaHei"/>
                <a:cs typeface="Microsoft YaHei"/>
              </a:rPr>
              <a:t>BI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57275" y="5772150"/>
            <a:ext cx="2510790" cy="542925"/>
            <a:chOff x="1057275" y="5772150"/>
            <a:chExt cx="2510790" cy="542925"/>
          </a:xfrm>
        </p:grpSpPr>
        <p:sp>
          <p:nvSpPr>
            <p:cNvPr id="33" name="object 33"/>
            <p:cNvSpPr/>
            <p:nvPr/>
          </p:nvSpPr>
          <p:spPr>
            <a:xfrm>
              <a:off x="1057275" y="5772150"/>
              <a:ext cx="495300" cy="542925"/>
            </a:xfrm>
            <a:custGeom>
              <a:avLst/>
              <a:gdLst/>
              <a:ahLst/>
              <a:cxnLst/>
              <a:rect l="l" t="t" r="r" b="b"/>
              <a:pathLst>
                <a:path w="495300" h="542925">
                  <a:moveTo>
                    <a:pt x="491363" y="524637"/>
                  </a:moveTo>
                  <a:lnTo>
                    <a:pt x="3987" y="524637"/>
                  </a:lnTo>
                  <a:lnTo>
                    <a:pt x="0" y="528612"/>
                  </a:lnTo>
                  <a:lnTo>
                    <a:pt x="0" y="538949"/>
                  </a:lnTo>
                  <a:lnTo>
                    <a:pt x="4254" y="542925"/>
                  </a:lnTo>
                  <a:lnTo>
                    <a:pt x="491363" y="542925"/>
                  </a:lnTo>
                  <a:lnTo>
                    <a:pt x="495300" y="538949"/>
                  </a:lnTo>
                  <a:lnTo>
                    <a:pt x="495300" y="528612"/>
                  </a:lnTo>
                  <a:lnTo>
                    <a:pt x="491363" y="524637"/>
                  </a:lnTo>
                  <a:close/>
                </a:path>
                <a:path w="495300" h="542925">
                  <a:moveTo>
                    <a:pt x="209918" y="170726"/>
                  </a:moveTo>
                  <a:lnTo>
                    <a:pt x="28702" y="170726"/>
                  </a:lnTo>
                  <a:lnTo>
                    <a:pt x="24447" y="174967"/>
                  </a:lnTo>
                  <a:lnTo>
                    <a:pt x="24447" y="524637"/>
                  </a:lnTo>
                  <a:lnTo>
                    <a:pt x="42786" y="524637"/>
                  </a:lnTo>
                  <a:lnTo>
                    <a:pt x="42786" y="189014"/>
                  </a:lnTo>
                  <a:lnTo>
                    <a:pt x="250825" y="189014"/>
                  </a:lnTo>
                  <a:lnTo>
                    <a:pt x="250825" y="187159"/>
                  </a:lnTo>
                  <a:lnTo>
                    <a:pt x="246634" y="182918"/>
                  </a:lnTo>
                  <a:lnTo>
                    <a:pt x="213868" y="182918"/>
                  </a:lnTo>
                  <a:lnTo>
                    <a:pt x="213868" y="174967"/>
                  </a:lnTo>
                  <a:lnTo>
                    <a:pt x="209918" y="170726"/>
                  </a:lnTo>
                  <a:close/>
                </a:path>
                <a:path w="495300" h="542925">
                  <a:moveTo>
                    <a:pt x="148805" y="475856"/>
                  </a:moveTo>
                  <a:lnTo>
                    <a:pt x="89814" y="475856"/>
                  </a:lnTo>
                  <a:lnTo>
                    <a:pt x="85559" y="479831"/>
                  </a:lnTo>
                  <a:lnTo>
                    <a:pt x="85559" y="524637"/>
                  </a:lnTo>
                  <a:lnTo>
                    <a:pt x="103898" y="524637"/>
                  </a:lnTo>
                  <a:lnTo>
                    <a:pt x="103898" y="494144"/>
                  </a:lnTo>
                  <a:lnTo>
                    <a:pt x="152793" y="494144"/>
                  </a:lnTo>
                  <a:lnTo>
                    <a:pt x="152793" y="479831"/>
                  </a:lnTo>
                  <a:lnTo>
                    <a:pt x="148805" y="475856"/>
                  </a:lnTo>
                  <a:close/>
                </a:path>
                <a:path w="495300" h="542925">
                  <a:moveTo>
                    <a:pt x="124358" y="500240"/>
                  </a:moveTo>
                  <a:lnTo>
                    <a:pt x="114261" y="500240"/>
                  </a:lnTo>
                  <a:lnTo>
                    <a:pt x="110007" y="504215"/>
                  </a:lnTo>
                  <a:lnTo>
                    <a:pt x="110007" y="524637"/>
                  </a:lnTo>
                  <a:lnTo>
                    <a:pt x="128346" y="524637"/>
                  </a:lnTo>
                  <a:lnTo>
                    <a:pt x="128346" y="504215"/>
                  </a:lnTo>
                  <a:lnTo>
                    <a:pt x="124358" y="500240"/>
                  </a:lnTo>
                  <a:close/>
                </a:path>
                <a:path w="495300" h="542925">
                  <a:moveTo>
                    <a:pt x="152793" y="494144"/>
                  </a:moveTo>
                  <a:lnTo>
                    <a:pt x="134454" y="494144"/>
                  </a:lnTo>
                  <a:lnTo>
                    <a:pt x="134454" y="524637"/>
                  </a:lnTo>
                  <a:lnTo>
                    <a:pt x="152793" y="524637"/>
                  </a:lnTo>
                  <a:lnTo>
                    <a:pt x="152793" y="494144"/>
                  </a:lnTo>
                  <a:close/>
                </a:path>
                <a:path w="495300" h="542925">
                  <a:moveTo>
                    <a:pt x="250825" y="189014"/>
                  </a:moveTo>
                  <a:lnTo>
                    <a:pt x="195567" y="189014"/>
                  </a:lnTo>
                  <a:lnTo>
                    <a:pt x="195567" y="524637"/>
                  </a:lnTo>
                  <a:lnTo>
                    <a:pt x="213868" y="524637"/>
                  </a:lnTo>
                  <a:lnTo>
                    <a:pt x="213868" y="299034"/>
                  </a:lnTo>
                  <a:lnTo>
                    <a:pt x="385318" y="299034"/>
                  </a:lnTo>
                  <a:lnTo>
                    <a:pt x="385318" y="280746"/>
                  </a:lnTo>
                  <a:lnTo>
                    <a:pt x="213868" y="280746"/>
                  </a:lnTo>
                  <a:lnTo>
                    <a:pt x="213868" y="249986"/>
                  </a:lnTo>
                  <a:lnTo>
                    <a:pt x="246634" y="249986"/>
                  </a:lnTo>
                  <a:lnTo>
                    <a:pt x="250825" y="246011"/>
                  </a:lnTo>
                  <a:lnTo>
                    <a:pt x="250825" y="235940"/>
                  </a:lnTo>
                  <a:lnTo>
                    <a:pt x="246634" y="231698"/>
                  </a:lnTo>
                  <a:lnTo>
                    <a:pt x="213868" y="231698"/>
                  </a:lnTo>
                  <a:lnTo>
                    <a:pt x="213868" y="201206"/>
                  </a:lnTo>
                  <a:lnTo>
                    <a:pt x="246634" y="201206"/>
                  </a:lnTo>
                  <a:lnTo>
                    <a:pt x="250825" y="197231"/>
                  </a:lnTo>
                  <a:lnTo>
                    <a:pt x="250825" y="189014"/>
                  </a:lnTo>
                  <a:close/>
                </a:path>
                <a:path w="495300" h="542925">
                  <a:moveTo>
                    <a:pt x="385318" y="299034"/>
                  </a:moveTo>
                  <a:lnTo>
                    <a:pt x="366903" y="299034"/>
                  </a:lnTo>
                  <a:lnTo>
                    <a:pt x="366903" y="524637"/>
                  </a:lnTo>
                  <a:lnTo>
                    <a:pt x="385318" y="524637"/>
                  </a:lnTo>
                  <a:lnTo>
                    <a:pt x="385318" y="299034"/>
                  </a:lnTo>
                  <a:close/>
                </a:path>
                <a:path w="495300" h="542925">
                  <a:moveTo>
                    <a:pt x="470916" y="54876"/>
                  </a:moveTo>
                  <a:lnTo>
                    <a:pt x="452500" y="54876"/>
                  </a:lnTo>
                  <a:lnTo>
                    <a:pt x="452500" y="524637"/>
                  </a:lnTo>
                  <a:lnTo>
                    <a:pt x="470916" y="524637"/>
                  </a:lnTo>
                  <a:lnTo>
                    <a:pt x="470916" y="54876"/>
                  </a:lnTo>
                  <a:close/>
                </a:path>
                <a:path w="495300" h="542925">
                  <a:moveTo>
                    <a:pt x="299719" y="103657"/>
                  </a:moveTo>
                  <a:lnTo>
                    <a:pt x="281431" y="103657"/>
                  </a:lnTo>
                  <a:lnTo>
                    <a:pt x="281431" y="280746"/>
                  </a:lnTo>
                  <a:lnTo>
                    <a:pt x="299719" y="280746"/>
                  </a:lnTo>
                  <a:lnTo>
                    <a:pt x="299719" y="103657"/>
                  </a:lnTo>
                  <a:close/>
                </a:path>
                <a:path w="495300" h="542925">
                  <a:moveTo>
                    <a:pt x="344424" y="268287"/>
                  </a:moveTo>
                  <a:lnTo>
                    <a:pt x="334263" y="268287"/>
                  </a:lnTo>
                  <a:lnTo>
                    <a:pt x="330327" y="272516"/>
                  </a:lnTo>
                  <a:lnTo>
                    <a:pt x="330327" y="280746"/>
                  </a:lnTo>
                  <a:lnTo>
                    <a:pt x="348615" y="280746"/>
                  </a:lnTo>
                  <a:lnTo>
                    <a:pt x="348615" y="272516"/>
                  </a:lnTo>
                  <a:lnTo>
                    <a:pt x="344424" y="268287"/>
                  </a:lnTo>
                  <a:close/>
                </a:path>
                <a:path w="495300" h="542925">
                  <a:moveTo>
                    <a:pt x="381000" y="268287"/>
                  </a:moveTo>
                  <a:lnTo>
                    <a:pt x="370966" y="268287"/>
                  </a:lnTo>
                  <a:lnTo>
                    <a:pt x="366903" y="272516"/>
                  </a:lnTo>
                  <a:lnTo>
                    <a:pt x="366903" y="280746"/>
                  </a:lnTo>
                  <a:lnTo>
                    <a:pt x="385318" y="280746"/>
                  </a:lnTo>
                  <a:lnTo>
                    <a:pt x="385318" y="272516"/>
                  </a:lnTo>
                  <a:lnTo>
                    <a:pt x="381000" y="268287"/>
                  </a:lnTo>
                  <a:close/>
                </a:path>
                <a:path w="495300" h="542925">
                  <a:moveTo>
                    <a:pt x="466597" y="36588"/>
                  </a:moveTo>
                  <a:lnTo>
                    <a:pt x="285369" y="36588"/>
                  </a:lnTo>
                  <a:lnTo>
                    <a:pt x="281431" y="40830"/>
                  </a:lnTo>
                  <a:lnTo>
                    <a:pt x="281431" y="85356"/>
                  </a:lnTo>
                  <a:lnTo>
                    <a:pt x="114261" y="85356"/>
                  </a:lnTo>
                  <a:lnTo>
                    <a:pt x="110007" y="89598"/>
                  </a:lnTo>
                  <a:lnTo>
                    <a:pt x="110007" y="170726"/>
                  </a:lnTo>
                  <a:lnTo>
                    <a:pt x="128346" y="170726"/>
                  </a:lnTo>
                  <a:lnTo>
                    <a:pt x="128346" y="103657"/>
                  </a:lnTo>
                  <a:lnTo>
                    <a:pt x="299719" y="103657"/>
                  </a:lnTo>
                  <a:lnTo>
                    <a:pt x="299719" y="54876"/>
                  </a:lnTo>
                  <a:lnTo>
                    <a:pt x="470916" y="54876"/>
                  </a:lnTo>
                  <a:lnTo>
                    <a:pt x="470916" y="40830"/>
                  </a:lnTo>
                  <a:lnTo>
                    <a:pt x="466597" y="36588"/>
                  </a:lnTo>
                  <a:close/>
                </a:path>
                <a:path w="495300" h="542925">
                  <a:moveTo>
                    <a:pt x="258825" y="36588"/>
                  </a:moveTo>
                  <a:lnTo>
                    <a:pt x="150926" y="36588"/>
                  </a:lnTo>
                  <a:lnTo>
                    <a:pt x="146672" y="40830"/>
                  </a:lnTo>
                  <a:lnTo>
                    <a:pt x="146672" y="85356"/>
                  </a:lnTo>
                  <a:lnTo>
                    <a:pt x="165011" y="85356"/>
                  </a:lnTo>
                  <a:lnTo>
                    <a:pt x="165011" y="54876"/>
                  </a:lnTo>
                  <a:lnTo>
                    <a:pt x="263016" y="54876"/>
                  </a:lnTo>
                  <a:lnTo>
                    <a:pt x="263016" y="40830"/>
                  </a:lnTo>
                  <a:lnTo>
                    <a:pt x="258825" y="36588"/>
                  </a:lnTo>
                  <a:close/>
                </a:path>
                <a:path w="495300" h="542925">
                  <a:moveTo>
                    <a:pt x="263016" y="54876"/>
                  </a:moveTo>
                  <a:lnTo>
                    <a:pt x="244475" y="54876"/>
                  </a:lnTo>
                  <a:lnTo>
                    <a:pt x="244475" y="85356"/>
                  </a:lnTo>
                  <a:lnTo>
                    <a:pt x="263016" y="85356"/>
                  </a:lnTo>
                  <a:lnTo>
                    <a:pt x="263016" y="54876"/>
                  </a:lnTo>
                  <a:close/>
                </a:path>
                <a:path w="495300" h="542925">
                  <a:moveTo>
                    <a:pt x="209918" y="0"/>
                  </a:moveTo>
                  <a:lnTo>
                    <a:pt x="199821" y="0"/>
                  </a:lnTo>
                  <a:lnTo>
                    <a:pt x="195567" y="3975"/>
                  </a:lnTo>
                  <a:lnTo>
                    <a:pt x="195567" y="36588"/>
                  </a:lnTo>
                  <a:lnTo>
                    <a:pt x="213868" y="36588"/>
                  </a:lnTo>
                  <a:lnTo>
                    <a:pt x="213868" y="3975"/>
                  </a:lnTo>
                  <a:lnTo>
                    <a:pt x="209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5400" y="6096000"/>
              <a:ext cx="19050" cy="1809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3500" y="6096000"/>
              <a:ext cx="19050" cy="1809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1600" y="6096000"/>
              <a:ext cx="19050" cy="1809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1125" y="5857875"/>
              <a:ext cx="19050" cy="285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19225" y="5857875"/>
              <a:ext cx="19050" cy="285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57325" y="5857875"/>
              <a:ext cx="19050" cy="285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1125" y="5924550"/>
              <a:ext cx="19050" cy="285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9225" y="5924550"/>
              <a:ext cx="19050" cy="285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57325" y="5924550"/>
              <a:ext cx="19050" cy="285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81125" y="5981700"/>
              <a:ext cx="19050" cy="285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9225" y="5981700"/>
              <a:ext cx="19050" cy="285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57325" y="5981700"/>
              <a:ext cx="19050" cy="285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3950" y="6010275"/>
              <a:ext cx="95250" cy="857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0150" y="6067425"/>
              <a:ext cx="19050" cy="285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23950" y="6124575"/>
              <a:ext cx="19050" cy="381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62050" y="6124575"/>
              <a:ext cx="19050" cy="381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00150" y="6124575"/>
              <a:ext cx="19050" cy="381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3950" y="6191250"/>
              <a:ext cx="19050" cy="2857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2050" y="6191250"/>
              <a:ext cx="19050" cy="2857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00150" y="6191250"/>
              <a:ext cx="19050" cy="2857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57325" y="6038850"/>
              <a:ext cx="19050" cy="381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57325" y="6105525"/>
              <a:ext cx="19050" cy="285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57325" y="6162675"/>
              <a:ext cx="19050" cy="2857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57325" y="6229350"/>
              <a:ext cx="19050" cy="2857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09675" y="5905500"/>
              <a:ext cx="95250" cy="1905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62275" y="6019800"/>
              <a:ext cx="605789" cy="7620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5104384" y="3726878"/>
            <a:ext cx="1398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YaHei"/>
                <a:cs typeface="Microsoft YaHei"/>
              </a:rPr>
              <a:t>数据开发人天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24116" y="3734117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YaHei"/>
                <a:cs typeface="Microsoft YaHei"/>
              </a:rPr>
              <a:t>页面开发人天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679190" y="3726878"/>
            <a:ext cx="939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YaHei"/>
                <a:cs typeface="Microsoft YaHei"/>
              </a:rPr>
              <a:t>报表数量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297289" y="3734117"/>
            <a:ext cx="939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YaHei"/>
                <a:cs typeface="Microsoft YaHei"/>
              </a:rPr>
              <a:t>测试人天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764519" y="3734117"/>
            <a:ext cx="711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04040"/>
                </a:solidFill>
                <a:latin typeface="Microsoft YaHei"/>
                <a:cs typeface="Microsoft YaHei"/>
              </a:rPr>
              <a:t>总人天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27526" y="5872479"/>
            <a:ext cx="5689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100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827526" y="4535106"/>
            <a:ext cx="568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100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62295" y="5872479"/>
            <a:ext cx="3879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40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72378" y="4535106"/>
            <a:ext cx="568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200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407275" y="5872479"/>
            <a:ext cx="3879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10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17358" y="4535106"/>
            <a:ext cx="569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200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242043" y="5872479"/>
            <a:ext cx="205104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solidFill>
                  <a:srgbClr val="1C4AE6"/>
                </a:solidFill>
                <a:latin typeface="Microsoft YaHei"/>
                <a:cs typeface="Microsoft YaHei"/>
              </a:rPr>
              <a:t>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062466" y="4535106"/>
            <a:ext cx="569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100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897234" y="5872479"/>
            <a:ext cx="3886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50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807700" y="4535106"/>
            <a:ext cx="568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1C4AE6"/>
                </a:solidFill>
                <a:latin typeface="Microsoft YaHei"/>
                <a:cs typeface="Microsoft YaHei"/>
              </a:rPr>
              <a:t>500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72630" y="2745994"/>
            <a:ext cx="1809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5" dirty="0">
                <a:solidFill>
                  <a:srgbClr val="FFFFFF"/>
                </a:solidFill>
                <a:latin typeface="Microsoft YaHei"/>
                <a:cs typeface="Microsoft YaHei"/>
              </a:rPr>
              <a:t>950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433056" y="2716529"/>
            <a:ext cx="2286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Microsoft YaHei"/>
                <a:cs typeface="Microsoft YaHei"/>
              </a:rPr>
              <a:t>1000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844790" y="2605023"/>
            <a:ext cx="2286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Microsoft YaHei"/>
                <a:cs typeface="Microsoft YaHei"/>
              </a:rPr>
              <a:t>2650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88706" y="2478023"/>
            <a:ext cx="2286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Microsoft YaHei"/>
                <a:cs typeface="Microsoft YaHei"/>
              </a:rPr>
              <a:t>4082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638540" y="2062098"/>
            <a:ext cx="105600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25"/>
              </a:spcBef>
              <a:tabLst>
                <a:tab pos="814705" algn="l"/>
              </a:tabLst>
            </a:pPr>
            <a:r>
              <a:rPr sz="975" spc="-30" baseline="-51282" dirty="0">
                <a:solidFill>
                  <a:srgbClr val="FFFFFF"/>
                </a:solidFill>
                <a:latin typeface="Microsoft YaHei"/>
                <a:cs typeface="Microsoft YaHei"/>
              </a:rPr>
              <a:t>8000</a:t>
            </a:r>
            <a:r>
              <a:rPr sz="975" baseline="-51282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650" spc="-20" dirty="0">
                <a:solidFill>
                  <a:srgbClr val="FFFFFF"/>
                </a:solidFill>
                <a:latin typeface="Microsoft YaHei"/>
                <a:cs typeface="Microsoft YaHei"/>
              </a:rPr>
              <a:t>9000</a:t>
            </a:r>
            <a:endParaRPr sz="650">
              <a:latin typeface="Microsoft YaHei"/>
              <a:cs typeface="Microsoft YaHei"/>
            </a:endParaRPr>
          </a:p>
          <a:p>
            <a:pPr marL="25400">
              <a:lnSpc>
                <a:spcPct val="100000"/>
              </a:lnSpc>
              <a:spcBef>
                <a:spcPts val="720"/>
              </a:spcBef>
            </a:pPr>
            <a:r>
              <a:rPr sz="650" spc="-20" dirty="0">
                <a:solidFill>
                  <a:srgbClr val="FFFFFF"/>
                </a:solidFill>
                <a:latin typeface="Microsoft YaHei"/>
                <a:cs typeface="Microsoft YaHei"/>
              </a:rPr>
              <a:t>7000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818369" y="1821497"/>
            <a:ext cx="2857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Microsoft YaHei"/>
                <a:cs typeface="Microsoft YaHei"/>
              </a:rPr>
              <a:t>12000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246994" y="1630934"/>
            <a:ext cx="285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Microsoft YaHei"/>
                <a:cs typeface="Microsoft YaHei"/>
              </a:rPr>
              <a:t>14000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590910" y="1424559"/>
            <a:ext cx="28575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Microsoft YaHei"/>
                <a:cs typeface="Microsoft YaHei"/>
              </a:rPr>
              <a:t>17000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174730" y="1390967"/>
            <a:ext cx="28575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Microsoft YaHei"/>
                <a:cs typeface="Microsoft YaHei"/>
              </a:rPr>
              <a:t>17400</a:t>
            </a:r>
            <a:endParaRPr sz="650">
              <a:latin typeface="Microsoft YaHei"/>
              <a:cs typeface="Microsoft YaHe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092315" y="3007931"/>
            <a:ext cx="43853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4180" algn="l"/>
                <a:tab pos="835660" algn="l"/>
                <a:tab pos="1247140" algn="l"/>
                <a:tab pos="1659255" algn="l"/>
                <a:tab pos="2070735" algn="l"/>
                <a:tab pos="2482850" algn="l"/>
                <a:tab pos="2894330" algn="l"/>
                <a:tab pos="3305810" algn="l"/>
                <a:tab pos="3717925" algn="l"/>
                <a:tab pos="4129404" algn="l"/>
              </a:tabLst>
            </a:pP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2009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2010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2011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2012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2013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2014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2015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2016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2017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2018</a:t>
            </a:r>
            <a:r>
              <a:rPr sz="800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800" spc="-20" dirty="0">
                <a:solidFill>
                  <a:srgbClr val="FFFFFF"/>
                </a:solidFill>
                <a:latin typeface="Microsoft YaHei"/>
                <a:cs typeface="Microsoft YaHei"/>
              </a:rPr>
              <a:t>2019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160270" y="2364739"/>
            <a:ext cx="2394585" cy="7715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50"/>
              </a:lnSpc>
              <a:spcBef>
                <a:spcPts val="130"/>
              </a:spcBef>
            </a:pPr>
            <a:r>
              <a:rPr sz="3350" b="1" dirty="0">
                <a:solidFill>
                  <a:srgbClr val="FD7B77"/>
                </a:solidFill>
                <a:latin typeface="Microsoft YaHei"/>
                <a:cs typeface="Microsoft YaHei"/>
              </a:rPr>
              <a:t>450</a:t>
            </a:r>
            <a:r>
              <a:rPr sz="1800" spc="-30" dirty="0">
                <a:solidFill>
                  <a:srgbClr val="FFFFFF"/>
                </a:solidFill>
                <a:latin typeface="Microsoft YaHei"/>
                <a:cs typeface="Microsoft YaHei"/>
              </a:rPr>
              <a:t>人天</a:t>
            </a:r>
            <a:endParaRPr sz="1800">
              <a:latin typeface="Microsoft YaHei"/>
              <a:cs typeface="Microsoft YaHei"/>
            </a:endParaRPr>
          </a:p>
          <a:p>
            <a:pPr marL="45720">
              <a:lnSpc>
                <a:spcPts val="1989"/>
              </a:lnSpc>
            </a:pP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AI</a:t>
            </a:r>
            <a:r>
              <a:rPr sz="1800" spc="-10" dirty="0">
                <a:solidFill>
                  <a:srgbClr val="FFFFFF"/>
                </a:solidFill>
                <a:latin typeface="Microsoft YaHei"/>
                <a:cs typeface="Microsoft YaHei"/>
              </a:rPr>
              <a:t> 加持下BI开发能节省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0" y="304800"/>
            <a:ext cx="5612130" cy="2859405"/>
            <a:chOff x="0" y="304800"/>
            <a:chExt cx="5612130" cy="2859405"/>
          </a:xfrm>
        </p:grpSpPr>
        <p:sp>
          <p:nvSpPr>
            <p:cNvPr id="87" name="object 87"/>
            <p:cNvSpPr/>
            <p:nvPr/>
          </p:nvSpPr>
          <p:spPr>
            <a:xfrm>
              <a:off x="1328800" y="2424176"/>
              <a:ext cx="714375" cy="723900"/>
            </a:xfrm>
            <a:custGeom>
              <a:avLst/>
              <a:gdLst/>
              <a:ahLst/>
              <a:cxnLst/>
              <a:rect l="l" t="t" r="r" b="b"/>
              <a:pathLst>
                <a:path w="714375" h="723900">
                  <a:moveTo>
                    <a:pt x="0" y="361950"/>
                  </a:moveTo>
                  <a:lnTo>
                    <a:pt x="3260" y="312809"/>
                  </a:lnTo>
                  <a:lnTo>
                    <a:pt x="12757" y="265685"/>
                  </a:lnTo>
                  <a:lnTo>
                    <a:pt x="28065" y="221009"/>
                  </a:lnTo>
                  <a:lnTo>
                    <a:pt x="48758" y="179211"/>
                  </a:lnTo>
                  <a:lnTo>
                    <a:pt x="74412" y="140719"/>
                  </a:lnTo>
                  <a:lnTo>
                    <a:pt x="104600" y="105965"/>
                  </a:lnTo>
                  <a:lnTo>
                    <a:pt x="138897" y="75378"/>
                  </a:lnTo>
                  <a:lnTo>
                    <a:pt x="176878" y="49388"/>
                  </a:lnTo>
                  <a:lnTo>
                    <a:pt x="218116" y="28426"/>
                  </a:lnTo>
                  <a:lnTo>
                    <a:pt x="262187" y="12920"/>
                  </a:lnTo>
                  <a:lnTo>
                    <a:pt x="308665" y="3301"/>
                  </a:lnTo>
                  <a:lnTo>
                    <a:pt x="357124" y="0"/>
                  </a:lnTo>
                  <a:lnTo>
                    <a:pt x="405585" y="3301"/>
                  </a:lnTo>
                  <a:lnTo>
                    <a:pt x="452070" y="12920"/>
                  </a:lnTo>
                  <a:lnTo>
                    <a:pt x="496151" y="28426"/>
                  </a:lnTo>
                  <a:lnTo>
                    <a:pt x="537402" y="49388"/>
                  </a:lnTo>
                  <a:lnTo>
                    <a:pt x="575398" y="75378"/>
                  </a:lnTo>
                  <a:lnTo>
                    <a:pt x="609711" y="105965"/>
                  </a:lnTo>
                  <a:lnTo>
                    <a:pt x="639915" y="140719"/>
                  </a:lnTo>
                  <a:lnTo>
                    <a:pt x="665583" y="179211"/>
                  </a:lnTo>
                  <a:lnTo>
                    <a:pt x="686290" y="221009"/>
                  </a:lnTo>
                  <a:lnTo>
                    <a:pt x="701608" y="265685"/>
                  </a:lnTo>
                  <a:lnTo>
                    <a:pt x="711112" y="312809"/>
                  </a:lnTo>
                  <a:lnTo>
                    <a:pt x="714375" y="361950"/>
                  </a:lnTo>
                  <a:lnTo>
                    <a:pt x="711112" y="411064"/>
                  </a:lnTo>
                  <a:lnTo>
                    <a:pt x="701608" y="458170"/>
                  </a:lnTo>
                  <a:lnTo>
                    <a:pt x="686290" y="502836"/>
                  </a:lnTo>
                  <a:lnTo>
                    <a:pt x="665583" y="544632"/>
                  </a:lnTo>
                  <a:lnTo>
                    <a:pt x="639915" y="583126"/>
                  </a:lnTo>
                  <a:lnTo>
                    <a:pt x="609711" y="617886"/>
                  </a:lnTo>
                  <a:lnTo>
                    <a:pt x="575398" y="648482"/>
                  </a:lnTo>
                  <a:lnTo>
                    <a:pt x="537402" y="674482"/>
                  </a:lnTo>
                  <a:lnTo>
                    <a:pt x="496151" y="695455"/>
                  </a:lnTo>
                  <a:lnTo>
                    <a:pt x="452070" y="710970"/>
                  </a:lnTo>
                  <a:lnTo>
                    <a:pt x="405585" y="720595"/>
                  </a:lnTo>
                  <a:lnTo>
                    <a:pt x="357124" y="723900"/>
                  </a:lnTo>
                  <a:lnTo>
                    <a:pt x="308665" y="720595"/>
                  </a:lnTo>
                  <a:lnTo>
                    <a:pt x="262187" y="710970"/>
                  </a:lnTo>
                  <a:lnTo>
                    <a:pt x="218116" y="695455"/>
                  </a:lnTo>
                  <a:lnTo>
                    <a:pt x="176878" y="674482"/>
                  </a:lnTo>
                  <a:lnTo>
                    <a:pt x="138897" y="648482"/>
                  </a:lnTo>
                  <a:lnTo>
                    <a:pt x="104600" y="617886"/>
                  </a:lnTo>
                  <a:lnTo>
                    <a:pt x="74412" y="583126"/>
                  </a:lnTo>
                  <a:lnTo>
                    <a:pt x="48758" y="544632"/>
                  </a:lnTo>
                  <a:lnTo>
                    <a:pt x="28065" y="502836"/>
                  </a:lnTo>
                  <a:lnTo>
                    <a:pt x="12757" y="458170"/>
                  </a:lnTo>
                  <a:lnTo>
                    <a:pt x="3260" y="411064"/>
                  </a:lnTo>
                  <a:lnTo>
                    <a:pt x="0" y="361950"/>
                  </a:lnTo>
                  <a:close/>
                </a:path>
              </a:pathLst>
            </a:custGeom>
            <a:ln w="31750">
              <a:solidFill>
                <a:srgbClr val="E3F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74843" y="2370835"/>
              <a:ext cx="638157" cy="67640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357375" y="246227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549" y="0"/>
                  </a:moveTo>
                  <a:lnTo>
                    <a:pt x="279991" y="3561"/>
                  </a:lnTo>
                  <a:lnTo>
                    <a:pt x="233648" y="13907"/>
                  </a:lnTo>
                  <a:lnTo>
                    <a:pt x="190027" y="30531"/>
                  </a:lnTo>
                  <a:lnTo>
                    <a:pt x="149637" y="52923"/>
                  </a:lnTo>
                  <a:lnTo>
                    <a:pt x="112984" y="80577"/>
                  </a:lnTo>
                  <a:lnTo>
                    <a:pt x="80577" y="112984"/>
                  </a:lnTo>
                  <a:lnTo>
                    <a:pt x="52923" y="149637"/>
                  </a:lnTo>
                  <a:lnTo>
                    <a:pt x="30531" y="190027"/>
                  </a:lnTo>
                  <a:lnTo>
                    <a:pt x="13907" y="233648"/>
                  </a:lnTo>
                  <a:lnTo>
                    <a:pt x="3561" y="279991"/>
                  </a:lnTo>
                  <a:lnTo>
                    <a:pt x="0" y="328549"/>
                  </a:lnTo>
                  <a:lnTo>
                    <a:pt x="3506" y="376361"/>
                  </a:lnTo>
                  <a:lnTo>
                    <a:pt x="13907" y="423460"/>
                  </a:lnTo>
                  <a:lnTo>
                    <a:pt x="30531" y="467093"/>
                  </a:lnTo>
                  <a:lnTo>
                    <a:pt x="52923" y="507498"/>
                  </a:lnTo>
                  <a:lnTo>
                    <a:pt x="80577" y="544168"/>
                  </a:lnTo>
                  <a:lnTo>
                    <a:pt x="112984" y="576592"/>
                  </a:lnTo>
                  <a:lnTo>
                    <a:pt x="149637" y="604263"/>
                  </a:lnTo>
                  <a:lnTo>
                    <a:pt x="190027" y="626670"/>
                  </a:lnTo>
                  <a:lnTo>
                    <a:pt x="233648" y="643305"/>
                  </a:lnTo>
                  <a:lnTo>
                    <a:pt x="279991" y="653660"/>
                  </a:lnTo>
                  <a:lnTo>
                    <a:pt x="328549" y="657225"/>
                  </a:lnTo>
                  <a:lnTo>
                    <a:pt x="377109" y="653660"/>
                  </a:lnTo>
                  <a:lnTo>
                    <a:pt x="383893" y="652145"/>
                  </a:lnTo>
                  <a:lnTo>
                    <a:pt x="328549" y="652145"/>
                  </a:lnTo>
                  <a:lnTo>
                    <a:pt x="280739" y="648635"/>
                  </a:lnTo>
                  <a:lnTo>
                    <a:pt x="235111" y="638441"/>
                  </a:lnTo>
                  <a:lnTo>
                    <a:pt x="192164" y="622064"/>
                  </a:lnTo>
                  <a:lnTo>
                    <a:pt x="152398" y="600004"/>
                  </a:lnTo>
                  <a:lnTo>
                    <a:pt x="116312" y="572762"/>
                  </a:lnTo>
                  <a:lnTo>
                    <a:pt x="84407" y="540840"/>
                  </a:lnTo>
                  <a:lnTo>
                    <a:pt x="57182" y="504737"/>
                  </a:lnTo>
                  <a:lnTo>
                    <a:pt x="35137" y="464956"/>
                  </a:lnTo>
                  <a:lnTo>
                    <a:pt x="18771" y="421997"/>
                  </a:lnTo>
                  <a:lnTo>
                    <a:pt x="8586" y="376361"/>
                  </a:lnTo>
                  <a:lnTo>
                    <a:pt x="5080" y="328549"/>
                  </a:lnTo>
                  <a:lnTo>
                    <a:pt x="8586" y="280739"/>
                  </a:lnTo>
                  <a:lnTo>
                    <a:pt x="18771" y="235111"/>
                  </a:lnTo>
                  <a:lnTo>
                    <a:pt x="35137" y="192164"/>
                  </a:lnTo>
                  <a:lnTo>
                    <a:pt x="57182" y="152398"/>
                  </a:lnTo>
                  <a:lnTo>
                    <a:pt x="84407" y="116312"/>
                  </a:lnTo>
                  <a:lnTo>
                    <a:pt x="116312" y="84407"/>
                  </a:lnTo>
                  <a:lnTo>
                    <a:pt x="152398" y="57182"/>
                  </a:lnTo>
                  <a:lnTo>
                    <a:pt x="192164" y="35137"/>
                  </a:lnTo>
                  <a:lnTo>
                    <a:pt x="235111" y="18771"/>
                  </a:lnTo>
                  <a:lnTo>
                    <a:pt x="280739" y="8586"/>
                  </a:lnTo>
                  <a:lnTo>
                    <a:pt x="328549" y="5079"/>
                  </a:lnTo>
                  <a:lnTo>
                    <a:pt x="383911" y="5079"/>
                  </a:lnTo>
                  <a:lnTo>
                    <a:pt x="377109" y="3561"/>
                  </a:lnTo>
                  <a:lnTo>
                    <a:pt x="328549" y="0"/>
                  </a:lnTo>
                  <a:close/>
                </a:path>
                <a:path w="657225" h="657225">
                  <a:moveTo>
                    <a:pt x="383911" y="5079"/>
                  </a:moveTo>
                  <a:lnTo>
                    <a:pt x="328549" y="5079"/>
                  </a:lnTo>
                  <a:lnTo>
                    <a:pt x="376361" y="8586"/>
                  </a:lnTo>
                  <a:lnTo>
                    <a:pt x="421997" y="18771"/>
                  </a:lnTo>
                  <a:lnTo>
                    <a:pt x="464956" y="35137"/>
                  </a:lnTo>
                  <a:lnTo>
                    <a:pt x="504737" y="57182"/>
                  </a:lnTo>
                  <a:lnTo>
                    <a:pt x="540840" y="84407"/>
                  </a:lnTo>
                  <a:lnTo>
                    <a:pt x="572762" y="116312"/>
                  </a:lnTo>
                  <a:lnTo>
                    <a:pt x="600004" y="152398"/>
                  </a:lnTo>
                  <a:lnTo>
                    <a:pt x="622064" y="192164"/>
                  </a:lnTo>
                  <a:lnTo>
                    <a:pt x="638441" y="235111"/>
                  </a:lnTo>
                  <a:lnTo>
                    <a:pt x="648635" y="280739"/>
                  </a:lnTo>
                  <a:lnTo>
                    <a:pt x="652144" y="328549"/>
                  </a:lnTo>
                  <a:lnTo>
                    <a:pt x="648635" y="376361"/>
                  </a:lnTo>
                  <a:lnTo>
                    <a:pt x="638441" y="421997"/>
                  </a:lnTo>
                  <a:lnTo>
                    <a:pt x="622064" y="464956"/>
                  </a:lnTo>
                  <a:lnTo>
                    <a:pt x="600004" y="504737"/>
                  </a:lnTo>
                  <a:lnTo>
                    <a:pt x="572762" y="540840"/>
                  </a:lnTo>
                  <a:lnTo>
                    <a:pt x="540840" y="572762"/>
                  </a:lnTo>
                  <a:lnTo>
                    <a:pt x="504737" y="600004"/>
                  </a:lnTo>
                  <a:lnTo>
                    <a:pt x="464956" y="622064"/>
                  </a:lnTo>
                  <a:lnTo>
                    <a:pt x="421997" y="638441"/>
                  </a:lnTo>
                  <a:lnTo>
                    <a:pt x="376361" y="648635"/>
                  </a:lnTo>
                  <a:lnTo>
                    <a:pt x="328549" y="652145"/>
                  </a:lnTo>
                  <a:lnTo>
                    <a:pt x="383893" y="652145"/>
                  </a:lnTo>
                  <a:lnTo>
                    <a:pt x="423460" y="643305"/>
                  </a:lnTo>
                  <a:lnTo>
                    <a:pt x="467093" y="626670"/>
                  </a:lnTo>
                  <a:lnTo>
                    <a:pt x="507498" y="604263"/>
                  </a:lnTo>
                  <a:lnTo>
                    <a:pt x="544168" y="576592"/>
                  </a:lnTo>
                  <a:lnTo>
                    <a:pt x="576592" y="544168"/>
                  </a:lnTo>
                  <a:lnTo>
                    <a:pt x="604263" y="507498"/>
                  </a:lnTo>
                  <a:lnTo>
                    <a:pt x="626670" y="467093"/>
                  </a:lnTo>
                  <a:lnTo>
                    <a:pt x="643305" y="423460"/>
                  </a:lnTo>
                  <a:lnTo>
                    <a:pt x="653660" y="377109"/>
                  </a:lnTo>
                  <a:lnTo>
                    <a:pt x="657225" y="328549"/>
                  </a:lnTo>
                  <a:lnTo>
                    <a:pt x="653715" y="280739"/>
                  </a:lnTo>
                  <a:lnTo>
                    <a:pt x="653660" y="279991"/>
                  </a:lnTo>
                  <a:lnTo>
                    <a:pt x="643305" y="233648"/>
                  </a:lnTo>
                  <a:lnTo>
                    <a:pt x="626670" y="190027"/>
                  </a:lnTo>
                  <a:lnTo>
                    <a:pt x="604263" y="149637"/>
                  </a:lnTo>
                  <a:lnTo>
                    <a:pt x="576592" y="112984"/>
                  </a:lnTo>
                  <a:lnTo>
                    <a:pt x="544168" y="80577"/>
                  </a:lnTo>
                  <a:lnTo>
                    <a:pt x="507498" y="52923"/>
                  </a:lnTo>
                  <a:lnTo>
                    <a:pt x="467093" y="30531"/>
                  </a:lnTo>
                  <a:lnTo>
                    <a:pt x="423460" y="13907"/>
                  </a:lnTo>
                  <a:lnTo>
                    <a:pt x="383911" y="50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57375" y="246227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328549"/>
                  </a:moveTo>
                  <a:lnTo>
                    <a:pt x="3561" y="279991"/>
                  </a:lnTo>
                  <a:lnTo>
                    <a:pt x="13907" y="233648"/>
                  </a:lnTo>
                  <a:lnTo>
                    <a:pt x="30531" y="190027"/>
                  </a:lnTo>
                  <a:lnTo>
                    <a:pt x="52923" y="149637"/>
                  </a:lnTo>
                  <a:lnTo>
                    <a:pt x="80577" y="112984"/>
                  </a:lnTo>
                  <a:lnTo>
                    <a:pt x="112984" y="80577"/>
                  </a:lnTo>
                  <a:lnTo>
                    <a:pt x="149637" y="52923"/>
                  </a:lnTo>
                  <a:lnTo>
                    <a:pt x="190027" y="30531"/>
                  </a:lnTo>
                  <a:lnTo>
                    <a:pt x="233648" y="13907"/>
                  </a:lnTo>
                  <a:lnTo>
                    <a:pt x="279991" y="3561"/>
                  </a:lnTo>
                  <a:lnTo>
                    <a:pt x="328549" y="0"/>
                  </a:lnTo>
                  <a:lnTo>
                    <a:pt x="377109" y="3561"/>
                  </a:lnTo>
                  <a:lnTo>
                    <a:pt x="423460" y="13907"/>
                  </a:lnTo>
                  <a:lnTo>
                    <a:pt x="467093" y="30531"/>
                  </a:lnTo>
                  <a:lnTo>
                    <a:pt x="507498" y="52923"/>
                  </a:lnTo>
                  <a:lnTo>
                    <a:pt x="544168" y="80577"/>
                  </a:lnTo>
                  <a:lnTo>
                    <a:pt x="576592" y="112984"/>
                  </a:lnTo>
                  <a:lnTo>
                    <a:pt x="604263" y="149637"/>
                  </a:lnTo>
                  <a:lnTo>
                    <a:pt x="626670" y="190027"/>
                  </a:lnTo>
                  <a:lnTo>
                    <a:pt x="643305" y="233648"/>
                  </a:lnTo>
                  <a:lnTo>
                    <a:pt x="653660" y="279991"/>
                  </a:lnTo>
                  <a:lnTo>
                    <a:pt x="657225" y="328549"/>
                  </a:lnTo>
                  <a:lnTo>
                    <a:pt x="653660" y="377109"/>
                  </a:lnTo>
                  <a:lnTo>
                    <a:pt x="643305" y="423460"/>
                  </a:lnTo>
                  <a:lnTo>
                    <a:pt x="626670" y="467093"/>
                  </a:lnTo>
                  <a:lnTo>
                    <a:pt x="604263" y="507498"/>
                  </a:lnTo>
                  <a:lnTo>
                    <a:pt x="576592" y="544168"/>
                  </a:lnTo>
                  <a:lnTo>
                    <a:pt x="544168" y="576592"/>
                  </a:lnTo>
                  <a:lnTo>
                    <a:pt x="507498" y="604263"/>
                  </a:lnTo>
                  <a:lnTo>
                    <a:pt x="467093" y="626670"/>
                  </a:lnTo>
                  <a:lnTo>
                    <a:pt x="423460" y="643305"/>
                  </a:lnTo>
                  <a:lnTo>
                    <a:pt x="377109" y="653660"/>
                  </a:lnTo>
                  <a:lnTo>
                    <a:pt x="328549" y="657225"/>
                  </a:lnTo>
                  <a:lnTo>
                    <a:pt x="279991" y="653660"/>
                  </a:lnTo>
                  <a:lnTo>
                    <a:pt x="233648" y="643305"/>
                  </a:lnTo>
                  <a:lnTo>
                    <a:pt x="190027" y="626670"/>
                  </a:lnTo>
                  <a:lnTo>
                    <a:pt x="149637" y="604263"/>
                  </a:lnTo>
                  <a:lnTo>
                    <a:pt x="112984" y="576592"/>
                  </a:lnTo>
                  <a:lnTo>
                    <a:pt x="80577" y="544168"/>
                  </a:lnTo>
                  <a:lnTo>
                    <a:pt x="52923" y="507498"/>
                  </a:lnTo>
                  <a:lnTo>
                    <a:pt x="30531" y="467093"/>
                  </a:lnTo>
                  <a:lnTo>
                    <a:pt x="13907" y="423460"/>
                  </a:lnTo>
                  <a:lnTo>
                    <a:pt x="3561" y="377109"/>
                  </a:lnTo>
                  <a:lnTo>
                    <a:pt x="0" y="328549"/>
                  </a:lnTo>
                  <a:close/>
                </a:path>
                <a:path w="657225" h="657225">
                  <a:moveTo>
                    <a:pt x="5080" y="328549"/>
                  </a:moveTo>
                  <a:lnTo>
                    <a:pt x="8586" y="376361"/>
                  </a:lnTo>
                  <a:lnTo>
                    <a:pt x="18771" y="421997"/>
                  </a:lnTo>
                  <a:lnTo>
                    <a:pt x="35137" y="464956"/>
                  </a:lnTo>
                  <a:lnTo>
                    <a:pt x="57182" y="504737"/>
                  </a:lnTo>
                  <a:lnTo>
                    <a:pt x="84407" y="540840"/>
                  </a:lnTo>
                  <a:lnTo>
                    <a:pt x="116312" y="572762"/>
                  </a:lnTo>
                  <a:lnTo>
                    <a:pt x="152398" y="600004"/>
                  </a:lnTo>
                  <a:lnTo>
                    <a:pt x="192164" y="622064"/>
                  </a:lnTo>
                  <a:lnTo>
                    <a:pt x="235111" y="638441"/>
                  </a:lnTo>
                  <a:lnTo>
                    <a:pt x="280739" y="648635"/>
                  </a:lnTo>
                  <a:lnTo>
                    <a:pt x="328549" y="652145"/>
                  </a:lnTo>
                  <a:lnTo>
                    <a:pt x="376361" y="648635"/>
                  </a:lnTo>
                  <a:lnTo>
                    <a:pt x="421997" y="638441"/>
                  </a:lnTo>
                  <a:lnTo>
                    <a:pt x="464956" y="622064"/>
                  </a:lnTo>
                  <a:lnTo>
                    <a:pt x="504737" y="600004"/>
                  </a:lnTo>
                  <a:lnTo>
                    <a:pt x="540840" y="572762"/>
                  </a:lnTo>
                  <a:lnTo>
                    <a:pt x="572762" y="540840"/>
                  </a:lnTo>
                  <a:lnTo>
                    <a:pt x="600004" y="504737"/>
                  </a:lnTo>
                  <a:lnTo>
                    <a:pt x="622064" y="464956"/>
                  </a:lnTo>
                  <a:lnTo>
                    <a:pt x="638441" y="421997"/>
                  </a:lnTo>
                  <a:lnTo>
                    <a:pt x="648635" y="376361"/>
                  </a:lnTo>
                  <a:lnTo>
                    <a:pt x="652144" y="328549"/>
                  </a:lnTo>
                  <a:lnTo>
                    <a:pt x="648635" y="280739"/>
                  </a:lnTo>
                  <a:lnTo>
                    <a:pt x="638441" y="235111"/>
                  </a:lnTo>
                  <a:lnTo>
                    <a:pt x="622064" y="192164"/>
                  </a:lnTo>
                  <a:lnTo>
                    <a:pt x="600004" y="152398"/>
                  </a:lnTo>
                  <a:lnTo>
                    <a:pt x="572762" y="116312"/>
                  </a:lnTo>
                  <a:lnTo>
                    <a:pt x="540840" y="84407"/>
                  </a:lnTo>
                  <a:lnTo>
                    <a:pt x="504737" y="57182"/>
                  </a:lnTo>
                  <a:lnTo>
                    <a:pt x="464956" y="35137"/>
                  </a:lnTo>
                  <a:lnTo>
                    <a:pt x="421997" y="18771"/>
                  </a:lnTo>
                  <a:lnTo>
                    <a:pt x="376361" y="8586"/>
                  </a:lnTo>
                  <a:lnTo>
                    <a:pt x="328549" y="5079"/>
                  </a:lnTo>
                  <a:lnTo>
                    <a:pt x="280739" y="8586"/>
                  </a:lnTo>
                  <a:lnTo>
                    <a:pt x="235111" y="18771"/>
                  </a:lnTo>
                  <a:lnTo>
                    <a:pt x="192164" y="35137"/>
                  </a:lnTo>
                  <a:lnTo>
                    <a:pt x="152398" y="57182"/>
                  </a:lnTo>
                  <a:lnTo>
                    <a:pt x="116312" y="84407"/>
                  </a:lnTo>
                  <a:lnTo>
                    <a:pt x="84407" y="116312"/>
                  </a:lnTo>
                  <a:lnTo>
                    <a:pt x="57182" y="152398"/>
                  </a:lnTo>
                  <a:lnTo>
                    <a:pt x="35137" y="192164"/>
                  </a:lnTo>
                  <a:lnTo>
                    <a:pt x="18771" y="235111"/>
                  </a:lnTo>
                  <a:lnTo>
                    <a:pt x="8586" y="280739"/>
                  </a:lnTo>
                  <a:lnTo>
                    <a:pt x="5080" y="328549"/>
                  </a:lnTo>
                  <a:close/>
                </a:path>
              </a:pathLst>
            </a:custGeom>
            <a:ln w="3175">
              <a:solidFill>
                <a:srgbClr val="362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14475" y="2638425"/>
              <a:ext cx="333375" cy="33337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881626" y="2414651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0" y="357124"/>
                  </a:moveTo>
                  <a:lnTo>
                    <a:pt x="3260" y="308665"/>
                  </a:lnTo>
                  <a:lnTo>
                    <a:pt x="12757" y="262187"/>
                  </a:lnTo>
                  <a:lnTo>
                    <a:pt x="28065" y="218116"/>
                  </a:lnTo>
                  <a:lnTo>
                    <a:pt x="48758" y="176878"/>
                  </a:lnTo>
                  <a:lnTo>
                    <a:pt x="74412" y="138897"/>
                  </a:lnTo>
                  <a:lnTo>
                    <a:pt x="104600" y="104600"/>
                  </a:lnTo>
                  <a:lnTo>
                    <a:pt x="138897" y="74412"/>
                  </a:lnTo>
                  <a:lnTo>
                    <a:pt x="176878" y="48758"/>
                  </a:lnTo>
                  <a:lnTo>
                    <a:pt x="218116" y="28065"/>
                  </a:lnTo>
                  <a:lnTo>
                    <a:pt x="262187" y="12757"/>
                  </a:lnTo>
                  <a:lnTo>
                    <a:pt x="308665" y="3260"/>
                  </a:lnTo>
                  <a:lnTo>
                    <a:pt x="357124" y="0"/>
                  </a:lnTo>
                  <a:lnTo>
                    <a:pt x="405585" y="3260"/>
                  </a:lnTo>
                  <a:lnTo>
                    <a:pt x="452070" y="12757"/>
                  </a:lnTo>
                  <a:lnTo>
                    <a:pt x="496151" y="28065"/>
                  </a:lnTo>
                  <a:lnTo>
                    <a:pt x="537402" y="48758"/>
                  </a:lnTo>
                  <a:lnTo>
                    <a:pt x="575398" y="74412"/>
                  </a:lnTo>
                  <a:lnTo>
                    <a:pt x="609711" y="104600"/>
                  </a:lnTo>
                  <a:lnTo>
                    <a:pt x="639915" y="138897"/>
                  </a:lnTo>
                  <a:lnTo>
                    <a:pt x="665583" y="176878"/>
                  </a:lnTo>
                  <a:lnTo>
                    <a:pt x="686290" y="218116"/>
                  </a:lnTo>
                  <a:lnTo>
                    <a:pt x="701608" y="262187"/>
                  </a:lnTo>
                  <a:lnTo>
                    <a:pt x="711112" y="308665"/>
                  </a:lnTo>
                  <a:lnTo>
                    <a:pt x="714375" y="357124"/>
                  </a:lnTo>
                  <a:lnTo>
                    <a:pt x="711112" y="405585"/>
                  </a:lnTo>
                  <a:lnTo>
                    <a:pt x="701608" y="452070"/>
                  </a:lnTo>
                  <a:lnTo>
                    <a:pt x="686290" y="496151"/>
                  </a:lnTo>
                  <a:lnTo>
                    <a:pt x="665583" y="537402"/>
                  </a:lnTo>
                  <a:lnTo>
                    <a:pt x="639915" y="575398"/>
                  </a:lnTo>
                  <a:lnTo>
                    <a:pt x="609711" y="609711"/>
                  </a:lnTo>
                  <a:lnTo>
                    <a:pt x="575398" y="639915"/>
                  </a:lnTo>
                  <a:lnTo>
                    <a:pt x="537402" y="665583"/>
                  </a:lnTo>
                  <a:lnTo>
                    <a:pt x="496151" y="686290"/>
                  </a:lnTo>
                  <a:lnTo>
                    <a:pt x="452070" y="701608"/>
                  </a:lnTo>
                  <a:lnTo>
                    <a:pt x="405585" y="711112"/>
                  </a:lnTo>
                  <a:lnTo>
                    <a:pt x="357124" y="714375"/>
                  </a:lnTo>
                  <a:lnTo>
                    <a:pt x="308665" y="711112"/>
                  </a:lnTo>
                  <a:lnTo>
                    <a:pt x="262187" y="701608"/>
                  </a:lnTo>
                  <a:lnTo>
                    <a:pt x="218116" y="686290"/>
                  </a:lnTo>
                  <a:lnTo>
                    <a:pt x="176878" y="665583"/>
                  </a:lnTo>
                  <a:lnTo>
                    <a:pt x="138897" y="639915"/>
                  </a:lnTo>
                  <a:lnTo>
                    <a:pt x="104600" y="609711"/>
                  </a:lnTo>
                  <a:lnTo>
                    <a:pt x="74412" y="575398"/>
                  </a:lnTo>
                  <a:lnTo>
                    <a:pt x="48758" y="537402"/>
                  </a:lnTo>
                  <a:lnTo>
                    <a:pt x="28065" y="496151"/>
                  </a:lnTo>
                  <a:lnTo>
                    <a:pt x="12757" y="452070"/>
                  </a:lnTo>
                  <a:lnTo>
                    <a:pt x="3260" y="405585"/>
                  </a:lnTo>
                  <a:lnTo>
                    <a:pt x="0" y="357124"/>
                  </a:lnTo>
                  <a:close/>
                </a:path>
              </a:pathLst>
            </a:custGeom>
            <a:ln w="31750">
              <a:solidFill>
                <a:srgbClr val="E3F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27668" y="2361310"/>
              <a:ext cx="638157" cy="67640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910201" y="244322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549" y="0"/>
                  </a:moveTo>
                  <a:lnTo>
                    <a:pt x="279991" y="3561"/>
                  </a:lnTo>
                  <a:lnTo>
                    <a:pt x="233648" y="13907"/>
                  </a:lnTo>
                  <a:lnTo>
                    <a:pt x="190027" y="30531"/>
                  </a:lnTo>
                  <a:lnTo>
                    <a:pt x="149637" y="52923"/>
                  </a:lnTo>
                  <a:lnTo>
                    <a:pt x="112984" y="80577"/>
                  </a:lnTo>
                  <a:lnTo>
                    <a:pt x="80577" y="112984"/>
                  </a:lnTo>
                  <a:lnTo>
                    <a:pt x="52923" y="149637"/>
                  </a:lnTo>
                  <a:lnTo>
                    <a:pt x="30531" y="190027"/>
                  </a:lnTo>
                  <a:lnTo>
                    <a:pt x="13907" y="233648"/>
                  </a:lnTo>
                  <a:lnTo>
                    <a:pt x="3561" y="279991"/>
                  </a:lnTo>
                  <a:lnTo>
                    <a:pt x="0" y="328549"/>
                  </a:lnTo>
                  <a:lnTo>
                    <a:pt x="3506" y="376361"/>
                  </a:lnTo>
                  <a:lnTo>
                    <a:pt x="3561" y="377109"/>
                  </a:lnTo>
                  <a:lnTo>
                    <a:pt x="13907" y="423460"/>
                  </a:lnTo>
                  <a:lnTo>
                    <a:pt x="30531" y="467093"/>
                  </a:lnTo>
                  <a:lnTo>
                    <a:pt x="52923" y="507498"/>
                  </a:lnTo>
                  <a:lnTo>
                    <a:pt x="80577" y="544168"/>
                  </a:lnTo>
                  <a:lnTo>
                    <a:pt x="112984" y="576592"/>
                  </a:lnTo>
                  <a:lnTo>
                    <a:pt x="149637" y="604263"/>
                  </a:lnTo>
                  <a:lnTo>
                    <a:pt x="190027" y="626670"/>
                  </a:lnTo>
                  <a:lnTo>
                    <a:pt x="233648" y="643305"/>
                  </a:lnTo>
                  <a:lnTo>
                    <a:pt x="279991" y="653660"/>
                  </a:lnTo>
                  <a:lnTo>
                    <a:pt x="328549" y="657225"/>
                  </a:lnTo>
                  <a:lnTo>
                    <a:pt x="377109" y="653660"/>
                  </a:lnTo>
                  <a:lnTo>
                    <a:pt x="383893" y="652145"/>
                  </a:lnTo>
                  <a:lnTo>
                    <a:pt x="328549" y="652145"/>
                  </a:lnTo>
                  <a:lnTo>
                    <a:pt x="280739" y="648635"/>
                  </a:lnTo>
                  <a:lnTo>
                    <a:pt x="235111" y="638441"/>
                  </a:lnTo>
                  <a:lnTo>
                    <a:pt x="192164" y="622064"/>
                  </a:lnTo>
                  <a:lnTo>
                    <a:pt x="152398" y="600004"/>
                  </a:lnTo>
                  <a:lnTo>
                    <a:pt x="116312" y="572762"/>
                  </a:lnTo>
                  <a:lnTo>
                    <a:pt x="84407" y="540840"/>
                  </a:lnTo>
                  <a:lnTo>
                    <a:pt x="57182" y="504737"/>
                  </a:lnTo>
                  <a:lnTo>
                    <a:pt x="35137" y="464956"/>
                  </a:lnTo>
                  <a:lnTo>
                    <a:pt x="18771" y="421997"/>
                  </a:lnTo>
                  <a:lnTo>
                    <a:pt x="8586" y="376361"/>
                  </a:lnTo>
                  <a:lnTo>
                    <a:pt x="5079" y="328549"/>
                  </a:lnTo>
                  <a:lnTo>
                    <a:pt x="8586" y="280739"/>
                  </a:lnTo>
                  <a:lnTo>
                    <a:pt x="18771" y="235111"/>
                  </a:lnTo>
                  <a:lnTo>
                    <a:pt x="35137" y="192164"/>
                  </a:lnTo>
                  <a:lnTo>
                    <a:pt x="57182" y="152398"/>
                  </a:lnTo>
                  <a:lnTo>
                    <a:pt x="84407" y="116312"/>
                  </a:lnTo>
                  <a:lnTo>
                    <a:pt x="116312" y="84407"/>
                  </a:lnTo>
                  <a:lnTo>
                    <a:pt x="152398" y="57182"/>
                  </a:lnTo>
                  <a:lnTo>
                    <a:pt x="192164" y="35137"/>
                  </a:lnTo>
                  <a:lnTo>
                    <a:pt x="235111" y="18771"/>
                  </a:lnTo>
                  <a:lnTo>
                    <a:pt x="280739" y="8586"/>
                  </a:lnTo>
                  <a:lnTo>
                    <a:pt x="328549" y="5079"/>
                  </a:lnTo>
                  <a:lnTo>
                    <a:pt x="383911" y="5079"/>
                  </a:lnTo>
                  <a:lnTo>
                    <a:pt x="377109" y="3561"/>
                  </a:lnTo>
                  <a:lnTo>
                    <a:pt x="328549" y="0"/>
                  </a:lnTo>
                  <a:close/>
                </a:path>
                <a:path w="657225" h="657225">
                  <a:moveTo>
                    <a:pt x="383911" y="5079"/>
                  </a:moveTo>
                  <a:lnTo>
                    <a:pt x="328549" y="5079"/>
                  </a:lnTo>
                  <a:lnTo>
                    <a:pt x="376361" y="8586"/>
                  </a:lnTo>
                  <a:lnTo>
                    <a:pt x="421997" y="18771"/>
                  </a:lnTo>
                  <a:lnTo>
                    <a:pt x="464956" y="35137"/>
                  </a:lnTo>
                  <a:lnTo>
                    <a:pt x="504737" y="57182"/>
                  </a:lnTo>
                  <a:lnTo>
                    <a:pt x="540840" y="84407"/>
                  </a:lnTo>
                  <a:lnTo>
                    <a:pt x="572762" y="116312"/>
                  </a:lnTo>
                  <a:lnTo>
                    <a:pt x="600004" y="152398"/>
                  </a:lnTo>
                  <a:lnTo>
                    <a:pt x="622064" y="192164"/>
                  </a:lnTo>
                  <a:lnTo>
                    <a:pt x="638441" y="235111"/>
                  </a:lnTo>
                  <a:lnTo>
                    <a:pt x="648635" y="280739"/>
                  </a:lnTo>
                  <a:lnTo>
                    <a:pt x="652145" y="328549"/>
                  </a:lnTo>
                  <a:lnTo>
                    <a:pt x="648635" y="376361"/>
                  </a:lnTo>
                  <a:lnTo>
                    <a:pt x="638441" y="421997"/>
                  </a:lnTo>
                  <a:lnTo>
                    <a:pt x="622064" y="464956"/>
                  </a:lnTo>
                  <a:lnTo>
                    <a:pt x="600004" y="504737"/>
                  </a:lnTo>
                  <a:lnTo>
                    <a:pt x="572762" y="540840"/>
                  </a:lnTo>
                  <a:lnTo>
                    <a:pt x="540840" y="572762"/>
                  </a:lnTo>
                  <a:lnTo>
                    <a:pt x="504737" y="600004"/>
                  </a:lnTo>
                  <a:lnTo>
                    <a:pt x="464956" y="622064"/>
                  </a:lnTo>
                  <a:lnTo>
                    <a:pt x="421997" y="638441"/>
                  </a:lnTo>
                  <a:lnTo>
                    <a:pt x="376361" y="648635"/>
                  </a:lnTo>
                  <a:lnTo>
                    <a:pt x="328549" y="652145"/>
                  </a:lnTo>
                  <a:lnTo>
                    <a:pt x="383893" y="652145"/>
                  </a:lnTo>
                  <a:lnTo>
                    <a:pt x="423460" y="643305"/>
                  </a:lnTo>
                  <a:lnTo>
                    <a:pt x="467093" y="626670"/>
                  </a:lnTo>
                  <a:lnTo>
                    <a:pt x="507498" y="604263"/>
                  </a:lnTo>
                  <a:lnTo>
                    <a:pt x="544168" y="576592"/>
                  </a:lnTo>
                  <a:lnTo>
                    <a:pt x="576592" y="544168"/>
                  </a:lnTo>
                  <a:lnTo>
                    <a:pt x="604263" y="507498"/>
                  </a:lnTo>
                  <a:lnTo>
                    <a:pt x="626670" y="467093"/>
                  </a:lnTo>
                  <a:lnTo>
                    <a:pt x="643305" y="423460"/>
                  </a:lnTo>
                  <a:lnTo>
                    <a:pt x="653660" y="377109"/>
                  </a:lnTo>
                  <a:lnTo>
                    <a:pt x="657225" y="328549"/>
                  </a:lnTo>
                  <a:lnTo>
                    <a:pt x="653715" y="280739"/>
                  </a:lnTo>
                  <a:lnTo>
                    <a:pt x="653660" y="279991"/>
                  </a:lnTo>
                  <a:lnTo>
                    <a:pt x="643305" y="233648"/>
                  </a:lnTo>
                  <a:lnTo>
                    <a:pt x="626670" y="190027"/>
                  </a:lnTo>
                  <a:lnTo>
                    <a:pt x="604263" y="149637"/>
                  </a:lnTo>
                  <a:lnTo>
                    <a:pt x="576592" y="112984"/>
                  </a:lnTo>
                  <a:lnTo>
                    <a:pt x="544168" y="80577"/>
                  </a:lnTo>
                  <a:lnTo>
                    <a:pt x="507498" y="52923"/>
                  </a:lnTo>
                  <a:lnTo>
                    <a:pt x="467093" y="30531"/>
                  </a:lnTo>
                  <a:lnTo>
                    <a:pt x="423460" y="13907"/>
                  </a:lnTo>
                  <a:lnTo>
                    <a:pt x="383911" y="50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910201" y="2443226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0" y="328549"/>
                  </a:moveTo>
                  <a:lnTo>
                    <a:pt x="3561" y="279991"/>
                  </a:lnTo>
                  <a:lnTo>
                    <a:pt x="13907" y="233648"/>
                  </a:lnTo>
                  <a:lnTo>
                    <a:pt x="30531" y="190027"/>
                  </a:lnTo>
                  <a:lnTo>
                    <a:pt x="52923" y="149637"/>
                  </a:lnTo>
                  <a:lnTo>
                    <a:pt x="80577" y="112984"/>
                  </a:lnTo>
                  <a:lnTo>
                    <a:pt x="112984" y="80577"/>
                  </a:lnTo>
                  <a:lnTo>
                    <a:pt x="149637" y="52923"/>
                  </a:lnTo>
                  <a:lnTo>
                    <a:pt x="190027" y="30531"/>
                  </a:lnTo>
                  <a:lnTo>
                    <a:pt x="233648" y="13907"/>
                  </a:lnTo>
                  <a:lnTo>
                    <a:pt x="279991" y="3561"/>
                  </a:lnTo>
                  <a:lnTo>
                    <a:pt x="328549" y="0"/>
                  </a:lnTo>
                  <a:lnTo>
                    <a:pt x="377109" y="3561"/>
                  </a:lnTo>
                  <a:lnTo>
                    <a:pt x="423460" y="13907"/>
                  </a:lnTo>
                  <a:lnTo>
                    <a:pt x="467093" y="30531"/>
                  </a:lnTo>
                  <a:lnTo>
                    <a:pt x="507498" y="52923"/>
                  </a:lnTo>
                  <a:lnTo>
                    <a:pt x="544168" y="80577"/>
                  </a:lnTo>
                  <a:lnTo>
                    <a:pt x="576592" y="112984"/>
                  </a:lnTo>
                  <a:lnTo>
                    <a:pt x="604263" y="149637"/>
                  </a:lnTo>
                  <a:lnTo>
                    <a:pt x="626670" y="190027"/>
                  </a:lnTo>
                  <a:lnTo>
                    <a:pt x="643305" y="233648"/>
                  </a:lnTo>
                  <a:lnTo>
                    <a:pt x="653660" y="279991"/>
                  </a:lnTo>
                  <a:lnTo>
                    <a:pt x="657225" y="328549"/>
                  </a:lnTo>
                  <a:lnTo>
                    <a:pt x="653660" y="377109"/>
                  </a:lnTo>
                  <a:lnTo>
                    <a:pt x="643305" y="423460"/>
                  </a:lnTo>
                  <a:lnTo>
                    <a:pt x="626670" y="467093"/>
                  </a:lnTo>
                  <a:lnTo>
                    <a:pt x="604263" y="507498"/>
                  </a:lnTo>
                  <a:lnTo>
                    <a:pt x="576592" y="544168"/>
                  </a:lnTo>
                  <a:lnTo>
                    <a:pt x="544168" y="576592"/>
                  </a:lnTo>
                  <a:lnTo>
                    <a:pt x="507498" y="604263"/>
                  </a:lnTo>
                  <a:lnTo>
                    <a:pt x="467093" y="626670"/>
                  </a:lnTo>
                  <a:lnTo>
                    <a:pt x="423460" y="643305"/>
                  </a:lnTo>
                  <a:lnTo>
                    <a:pt x="377109" y="653660"/>
                  </a:lnTo>
                  <a:lnTo>
                    <a:pt x="328549" y="657225"/>
                  </a:lnTo>
                  <a:lnTo>
                    <a:pt x="279991" y="653660"/>
                  </a:lnTo>
                  <a:lnTo>
                    <a:pt x="233648" y="643305"/>
                  </a:lnTo>
                  <a:lnTo>
                    <a:pt x="190027" y="626670"/>
                  </a:lnTo>
                  <a:lnTo>
                    <a:pt x="149637" y="604263"/>
                  </a:lnTo>
                  <a:lnTo>
                    <a:pt x="112984" y="576592"/>
                  </a:lnTo>
                  <a:lnTo>
                    <a:pt x="80577" y="544168"/>
                  </a:lnTo>
                  <a:lnTo>
                    <a:pt x="52923" y="507498"/>
                  </a:lnTo>
                  <a:lnTo>
                    <a:pt x="30531" y="467093"/>
                  </a:lnTo>
                  <a:lnTo>
                    <a:pt x="13907" y="423460"/>
                  </a:lnTo>
                  <a:lnTo>
                    <a:pt x="3561" y="377109"/>
                  </a:lnTo>
                  <a:lnTo>
                    <a:pt x="0" y="328549"/>
                  </a:lnTo>
                  <a:close/>
                </a:path>
                <a:path w="657225" h="657225">
                  <a:moveTo>
                    <a:pt x="5079" y="328549"/>
                  </a:moveTo>
                  <a:lnTo>
                    <a:pt x="8586" y="376361"/>
                  </a:lnTo>
                  <a:lnTo>
                    <a:pt x="18771" y="421997"/>
                  </a:lnTo>
                  <a:lnTo>
                    <a:pt x="35137" y="464956"/>
                  </a:lnTo>
                  <a:lnTo>
                    <a:pt x="57182" y="504737"/>
                  </a:lnTo>
                  <a:lnTo>
                    <a:pt x="84407" y="540840"/>
                  </a:lnTo>
                  <a:lnTo>
                    <a:pt x="116312" y="572762"/>
                  </a:lnTo>
                  <a:lnTo>
                    <a:pt x="152398" y="600004"/>
                  </a:lnTo>
                  <a:lnTo>
                    <a:pt x="192164" y="622064"/>
                  </a:lnTo>
                  <a:lnTo>
                    <a:pt x="235111" y="638441"/>
                  </a:lnTo>
                  <a:lnTo>
                    <a:pt x="280739" y="648635"/>
                  </a:lnTo>
                  <a:lnTo>
                    <a:pt x="328549" y="652145"/>
                  </a:lnTo>
                  <a:lnTo>
                    <a:pt x="376361" y="648635"/>
                  </a:lnTo>
                  <a:lnTo>
                    <a:pt x="421997" y="638441"/>
                  </a:lnTo>
                  <a:lnTo>
                    <a:pt x="464956" y="622064"/>
                  </a:lnTo>
                  <a:lnTo>
                    <a:pt x="504737" y="600004"/>
                  </a:lnTo>
                  <a:lnTo>
                    <a:pt x="540840" y="572762"/>
                  </a:lnTo>
                  <a:lnTo>
                    <a:pt x="572762" y="540840"/>
                  </a:lnTo>
                  <a:lnTo>
                    <a:pt x="600004" y="504737"/>
                  </a:lnTo>
                  <a:lnTo>
                    <a:pt x="622064" y="464956"/>
                  </a:lnTo>
                  <a:lnTo>
                    <a:pt x="638441" y="421997"/>
                  </a:lnTo>
                  <a:lnTo>
                    <a:pt x="648635" y="376361"/>
                  </a:lnTo>
                  <a:lnTo>
                    <a:pt x="652145" y="328549"/>
                  </a:lnTo>
                  <a:lnTo>
                    <a:pt x="648635" y="280739"/>
                  </a:lnTo>
                  <a:lnTo>
                    <a:pt x="638441" y="235111"/>
                  </a:lnTo>
                  <a:lnTo>
                    <a:pt x="622064" y="192164"/>
                  </a:lnTo>
                  <a:lnTo>
                    <a:pt x="600004" y="152398"/>
                  </a:lnTo>
                  <a:lnTo>
                    <a:pt x="572762" y="116312"/>
                  </a:lnTo>
                  <a:lnTo>
                    <a:pt x="540840" y="84407"/>
                  </a:lnTo>
                  <a:lnTo>
                    <a:pt x="504737" y="57182"/>
                  </a:lnTo>
                  <a:lnTo>
                    <a:pt x="464956" y="35137"/>
                  </a:lnTo>
                  <a:lnTo>
                    <a:pt x="421997" y="18771"/>
                  </a:lnTo>
                  <a:lnTo>
                    <a:pt x="376361" y="8586"/>
                  </a:lnTo>
                  <a:lnTo>
                    <a:pt x="328549" y="5079"/>
                  </a:lnTo>
                  <a:lnTo>
                    <a:pt x="280739" y="8586"/>
                  </a:lnTo>
                  <a:lnTo>
                    <a:pt x="235111" y="18771"/>
                  </a:lnTo>
                  <a:lnTo>
                    <a:pt x="192164" y="35137"/>
                  </a:lnTo>
                  <a:lnTo>
                    <a:pt x="152398" y="57182"/>
                  </a:lnTo>
                  <a:lnTo>
                    <a:pt x="116312" y="84407"/>
                  </a:lnTo>
                  <a:lnTo>
                    <a:pt x="84407" y="116312"/>
                  </a:lnTo>
                  <a:lnTo>
                    <a:pt x="57182" y="152398"/>
                  </a:lnTo>
                  <a:lnTo>
                    <a:pt x="35137" y="192164"/>
                  </a:lnTo>
                  <a:lnTo>
                    <a:pt x="18771" y="235111"/>
                  </a:lnTo>
                  <a:lnTo>
                    <a:pt x="8586" y="280739"/>
                  </a:lnTo>
                  <a:lnTo>
                    <a:pt x="5079" y="328549"/>
                  </a:lnTo>
                  <a:close/>
                </a:path>
              </a:pathLst>
            </a:custGeom>
            <a:ln w="3175">
              <a:solidFill>
                <a:srgbClr val="362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67300" y="2619375"/>
              <a:ext cx="333375" cy="34290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0" y="304800"/>
              <a:ext cx="104775" cy="447675"/>
            </a:xfrm>
            <a:custGeom>
              <a:avLst/>
              <a:gdLst/>
              <a:ahLst/>
              <a:cxnLst/>
              <a:rect l="l" t="t" r="r" b="b"/>
              <a:pathLst>
                <a:path w="104775" h="447675">
                  <a:moveTo>
                    <a:pt x="10477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04775" y="447675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5716270" y="2351405"/>
            <a:ext cx="1059180" cy="7715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850"/>
              </a:lnSpc>
              <a:spcBef>
                <a:spcPts val="130"/>
              </a:spcBef>
            </a:pPr>
            <a:r>
              <a:rPr sz="3350" b="1" spc="-20" dirty="0">
                <a:solidFill>
                  <a:srgbClr val="FD7B77"/>
                </a:solidFill>
                <a:latin typeface="Microsoft YaHei"/>
                <a:cs typeface="Microsoft YaHei"/>
              </a:rPr>
              <a:t>100</a:t>
            </a:r>
            <a:r>
              <a:rPr sz="1800" spc="-20" dirty="0">
                <a:solidFill>
                  <a:srgbClr val="FFFFFF"/>
                </a:solidFill>
                <a:latin typeface="Microsoft YaHei"/>
                <a:cs typeface="Microsoft YaHei"/>
              </a:rPr>
              <a:t>W</a:t>
            </a:r>
            <a:endParaRPr sz="1800">
              <a:latin typeface="Microsoft YaHei"/>
              <a:cs typeface="Microsoft YaHei"/>
            </a:endParaRPr>
          </a:p>
          <a:p>
            <a:pPr marL="45720">
              <a:lnSpc>
                <a:spcPts val="1989"/>
              </a:lnSpc>
            </a:pPr>
            <a:r>
              <a:rPr sz="1800" spc="-15" dirty="0">
                <a:solidFill>
                  <a:srgbClr val="FFFFFF"/>
                </a:solidFill>
                <a:latin typeface="Microsoft YaHei"/>
                <a:cs typeface="Microsoft YaHei"/>
              </a:rPr>
              <a:t>市场价值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71779" y="324802"/>
            <a:ext cx="76968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效能价值：颠覆性的生产力，固定分析建设成本降低</a:t>
            </a:r>
            <a:r>
              <a:rPr sz="2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90%</a:t>
            </a:r>
            <a:endParaRPr sz="2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79" y="324802"/>
            <a:ext cx="82886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业务价值：成为每个人的</a:t>
            </a:r>
            <a:r>
              <a:rPr spc="-10" dirty="0"/>
              <a:t>AI</a:t>
            </a:r>
            <a:r>
              <a:rPr spc="-5" dirty="0"/>
              <a:t>数据伙伴，让数据赋能洞察与决策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304800"/>
            <a:ext cx="104775" cy="447675"/>
          </a:xfrm>
          <a:custGeom>
            <a:avLst/>
            <a:gdLst/>
            <a:ahLst/>
            <a:cxnLst/>
            <a:rect l="l" t="t" r="r" b="b"/>
            <a:pathLst>
              <a:path w="104775" h="447675">
                <a:moveTo>
                  <a:pt x="104775" y="0"/>
                </a:moveTo>
                <a:lnTo>
                  <a:pt x="0" y="0"/>
                </a:lnTo>
                <a:lnTo>
                  <a:pt x="0" y="447675"/>
                </a:lnTo>
                <a:lnTo>
                  <a:pt x="104775" y="447675"/>
                </a:lnTo>
                <a:lnTo>
                  <a:pt x="104775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2977" y="1319311"/>
            <a:ext cx="6401919" cy="51695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7675" y="971550"/>
            <a:ext cx="4438650" cy="3810000"/>
            <a:chOff x="447675" y="971550"/>
            <a:chExt cx="4438650" cy="3810000"/>
          </a:xfrm>
        </p:grpSpPr>
        <p:sp>
          <p:nvSpPr>
            <p:cNvPr id="6" name="object 6"/>
            <p:cNvSpPr/>
            <p:nvPr/>
          </p:nvSpPr>
          <p:spPr>
            <a:xfrm>
              <a:off x="447675" y="971550"/>
              <a:ext cx="2628900" cy="2628900"/>
            </a:xfrm>
            <a:custGeom>
              <a:avLst/>
              <a:gdLst/>
              <a:ahLst/>
              <a:cxnLst/>
              <a:rect l="l" t="t" r="r" b="b"/>
              <a:pathLst>
                <a:path w="2628900" h="2628900">
                  <a:moveTo>
                    <a:pt x="1314450" y="0"/>
                  </a:moveTo>
                  <a:lnTo>
                    <a:pt x="1266262" y="866"/>
                  </a:lnTo>
                  <a:lnTo>
                    <a:pt x="1218511" y="3447"/>
                  </a:lnTo>
                  <a:lnTo>
                    <a:pt x="1171227" y="7713"/>
                  </a:lnTo>
                  <a:lnTo>
                    <a:pt x="1124439" y="13633"/>
                  </a:lnTo>
                  <a:lnTo>
                    <a:pt x="1078177" y="21178"/>
                  </a:lnTo>
                  <a:lnTo>
                    <a:pt x="1032471" y="30318"/>
                  </a:lnTo>
                  <a:lnTo>
                    <a:pt x="987350" y="41024"/>
                  </a:lnTo>
                  <a:lnTo>
                    <a:pt x="942845" y="53265"/>
                  </a:lnTo>
                  <a:lnTo>
                    <a:pt x="898984" y="67013"/>
                  </a:lnTo>
                  <a:lnTo>
                    <a:pt x="855798" y="82237"/>
                  </a:lnTo>
                  <a:lnTo>
                    <a:pt x="813316" y="98908"/>
                  </a:lnTo>
                  <a:lnTo>
                    <a:pt x="771568" y="116996"/>
                  </a:lnTo>
                  <a:lnTo>
                    <a:pt x="730583" y="136471"/>
                  </a:lnTo>
                  <a:lnTo>
                    <a:pt x="690392" y="157304"/>
                  </a:lnTo>
                  <a:lnTo>
                    <a:pt x="651024" y="179465"/>
                  </a:lnTo>
                  <a:lnTo>
                    <a:pt x="612509" y="202924"/>
                  </a:lnTo>
                  <a:lnTo>
                    <a:pt x="574876" y="227651"/>
                  </a:lnTo>
                  <a:lnTo>
                    <a:pt x="538155" y="253617"/>
                  </a:lnTo>
                  <a:lnTo>
                    <a:pt x="502376" y="280793"/>
                  </a:lnTo>
                  <a:lnTo>
                    <a:pt x="467569" y="309148"/>
                  </a:lnTo>
                  <a:lnTo>
                    <a:pt x="433762" y="338652"/>
                  </a:lnTo>
                  <a:lnTo>
                    <a:pt x="400987" y="369277"/>
                  </a:lnTo>
                  <a:lnTo>
                    <a:pt x="369272" y="400992"/>
                  </a:lnTo>
                  <a:lnTo>
                    <a:pt x="338648" y="433767"/>
                  </a:lnTo>
                  <a:lnTo>
                    <a:pt x="309144" y="467574"/>
                  </a:lnTo>
                  <a:lnTo>
                    <a:pt x="280789" y="502381"/>
                  </a:lnTo>
                  <a:lnTo>
                    <a:pt x="253614" y="538160"/>
                  </a:lnTo>
                  <a:lnTo>
                    <a:pt x="227648" y="574881"/>
                  </a:lnTo>
                  <a:lnTo>
                    <a:pt x="202921" y="612514"/>
                  </a:lnTo>
                  <a:lnTo>
                    <a:pt x="179462" y="651030"/>
                  </a:lnTo>
                  <a:lnTo>
                    <a:pt x="157301" y="690398"/>
                  </a:lnTo>
                  <a:lnTo>
                    <a:pt x="136469" y="730589"/>
                  </a:lnTo>
                  <a:lnTo>
                    <a:pt x="116994" y="771573"/>
                  </a:lnTo>
                  <a:lnTo>
                    <a:pt x="98906" y="813321"/>
                  </a:lnTo>
                  <a:lnTo>
                    <a:pt x="82236" y="855803"/>
                  </a:lnTo>
                  <a:lnTo>
                    <a:pt x="67012" y="898989"/>
                  </a:lnTo>
                  <a:lnTo>
                    <a:pt x="53264" y="942849"/>
                  </a:lnTo>
                  <a:lnTo>
                    <a:pt x="41023" y="987354"/>
                  </a:lnTo>
                  <a:lnTo>
                    <a:pt x="30317" y="1032475"/>
                  </a:lnTo>
                  <a:lnTo>
                    <a:pt x="21177" y="1078180"/>
                  </a:lnTo>
                  <a:lnTo>
                    <a:pt x="13632" y="1124442"/>
                  </a:lnTo>
                  <a:lnTo>
                    <a:pt x="7713" y="1171229"/>
                  </a:lnTo>
                  <a:lnTo>
                    <a:pt x="3447" y="1218512"/>
                  </a:lnTo>
                  <a:lnTo>
                    <a:pt x="866" y="1266263"/>
                  </a:lnTo>
                  <a:lnTo>
                    <a:pt x="0" y="1314450"/>
                  </a:lnTo>
                  <a:lnTo>
                    <a:pt x="866" y="1362636"/>
                  </a:lnTo>
                  <a:lnTo>
                    <a:pt x="3447" y="1410387"/>
                  </a:lnTo>
                  <a:lnTo>
                    <a:pt x="7713" y="1457670"/>
                  </a:lnTo>
                  <a:lnTo>
                    <a:pt x="13632" y="1504457"/>
                  </a:lnTo>
                  <a:lnTo>
                    <a:pt x="21177" y="1550719"/>
                  </a:lnTo>
                  <a:lnTo>
                    <a:pt x="30317" y="1596424"/>
                  </a:lnTo>
                  <a:lnTo>
                    <a:pt x="41023" y="1641545"/>
                  </a:lnTo>
                  <a:lnTo>
                    <a:pt x="53264" y="1686050"/>
                  </a:lnTo>
                  <a:lnTo>
                    <a:pt x="67012" y="1729910"/>
                  </a:lnTo>
                  <a:lnTo>
                    <a:pt x="82236" y="1773096"/>
                  </a:lnTo>
                  <a:lnTo>
                    <a:pt x="98906" y="1815578"/>
                  </a:lnTo>
                  <a:lnTo>
                    <a:pt x="116994" y="1857326"/>
                  </a:lnTo>
                  <a:lnTo>
                    <a:pt x="136469" y="1898310"/>
                  </a:lnTo>
                  <a:lnTo>
                    <a:pt x="157301" y="1938501"/>
                  </a:lnTo>
                  <a:lnTo>
                    <a:pt x="179462" y="1977869"/>
                  </a:lnTo>
                  <a:lnTo>
                    <a:pt x="202921" y="2016385"/>
                  </a:lnTo>
                  <a:lnTo>
                    <a:pt x="227648" y="2054018"/>
                  </a:lnTo>
                  <a:lnTo>
                    <a:pt x="253614" y="2090739"/>
                  </a:lnTo>
                  <a:lnTo>
                    <a:pt x="280789" y="2126518"/>
                  </a:lnTo>
                  <a:lnTo>
                    <a:pt x="309144" y="2161325"/>
                  </a:lnTo>
                  <a:lnTo>
                    <a:pt x="338648" y="2195132"/>
                  </a:lnTo>
                  <a:lnTo>
                    <a:pt x="369272" y="2227907"/>
                  </a:lnTo>
                  <a:lnTo>
                    <a:pt x="400987" y="2259622"/>
                  </a:lnTo>
                  <a:lnTo>
                    <a:pt x="433762" y="2290247"/>
                  </a:lnTo>
                  <a:lnTo>
                    <a:pt x="467569" y="2319751"/>
                  </a:lnTo>
                  <a:lnTo>
                    <a:pt x="502376" y="2348106"/>
                  </a:lnTo>
                  <a:lnTo>
                    <a:pt x="538155" y="2375282"/>
                  </a:lnTo>
                  <a:lnTo>
                    <a:pt x="574876" y="2401248"/>
                  </a:lnTo>
                  <a:lnTo>
                    <a:pt x="612509" y="2425975"/>
                  </a:lnTo>
                  <a:lnTo>
                    <a:pt x="651024" y="2449434"/>
                  </a:lnTo>
                  <a:lnTo>
                    <a:pt x="690392" y="2471595"/>
                  </a:lnTo>
                  <a:lnTo>
                    <a:pt x="730583" y="2492428"/>
                  </a:lnTo>
                  <a:lnTo>
                    <a:pt x="771568" y="2511903"/>
                  </a:lnTo>
                  <a:lnTo>
                    <a:pt x="813316" y="2529991"/>
                  </a:lnTo>
                  <a:lnTo>
                    <a:pt x="855798" y="2546662"/>
                  </a:lnTo>
                  <a:lnTo>
                    <a:pt x="898984" y="2561886"/>
                  </a:lnTo>
                  <a:lnTo>
                    <a:pt x="942845" y="2575634"/>
                  </a:lnTo>
                  <a:lnTo>
                    <a:pt x="987350" y="2587875"/>
                  </a:lnTo>
                  <a:lnTo>
                    <a:pt x="1032471" y="2598581"/>
                  </a:lnTo>
                  <a:lnTo>
                    <a:pt x="1078177" y="2607721"/>
                  </a:lnTo>
                  <a:lnTo>
                    <a:pt x="1124439" y="2615266"/>
                  </a:lnTo>
                  <a:lnTo>
                    <a:pt x="1171227" y="2621186"/>
                  </a:lnTo>
                  <a:lnTo>
                    <a:pt x="1218511" y="2625452"/>
                  </a:lnTo>
                  <a:lnTo>
                    <a:pt x="1266262" y="2628033"/>
                  </a:lnTo>
                  <a:lnTo>
                    <a:pt x="1314450" y="2628900"/>
                  </a:lnTo>
                  <a:lnTo>
                    <a:pt x="1362636" y="2628033"/>
                  </a:lnTo>
                  <a:lnTo>
                    <a:pt x="1410387" y="2625452"/>
                  </a:lnTo>
                  <a:lnTo>
                    <a:pt x="1457670" y="2621186"/>
                  </a:lnTo>
                  <a:lnTo>
                    <a:pt x="1504457" y="2615266"/>
                  </a:lnTo>
                  <a:lnTo>
                    <a:pt x="1550719" y="2607721"/>
                  </a:lnTo>
                  <a:lnTo>
                    <a:pt x="1596424" y="2598581"/>
                  </a:lnTo>
                  <a:lnTo>
                    <a:pt x="1641545" y="2587875"/>
                  </a:lnTo>
                  <a:lnTo>
                    <a:pt x="1686050" y="2575634"/>
                  </a:lnTo>
                  <a:lnTo>
                    <a:pt x="1729910" y="2561886"/>
                  </a:lnTo>
                  <a:lnTo>
                    <a:pt x="1773096" y="2546662"/>
                  </a:lnTo>
                  <a:lnTo>
                    <a:pt x="1815578" y="2529991"/>
                  </a:lnTo>
                  <a:lnTo>
                    <a:pt x="1857326" y="2511903"/>
                  </a:lnTo>
                  <a:lnTo>
                    <a:pt x="1898310" y="2492428"/>
                  </a:lnTo>
                  <a:lnTo>
                    <a:pt x="1938501" y="2471595"/>
                  </a:lnTo>
                  <a:lnTo>
                    <a:pt x="1977869" y="2449434"/>
                  </a:lnTo>
                  <a:lnTo>
                    <a:pt x="2016385" y="2425975"/>
                  </a:lnTo>
                  <a:lnTo>
                    <a:pt x="2054018" y="2401248"/>
                  </a:lnTo>
                  <a:lnTo>
                    <a:pt x="2090739" y="2375282"/>
                  </a:lnTo>
                  <a:lnTo>
                    <a:pt x="2126518" y="2348106"/>
                  </a:lnTo>
                  <a:lnTo>
                    <a:pt x="2161325" y="2319751"/>
                  </a:lnTo>
                  <a:lnTo>
                    <a:pt x="2195132" y="2290247"/>
                  </a:lnTo>
                  <a:lnTo>
                    <a:pt x="2227907" y="2259622"/>
                  </a:lnTo>
                  <a:lnTo>
                    <a:pt x="2259622" y="2227907"/>
                  </a:lnTo>
                  <a:lnTo>
                    <a:pt x="2290247" y="2195132"/>
                  </a:lnTo>
                  <a:lnTo>
                    <a:pt x="2319751" y="2161325"/>
                  </a:lnTo>
                  <a:lnTo>
                    <a:pt x="2348106" y="2126518"/>
                  </a:lnTo>
                  <a:lnTo>
                    <a:pt x="2375282" y="2090739"/>
                  </a:lnTo>
                  <a:lnTo>
                    <a:pt x="2401248" y="2054018"/>
                  </a:lnTo>
                  <a:lnTo>
                    <a:pt x="2425975" y="2016385"/>
                  </a:lnTo>
                  <a:lnTo>
                    <a:pt x="2449434" y="1977869"/>
                  </a:lnTo>
                  <a:lnTo>
                    <a:pt x="2471595" y="1938501"/>
                  </a:lnTo>
                  <a:lnTo>
                    <a:pt x="2492428" y="1898310"/>
                  </a:lnTo>
                  <a:lnTo>
                    <a:pt x="2511903" y="1857326"/>
                  </a:lnTo>
                  <a:lnTo>
                    <a:pt x="2529991" y="1815578"/>
                  </a:lnTo>
                  <a:lnTo>
                    <a:pt x="2546662" y="1773096"/>
                  </a:lnTo>
                  <a:lnTo>
                    <a:pt x="2561886" y="1729910"/>
                  </a:lnTo>
                  <a:lnTo>
                    <a:pt x="2575634" y="1686050"/>
                  </a:lnTo>
                  <a:lnTo>
                    <a:pt x="2587875" y="1641545"/>
                  </a:lnTo>
                  <a:lnTo>
                    <a:pt x="2598581" y="1596424"/>
                  </a:lnTo>
                  <a:lnTo>
                    <a:pt x="2607721" y="1550719"/>
                  </a:lnTo>
                  <a:lnTo>
                    <a:pt x="2615266" y="1504457"/>
                  </a:lnTo>
                  <a:lnTo>
                    <a:pt x="2621186" y="1457670"/>
                  </a:lnTo>
                  <a:lnTo>
                    <a:pt x="2625452" y="1410387"/>
                  </a:lnTo>
                  <a:lnTo>
                    <a:pt x="2628033" y="1362636"/>
                  </a:lnTo>
                  <a:lnTo>
                    <a:pt x="2628900" y="1314450"/>
                  </a:lnTo>
                  <a:lnTo>
                    <a:pt x="2628033" y="1266263"/>
                  </a:lnTo>
                  <a:lnTo>
                    <a:pt x="2625452" y="1218512"/>
                  </a:lnTo>
                  <a:lnTo>
                    <a:pt x="2621186" y="1171229"/>
                  </a:lnTo>
                  <a:lnTo>
                    <a:pt x="2615266" y="1124442"/>
                  </a:lnTo>
                  <a:lnTo>
                    <a:pt x="2607721" y="1078180"/>
                  </a:lnTo>
                  <a:lnTo>
                    <a:pt x="2598581" y="1032475"/>
                  </a:lnTo>
                  <a:lnTo>
                    <a:pt x="2587875" y="987354"/>
                  </a:lnTo>
                  <a:lnTo>
                    <a:pt x="2575634" y="942849"/>
                  </a:lnTo>
                  <a:lnTo>
                    <a:pt x="2561886" y="898989"/>
                  </a:lnTo>
                  <a:lnTo>
                    <a:pt x="2546662" y="855803"/>
                  </a:lnTo>
                  <a:lnTo>
                    <a:pt x="2529991" y="813321"/>
                  </a:lnTo>
                  <a:lnTo>
                    <a:pt x="2511903" y="771573"/>
                  </a:lnTo>
                  <a:lnTo>
                    <a:pt x="2492428" y="730589"/>
                  </a:lnTo>
                  <a:lnTo>
                    <a:pt x="2471595" y="690398"/>
                  </a:lnTo>
                  <a:lnTo>
                    <a:pt x="2449434" y="651030"/>
                  </a:lnTo>
                  <a:lnTo>
                    <a:pt x="2425975" y="612514"/>
                  </a:lnTo>
                  <a:lnTo>
                    <a:pt x="2401248" y="574881"/>
                  </a:lnTo>
                  <a:lnTo>
                    <a:pt x="2375282" y="538160"/>
                  </a:lnTo>
                  <a:lnTo>
                    <a:pt x="2348106" y="502381"/>
                  </a:lnTo>
                  <a:lnTo>
                    <a:pt x="2319751" y="467574"/>
                  </a:lnTo>
                  <a:lnTo>
                    <a:pt x="2290247" y="433767"/>
                  </a:lnTo>
                  <a:lnTo>
                    <a:pt x="2259622" y="400992"/>
                  </a:lnTo>
                  <a:lnTo>
                    <a:pt x="2227907" y="369277"/>
                  </a:lnTo>
                  <a:lnTo>
                    <a:pt x="2195132" y="338652"/>
                  </a:lnTo>
                  <a:lnTo>
                    <a:pt x="2161325" y="309148"/>
                  </a:lnTo>
                  <a:lnTo>
                    <a:pt x="2126518" y="280793"/>
                  </a:lnTo>
                  <a:lnTo>
                    <a:pt x="2090739" y="253617"/>
                  </a:lnTo>
                  <a:lnTo>
                    <a:pt x="2054018" y="227651"/>
                  </a:lnTo>
                  <a:lnTo>
                    <a:pt x="2016385" y="202924"/>
                  </a:lnTo>
                  <a:lnTo>
                    <a:pt x="1977869" y="179465"/>
                  </a:lnTo>
                  <a:lnTo>
                    <a:pt x="1938501" y="157304"/>
                  </a:lnTo>
                  <a:lnTo>
                    <a:pt x="1898310" y="136471"/>
                  </a:lnTo>
                  <a:lnTo>
                    <a:pt x="1857326" y="116996"/>
                  </a:lnTo>
                  <a:lnTo>
                    <a:pt x="1815578" y="98908"/>
                  </a:lnTo>
                  <a:lnTo>
                    <a:pt x="1773096" y="82237"/>
                  </a:lnTo>
                  <a:lnTo>
                    <a:pt x="1729910" y="67013"/>
                  </a:lnTo>
                  <a:lnTo>
                    <a:pt x="1686050" y="53265"/>
                  </a:lnTo>
                  <a:lnTo>
                    <a:pt x="1641545" y="41024"/>
                  </a:lnTo>
                  <a:lnTo>
                    <a:pt x="1596424" y="30318"/>
                  </a:lnTo>
                  <a:lnTo>
                    <a:pt x="1550719" y="21178"/>
                  </a:lnTo>
                  <a:lnTo>
                    <a:pt x="1504457" y="13633"/>
                  </a:lnTo>
                  <a:lnTo>
                    <a:pt x="1457670" y="7713"/>
                  </a:lnTo>
                  <a:lnTo>
                    <a:pt x="1410387" y="3447"/>
                  </a:lnTo>
                  <a:lnTo>
                    <a:pt x="1362636" y="866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1C4AE6">
                <a:alpha val="3137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7425" y="1000125"/>
              <a:ext cx="2628900" cy="2628900"/>
            </a:xfrm>
            <a:custGeom>
              <a:avLst/>
              <a:gdLst/>
              <a:ahLst/>
              <a:cxnLst/>
              <a:rect l="l" t="t" r="r" b="b"/>
              <a:pathLst>
                <a:path w="2628900" h="2628900">
                  <a:moveTo>
                    <a:pt x="1314450" y="0"/>
                  </a:moveTo>
                  <a:lnTo>
                    <a:pt x="1266263" y="866"/>
                  </a:lnTo>
                  <a:lnTo>
                    <a:pt x="1218512" y="3447"/>
                  </a:lnTo>
                  <a:lnTo>
                    <a:pt x="1171229" y="7713"/>
                  </a:lnTo>
                  <a:lnTo>
                    <a:pt x="1124442" y="13633"/>
                  </a:lnTo>
                  <a:lnTo>
                    <a:pt x="1078180" y="21178"/>
                  </a:lnTo>
                  <a:lnTo>
                    <a:pt x="1032475" y="30318"/>
                  </a:lnTo>
                  <a:lnTo>
                    <a:pt x="987354" y="41024"/>
                  </a:lnTo>
                  <a:lnTo>
                    <a:pt x="942849" y="53265"/>
                  </a:lnTo>
                  <a:lnTo>
                    <a:pt x="898989" y="67013"/>
                  </a:lnTo>
                  <a:lnTo>
                    <a:pt x="855803" y="82237"/>
                  </a:lnTo>
                  <a:lnTo>
                    <a:pt x="813321" y="98908"/>
                  </a:lnTo>
                  <a:lnTo>
                    <a:pt x="771573" y="116996"/>
                  </a:lnTo>
                  <a:lnTo>
                    <a:pt x="730589" y="136471"/>
                  </a:lnTo>
                  <a:lnTo>
                    <a:pt x="690398" y="157304"/>
                  </a:lnTo>
                  <a:lnTo>
                    <a:pt x="651030" y="179465"/>
                  </a:lnTo>
                  <a:lnTo>
                    <a:pt x="612514" y="202924"/>
                  </a:lnTo>
                  <a:lnTo>
                    <a:pt x="574881" y="227651"/>
                  </a:lnTo>
                  <a:lnTo>
                    <a:pt x="538160" y="253617"/>
                  </a:lnTo>
                  <a:lnTo>
                    <a:pt x="502381" y="280793"/>
                  </a:lnTo>
                  <a:lnTo>
                    <a:pt x="467574" y="309148"/>
                  </a:lnTo>
                  <a:lnTo>
                    <a:pt x="433767" y="338652"/>
                  </a:lnTo>
                  <a:lnTo>
                    <a:pt x="400992" y="369277"/>
                  </a:lnTo>
                  <a:lnTo>
                    <a:pt x="369277" y="400992"/>
                  </a:lnTo>
                  <a:lnTo>
                    <a:pt x="338652" y="433767"/>
                  </a:lnTo>
                  <a:lnTo>
                    <a:pt x="309148" y="467574"/>
                  </a:lnTo>
                  <a:lnTo>
                    <a:pt x="280793" y="502381"/>
                  </a:lnTo>
                  <a:lnTo>
                    <a:pt x="253617" y="538160"/>
                  </a:lnTo>
                  <a:lnTo>
                    <a:pt x="227651" y="574881"/>
                  </a:lnTo>
                  <a:lnTo>
                    <a:pt x="202924" y="612514"/>
                  </a:lnTo>
                  <a:lnTo>
                    <a:pt x="179465" y="651030"/>
                  </a:lnTo>
                  <a:lnTo>
                    <a:pt x="157304" y="690398"/>
                  </a:lnTo>
                  <a:lnTo>
                    <a:pt x="136471" y="730589"/>
                  </a:lnTo>
                  <a:lnTo>
                    <a:pt x="116996" y="771573"/>
                  </a:lnTo>
                  <a:lnTo>
                    <a:pt x="98908" y="813321"/>
                  </a:lnTo>
                  <a:lnTo>
                    <a:pt x="82237" y="855803"/>
                  </a:lnTo>
                  <a:lnTo>
                    <a:pt x="67013" y="898989"/>
                  </a:lnTo>
                  <a:lnTo>
                    <a:pt x="53265" y="942849"/>
                  </a:lnTo>
                  <a:lnTo>
                    <a:pt x="41024" y="987354"/>
                  </a:lnTo>
                  <a:lnTo>
                    <a:pt x="30318" y="1032475"/>
                  </a:lnTo>
                  <a:lnTo>
                    <a:pt x="21178" y="1078180"/>
                  </a:lnTo>
                  <a:lnTo>
                    <a:pt x="13633" y="1124442"/>
                  </a:lnTo>
                  <a:lnTo>
                    <a:pt x="7713" y="1171229"/>
                  </a:lnTo>
                  <a:lnTo>
                    <a:pt x="3447" y="1218512"/>
                  </a:lnTo>
                  <a:lnTo>
                    <a:pt x="866" y="1266263"/>
                  </a:lnTo>
                  <a:lnTo>
                    <a:pt x="0" y="1314450"/>
                  </a:lnTo>
                  <a:lnTo>
                    <a:pt x="866" y="1362636"/>
                  </a:lnTo>
                  <a:lnTo>
                    <a:pt x="3447" y="1410387"/>
                  </a:lnTo>
                  <a:lnTo>
                    <a:pt x="7713" y="1457670"/>
                  </a:lnTo>
                  <a:lnTo>
                    <a:pt x="13633" y="1504457"/>
                  </a:lnTo>
                  <a:lnTo>
                    <a:pt x="21178" y="1550719"/>
                  </a:lnTo>
                  <a:lnTo>
                    <a:pt x="30318" y="1596424"/>
                  </a:lnTo>
                  <a:lnTo>
                    <a:pt x="41024" y="1641545"/>
                  </a:lnTo>
                  <a:lnTo>
                    <a:pt x="53265" y="1686050"/>
                  </a:lnTo>
                  <a:lnTo>
                    <a:pt x="67013" y="1729910"/>
                  </a:lnTo>
                  <a:lnTo>
                    <a:pt x="82237" y="1773096"/>
                  </a:lnTo>
                  <a:lnTo>
                    <a:pt x="98908" y="1815578"/>
                  </a:lnTo>
                  <a:lnTo>
                    <a:pt x="116996" y="1857326"/>
                  </a:lnTo>
                  <a:lnTo>
                    <a:pt x="136471" y="1898310"/>
                  </a:lnTo>
                  <a:lnTo>
                    <a:pt x="157304" y="1938501"/>
                  </a:lnTo>
                  <a:lnTo>
                    <a:pt x="179465" y="1977869"/>
                  </a:lnTo>
                  <a:lnTo>
                    <a:pt x="202924" y="2016385"/>
                  </a:lnTo>
                  <a:lnTo>
                    <a:pt x="227651" y="2054018"/>
                  </a:lnTo>
                  <a:lnTo>
                    <a:pt x="253617" y="2090739"/>
                  </a:lnTo>
                  <a:lnTo>
                    <a:pt x="280793" y="2126518"/>
                  </a:lnTo>
                  <a:lnTo>
                    <a:pt x="309148" y="2161325"/>
                  </a:lnTo>
                  <a:lnTo>
                    <a:pt x="338652" y="2195132"/>
                  </a:lnTo>
                  <a:lnTo>
                    <a:pt x="369277" y="2227907"/>
                  </a:lnTo>
                  <a:lnTo>
                    <a:pt x="400992" y="2259622"/>
                  </a:lnTo>
                  <a:lnTo>
                    <a:pt x="433767" y="2290247"/>
                  </a:lnTo>
                  <a:lnTo>
                    <a:pt x="467574" y="2319751"/>
                  </a:lnTo>
                  <a:lnTo>
                    <a:pt x="502381" y="2348106"/>
                  </a:lnTo>
                  <a:lnTo>
                    <a:pt x="538160" y="2375282"/>
                  </a:lnTo>
                  <a:lnTo>
                    <a:pt x="574881" y="2401248"/>
                  </a:lnTo>
                  <a:lnTo>
                    <a:pt x="612514" y="2425975"/>
                  </a:lnTo>
                  <a:lnTo>
                    <a:pt x="651030" y="2449434"/>
                  </a:lnTo>
                  <a:lnTo>
                    <a:pt x="690398" y="2471595"/>
                  </a:lnTo>
                  <a:lnTo>
                    <a:pt x="730589" y="2492428"/>
                  </a:lnTo>
                  <a:lnTo>
                    <a:pt x="771573" y="2511903"/>
                  </a:lnTo>
                  <a:lnTo>
                    <a:pt x="813321" y="2529991"/>
                  </a:lnTo>
                  <a:lnTo>
                    <a:pt x="855803" y="2546662"/>
                  </a:lnTo>
                  <a:lnTo>
                    <a:pt x="898989" y="2561886"/>
                  </a:lnTo>
                  <a:lnTo>
                    <a:pt x="942849" y="2575634"/>
                  </a:lnTo>
                  <a:lnTo>
                    <a:pt x="987354" y="2587875"/>
                  </a:lnTo>
                  <a:lnTo>
                    <a:pt x="1032475" y="2598581"/>
                  </a:lnTo>
                  <a:lnTo>
                    <a:pt x="1078180" y="2607721"/>
                  </a:lnTo>
                  <a:lnTo>
                    <a:pt x="1124442" y="2615266"/>
                  </a:lnTo>
                  <a:lnTo>
                    <a:pt x="1171229" y="2621186"/>
                  </a:lnTo>
                  <a:lnTo>
                    <a:pt x="1218512" y="2625452"/>
                  </a:lnTo>
                  <a:lnTo>
                    <a:pt x="1266263" y="2628033"/>
                  </a:lnTo>
                  <a:lnTo>
                    <a:pt x="1314450" y="2628900"/>
                  </a:lnTo>
                  <a:lnTo>
                    <a:pt x="1362636" y="2628033"/>
                  </a:lnTo>
                  <a:lnTo>
                    <a:pt x="1410387" y="2625452"/>
                  </a:lnTo>
                  <a:lnTo>
                    <a:pt x="1457670" y="2621186"/>
                  </a:lnTo>
                  <a:lnTo>
                    <a:pt x="1504457" y="2615266"/>
                  </a:lnTo>
                  <a:lnTo>
                    <a:pt x="1550719" y="2607721"/>
                  </a:lnTo>
                  <a:lnTo>
                    <a:pt x="1596424" y="2598581"/>
                  </a:lnTo>
                  <a:lnTo>
                    <a:pt x="1641545" y="2587875"/>
                  </a:lnTo>
                  <a:lnTo>
                    <a:pt x="1686050" y="2575634"/>
                  </a:lnTo>
                  <a:lnTo>
                    <a:pt x="1729910" y="2561886"/>
                  </a:lnTo>
                  <a:lnTo>
                    <a:pt x="1773096" y="2546662"/>
                  </a:lnTo>
                  <a:lnTo>
                    <a:pt x="1815578" y="2529991"/>
                  </a:lnTo>
                  <a:lnTo>
                    <a:pt x="1857326" y="2511903"/>
                  </a:lnTo>
                  <a:lnTo>
                    <a:pt x="1898310" y="2492428"/>
                  </a:lnTo>
                  <a:lnTo>
                    <a:pt x="1938501" y="2471595"/>
                  </a:lnTo>
                  <a:lnTo>
                    <a:pt x="1977869" y="2449434"/>
                  </a:lnTo>
                  <a:lnTo>
                    <a:pt x="2016385" y="2425975"/>
                  </a:lnTo>
                  <a:lnTo>
                    <a:pt x="2054018" y="2401248"/>
                  </a:lnTo>
                  <a:lnTo>
                    <a:pt x="2090739" y="2375282"/>
                  </a:lnTo>
                  <a:lnTo>
                    <a:pt x="2126518" y="2348106"/>
                  </a:lnTo>
                  <a:lnTo>
                    <a:pt x="2161325" y="2319751"/>
                  </a:lnTo>
                  <a:lnTo>
                    <a:pt x="2195132" y="2290247"/>
                  </a:lnTo>
                  <a:lnTo>
                    <a:pt x="2227907" y="2259622"/>
                  </a:lnTo>
                  <a:lnTo>
                    <a:pt x="2259622" y="2227907"/>
                  </a:lnTo>
                  <a:lnTo>
                    <a:pt x="2290247" y="2195132"/>
                  </a:lnTo>
                  <a:lnTo>
                    <a:pt x="2319751" y="2161325"/>
                  </a:lnTo>
                  <a:lnTo>
                    <a:pt x="2348106" y="2126518"/>
                  </a:lnTo>
                  <a:lnTo>
                    <a:pt x="2375282" y="2090739"/>
                  </a:lnTo>
                  <a:lnTo>
                    <a:pt x="2401248" y="2054018"/>
                  </a:lnTo>
                  <a:lnTo>
                    <a:pt x="2425975" y="2016385"/>
                  </a:lnTo>
                  <a:lnTo>
                    <a:pt x="2449434" y="1977869"/>
                  </a:lnTo>
                  <a:lnTo>
                    <a:pt x="2471595" y="1938501"/>
                  </a:lnTo>
                  <a:lnTo>
                    <a:pt x="2492428" y="1898310"/>
                  </a:lnTo>
                  <a:lnTo>
                    <a:pt x="2511903" y="1857326"/>
                  </a:lnTo>
                  <a:lnTo>
                    <a:pt x="2529991" y="1815578"/>
                  </a:lnTo>
                  <a:lnTo>
                    <a:pt x="2546662" y="1773096"/>
                  </a:lnTo>
                  <a:lnTo>
                    <a:pt x="2561886" y="1729910"/>
                  </a:lnTo>
                  <a:lnTo>
                    <a:pt x="2575634" y="1686050"/>
                  </a:lnTo>
                  <a:lnTo>
                    <a:pt x="2587875" y="1641545"/>
                  </a:lnTo>
                  <a:lnTo>
                    <a:pt x="2598581" y="1596424"/>
                  </a:lnTo>
                  <a:lnTo>
                    <a:pt x="2607721" y="1550719"/>
                  </a:lnTo>
                  <a:lnTo>
                    <a:pt x="2615266" y="1504457"/>
                  </a:lnTo>
                  <a:lnTo>
                    <a:pt x="2621186" y="1457670"/>
                  </a:lnTo>
                  <a:lnTo>
                    <a:pt x="2625452" y="1410387"/>
                  </a:lnTo>
                  <a:lnTo>
                    <a:pt x="2628033" y="1362636"/>
                  </a:lnTo>
                  <a:lnTo>
                    <a:pt x="2628900" y="1314450"/>
                  </a:lnTo>
                  <a:lnTo>
                    <a:pt x="2628033" y="1266263"/>
                  </a:lnTo>
                  <a:lnTo>
                    <a:pt x="2625452" y="1218512"/>
                  </a:lnTo>
                  <a:lnTo>
                    <a:pt x="2621186" y="1171229"/>
                  </a:lnTo>
                  <a:lnTo>
                    <a:pt x="2615266" y="1124442"/>
                  </a:lnTo>
                  <a:lnTo>
                    <a:pt x="2607721" y="1078180"/>
                  </a:lnTo>
                  <a:lnTo>
                    <a:pt x="2598581" y="1032475"/>
                  </a:lnTo>
                  <a:lnTo>
                    <a:pt x="2587875" y="987354"/>
                  </a:lnTo>
                  <a:lnTo>
                    <a:pt x="2575634" y="942849"/>
                  </a:lnTo>
                  <a:lnTo>
                    <a:pt x="2561886" y="898989"/>
                  </a:lnTo>
                  <a:lnTo>
                    <a:pt x="2546662" y="855803"/>
                  </a:lnTo>
                  <a:lnTo>
                    <a:pt x="2529991" y="813321"/>
                  </a:lnTo>
                  <a:lnTo>
                    <a:pt x="2511903" y="771573"/>
                  </a:lnTo>
                  <a:lnTo>
                    <a:pt x="2492428" y="730589"/>
                  </a:lnTo>
                  <a:lnTo>
                    <a:pt x="2471595" y="690398"/>
                  </a:lnTo>
                  <a:lnTo>
                    <a:pt x="2449434" y="651030"/>
                  </a:lnTo>
                  <a:lnTo>
                    <a:pt x="2425975" y="612514"/>
                  </a:lnTo>
                  <a:lnTo>
                    <a:pt x="2401248" y="574881"/>
                  </a:lnTo>
                  <a:lnTo>
                    <a:pt x="2375282" y="538160"/>
                  </a:lnTo>
                  <a:lnTo>
                    <a:pt x="2348106" y="502381"/>
                  </a:lnTo>
                  <a:lnTo>
                    <a:pt x="2319751" y="467574"/>
                  </a:lnTo>
                  <a:lnTo>
                    <a:pt x="2290247" y="433767"/>
                  </a:lnTo>
                  <a:lnTo>
                    <a:pt x="2259622" y="400992"/>
                  </a:lnTo>
                  <a:lnTo>
                    <a:pt x="2227907" y="369277"/>
                  </a:lnTo>
                  <a:lnTo>
                    <a:pt x="2195132" y="338652"/>
                  </a:lnTo>
                  <a:lnTo>
                    <a:pt x="2161325" y="309148"/>
                  </a:lnTo>
                  <a:lnTo>
                    <a:pt x="2126518" y="280793"/>
                  </a:lnTo>
                  <a:lnTo>
                    <a:pt x="2090739" y="253617"/>
                  </a:lnTo>
                  <a:lnTo>
                    <a:pt x="2054018" y="227651"/>
                  </a:lnTo>
                  <a:lnTo>
                    <a:pt x="2016385" y="202924"/>
                  </a:lnTo>
                  <a:lnTo>
                    <a:pt x="1977869" y="179465"/>
                  </a:lnTo>
                  <a:lnTo>
                    <a:pt x="1938501" y="157304"/>
                  </a:lnTo>
                  <a:lnTo>
                    <a:pt x="1898310" y="136471"/>
                  </a:lnTo>
                  <a:lnTo>
                    <a:pt x="1857326" y="116996"/>
                  </a:lnTo>
                  <a:lnTo>
                    <a:pt x="1815578" y="98908"/>
                  </a:lnTo>
                  <a:lnTo>
                    <a:pt x="1773096" y="82237"/>
                  </a:lnTo>
                  <a:lnTo>
                    <a:pt x="1729910" y="67013"/>
                  </a:lnTo>
                  <a:lnTo>
                    <a:pt x="1686050" y="53265"/>
                  </a:lnTo>
                  <a:lnTo>
                    <a:pt x="1641545" y="41024"/>
                  </a:lnTo>
                  <a:lnTo>
                    <a:pt x="1596424" y="30318"/>
                  </a:lnTo>
                  <a:lnTo>
                    <a:pt x="1550719" y="21178"/>
                  </a:lnTo>
                  <a:lnTo>
                    <a:pt x="1504457" y="13633"/>
                  </a:lnTo>
                  <a:lnTo>
                    <a:pt x="1457670" y="7713"/>
                  </a:lnTo>
                  <a:lnTo>
                    <a:pt x="1410387" y="3447"/>
                  </a:lnTo>
                  <a:lnTo>
                    <a:pt x="1362636" y="866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00AF50">
                <a:alpha val="2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43025" y="2143125"/>
              <a:ext cx="2638425" cy="2638425"/>
            </a:xfrm>
            <a:custGeom>
              <a:avLst/>
              <a:gdLst/>
              <a:ahLst/>
              <a:cxnLst/>
              <a:rect l="l" t="t" r="r" b="b"/>
              <a:pathLst>
                <a:path w="2638425" h="2638425">
                  <a:moveTo>
                    <a:pt x="1319276" y="0"/>
                  </a:moveTo>
                  <a:lnTo>
                    <a:pt x="1270912" y="870"/>
                  </a:lnTo>
                  <a:lnTo>
                    <a:pt x="1222986" y="3460"/>
                  </a:lnTo>
                  <a:lnTo>
                    <a:pt x="1175529" y="7741"/>
                  </a:lnTo>
                  <a:lnTo>
                    <a:pt x="1128570" y="13683"/>
                  </a:lnTo>
                  <a:lnTo>
                    <a:pt x="1082138" y="21255"/>
                  </a:lnTo>
                  <a:lnTo>
                    <a:pt x="1036265" y="30429"/>
                  </a:lnTo>
                  <a:lnTo>
                    <a:pt x="990979" y="41174"/>
                  </a:lnTo>
                  <a:lnTo>
                    <a:pt x="946310" y="53460"/>
                  </a:lnTo>
                  <a:lnTo>
                    <a:pt x="902289" y="67258"/>
                  </a:lnTo>
                  <a:lnTo>
                    <a:pt x="858944" y="82537"/>
                  </a:lnTo>
                  <a:lnTo>
                    <a:pt x="816306" y="99269"/>
                  </a:lnTo>
                  <a:lnTo>
                    <a:pt x="774405" y="117423"/>
                  </a:lnTo>
                  <a:lnTo>
                    <a:pt x="733270" y="136969"/>
                  </a:lnTo>
                  <a:lnTo>
                    <a:pt x="692932" y="157877"/>
                  </a:lnTo>
                  <a:lnTo>
                    <a:pt x="653419" y="180118"/>
                  </a:lnTo>
                  <a:lnTo>
                    <a:pt x="614762" y="203663"/>
                  </a:lnTo>
                  <a:lnTo>
                    <a:pt x="576991" y="228480"/>
                  </a:lnTo>
                  <a:lnTo>
                    <a:pt x="540136" y="254540"/>
                  </a:lnTo>
                  <a:lnTo>
                    <a:pt x="504225" y="281814"/>
                  </a:lnTo>
                  <a:lnTo>
                    <a:pt x="469290" y="310271"/>
                  </a:lnTo>
                  <a:lnTo>
                    <a:pt x="435359" y="339882"/>
                  </a:lnTo>
                  <a:lnTo>
                    <a:pt x="402463" y="370617"/>
                  </a:lnTo>
                  <a:lnTo>
                    <a:pt x="370632" y="402446"/>
                  </a:lnTo>
                  <a:lnTo>
                    <a:pt x="339895" y="435340"/>
                  </a:lnTo>
                  <a:lnTo>
                    <a:pt x="310282" y="469268"/>
                  </a:lnTo>
                  <a:lnTo>
                    <a:pt x="281823" y="504201"/>
                  </a:lnTo>
                  <a:lnTo>
                    <a:pt x="254548" y="540108"/>
                  </a:lnTo>
                  <a:lnTo>
                    <a:pt x="228486" y="576961"/>
                  </a:lnTo>
                  <a:lnTo>
                    <a:pt x="203668" y="614728"/>
                  </a:lnTo>
                  <a:lnTo>
                    <a:pt x="180123" y="653382"/>
                  </a:lnTo>
                  <a:lnTo>
                    <a:pt x="157881" y="692890"/>
                  </a:lnTo>
                  <a:lnTo>
                    <a:pt x="136972" y="733225"/>
                  </a:lnTo>
                  <a:lnTo>
                    <a:pt x="117425" y="774355"/>
                  </a:lnTo>
                  <a:lnTo>
                    <a:pt x="99271" y="816252"/>
                  </a:lnTo>
                  <a:lnTo>
                    <a:pt x="82539" y="858884"/>
                  </a:lnTo>
                  <a:lnTo>
                    <a:pt x="67259" y="902224"/>
                  </a:lnTo>
                  <a:lnTo>
                    <a:pt x="53461" y="946240"/>
                  </a:lnTo>
                  <a:lnTo>
                    <a:pt x="41174" y="990902"/>
                  </a:lnTo>
                  <a:lnTo>
                    <a:pt x="30429" y="1036182"/>
                  </a:lnTo>
                  <a:lnTo>
                    <a:pt x="21255" y="1082049"/>
                  </a:lnTo>
                  <a:lnTo>
                    <a:pt x="13683" y="1128474"/>
                  </a:lnTo>
                  <a:lnTo>
                    <a:pt x="7741" y="1175426"/>
                  </a:lnTo>
                  <a:lnTo>
                    <a:pt x="3460" y="1222875"/>
                  </a:lnTo>
                  <a:lnTo>
                    <a:pt x="870" y="1270793"/>
                  </a:lnTo>
                  <a:lnTo>
                    <a:pt x="0" y="1319149"/>
                  </a:lnTo>
                  <a:lnTo>
                    <a:pt x="870" y="1367512"/>
                  </a:lnTo>
                  <a:lnTo>
                    <a:pt x="3460" y="1415438"/>
                  </a:lnTo>
                  <a:lnTo>
                    <a:pt x="7741" y="1462895"/>
                  </a:lnTo>
                  <a:lnTo>
                    <a:pt x="13683" y="1509854"/>
                  </a:lnTo>
                  <a:lnTo>
                    <a:pt x="21255" y="1556286"/>
                  </a:lnTo>
                  <a:lnTo>
                    <a:pt x="30429" y="1602159"/>
                  </a:lnTo>
                  <a:lnTo>
                    <a:pt x="41174" y="1647445"/>
                  </a:lnTo>
                  <a:lnTo>
                    <a:pt x="53461" y="1692114"/>
                  </a:lnTo>
                  <a:lnTo>
                    <a:pt x="67259" y="1736135"/>
                  </a:lnTo>
                  <a:lnTo>
                    <a:pt x="82539" y="1779480"/>
                  </a:lnTo>
                  <a:lnTo>
                    <a:pt x="99271" y="1822118"/>
                  </a:lnTo>
                  <a:lnTo>
                    <a:pt x="117425" y="1864019"/>
                  </a:lnTo>
                  <a:lnTo>
                    <a:pt x="136972" y="1905154"/>
                  </a:lnTo>
                  <a:lnTo>
                    <a:pt x="157881" y="1945492"/>
                  </a:lnTo>
                  <a:lnTo>
                    <a:pt x="180123" y="1985005"/>
                  </a:lnTo>
                  <a:lnTo>
                    <a:pt x="203668" y="2023662"/>
                  </a:lnTo>
                  <a:lnTo>
                    <a:pt x="228486" y="2061433"/>
                  </a:lnTo>
                  <a:lnTo>
                    <a:pt x="254548" y="2098288"/>
                  </a:lnTo>
                  <a:lnTo>
                    <a:pt x="281823" y="2134199"/>
                  </a:lnTo>
                  <a:lnTo>
                    <a:pt x="310282" y="2169134"/>
                  </a:lnTo>
                  <a:lnTo>
                    <a:pt x="339895" y="2203065"/>
                  </a:lnTo>
                  <a:lnTo>
                    <a:pt x="370632" y="2235961"/>
                  </a:lnTo>
                  <a:lnTo>
                    <a:pt x="402463" y="2267792"/>
                  </a:lnTo>
                  <a:lnTo>
                    <a:pt x="435359" y="2298529"/>
                  </a:lnTo>
                  <a:lnTo>
                    <a:pt x="469290" y="2328142"/>
                  </a:lnTo>
                  <a:lnTo>
                    <a:pt x="504225" y="2356601"/>
                  </a:lnTo>
                  <a:lnTo>
                    <a:pt x="540136" y="2383876"/>
                  </a:lnTo>
                  <a:lnTo>
                    <a:pt x="576991" y="2409938"/>
                  </a:lnTo>
                  <a:lnTo>
                    <a:pt x="614762" y="2434756"/>
                  </a:lnTo>
                  <a:lnTo>
                    <a:pt x="653419" y="2458301"/>
                  </a:lnTo>
                  <a:lnTo>
                    <a:pt x="692932" y="2480543"/>
                  </a:lnTo>
                  <a:lnTo>
                    <a:pt x="733270" y="2501452"/>
                  </a:lnTo>
                  <a:lnTo>
                    <a:pt x="774405" y="2520999"/>
                  </a:lnTo>
                  <a:lnTo>
                    <a:pt x="816306" y="2539153"/>
                  </a:lnTo>
                  <a:lnTo>
                    <a:pt x="858944" y="2555885"/>
                  </a:lnTo>
                  <a:lnTo>
                    <a:pt x="902289" y="2571165"/>
                  </a:lnTo>
                  <a:lnTo>
                    <a:pt x="946310" y="2584963"/>
                  </a:lnTo>
                  <a:lnTo>
                    <a:pt x="990979" y="2597250"/>
                  </a:lnTo>
                  <a:lnTo>
                    <a:pt x="1036265" y="2607995"/>
                  </a:lnTo>
                  <a:lnTo>
                    <a:pt x="1082138" y="2617169"/>
                  </a:lnTo>
                  <a:lnTo>
                    <a:pt x="1128570" y="2624741"/>
                  </a:lnTo>
                  <a:lnTo>
                    <a:pt x="1175529" y="2630683"/>
                  </a:lnTo>
                  <a:lnTo>
                    <a:pt x="1222986" y="2634964"/>
                  </a:lnTo>
                  <a:lnTo>
                    <a:pt x="1270912" y="2637554"/>
                  </a:lnTo>
                  <a:lnTo>
                    <a:pt x="1319276" y="2638425"/>
                  </a:lnTo>
                  <a:lnTo>
                    <a:pt x="1367631" y="2637554"/>
                  </a:lnTo>
                  <a:lnTo>
                    <a:pt x="1415549" y="2634964"/>
                  </a:lnTo>
                  <a:lnTo>
                    <a:pt x="1462998" y="2630683"/>
                  </a:lnTo>
                  <a:lnTo>
                    <a:pt x="1509950" y="2624741"/>
                  </a:lnTo>
                  <a:lnTo>
                    <a:pt x="1556375" y="2617169"/>
                  </a:lnTo>
                  <a:lnTo>
                    <a:pt x="1602242" y="2607995"/>
                  </a:lnTo>
                  <a:lnTo>
                    <a:pt x="1647522" y="2597250"/>
                  </a:lnTo>
                  <a:lnTo>
                    <a:pt x="1692184" y="2584963"/>
                  </a:lnTo>
                  <a:lnTo>
                    <a:pt x="1736200" y="2571165"/>
                  </a:lnTo>
                  <a:lnTo>
                    <a:pt x="1779540" y="2555885"/>
                  </a:lnTo>
                  <a:lnTo>
                    <a:pt x="1822172" y="2539153"/>
                  </a:lnTo>
                  <a:lnTo>
                    <a:pt x="1864069" y="2520999"/>
                  </a:lnTo>
                  <a:lnTo>
                    <a:pt x="1905199" y="2501452"/>
                  </a:lnTo>
                  <a:lnTo>
                    <a:pt x="1945534" y="2480543"/>
                  </a:lnTo>
                  <a:lnTo>
                    <a:pt x="1985042" y="2458301"/>
                  </a:lnTo>
                  <a:lnTo>
                    <a:pt x="2023696" y="2434756"/>
                  </a:lnTo>
                  <a:lnTo>
                    <a:pt x="2061463" y="2409938"/>
                  </a:lnTo>
                  <a:lnTo>
                    <a:pt x="2098316" y="2383876"/>
                  </a:lnTo>
                  <a:lnTo>
                    <a:pt x="2134223" y="2356601"/>
                  </a:lnTo>
                  <a:lnTo>
                    <a:pt x="2169156" y="2328142"/>
                  </a:lnTo>
                  <a:lnTo>
                    <a:pt x="2203084" y="2298529"/>
                  </a:lnTo>
                  <a:lnTo>
                    <a:pt x="2235978" y="2267792"/>
                  </a:lnTo>
                  <a:lnTo>
                    <a:pt x="2267807" y="2235961"/>
                  </a:lnTo>
                  <a:lnTo>
                    <a:pt x="2298542" y="2203065"/>
                  </a:lnTo>
                  <a:lnTo>
                    <a:pt x="2328153" y="2169134"/>
                  </a:lnTo>
                  <a:lnTo>
                    <a:pt x="2356610" y="2134199"/>
                  </a:lnTo>
                  <a:lnTo>
                    <a:pt x="2383884" y="2098288"/>
                  </a:lnTo>
                  <a:lnTo>
                    <a:pt x="2409944" y="2061433"/>
                  </a:lnTo>
                  <a:lnTo>
                    <a:pt x="2434761" y="2023662"/>
                  </a:lnTo>
                  <a:lnTo>
                    <a:pt x="2458306" y="1985005"/>
                  </a:lnTo>
                  <a:lnTo>
                    <a:pt x="2480547" y="1945492"/>
                  </a:lnTo>
                  <a:lnTo>
                    <a:pt x="2501455" y="1905154"/>
                  </a:lnTo>
                  <a:lnTo>
                    <a:pt x="2521001" y="1864019"/>
                  </a:lnTo>
                  <a:lnTo>
                    <a:pt x="2539155" y="1822118"/>
                  </a:lnTo>
                  <a:lnTo>
                    <a:pt x="2555887" y="1779480"/>
                  </a:lnTo>
                  <a:lnTo>
                    <a:pt x="2571166" y="1736135"/>
                  </a:lnTo>
                  <a:lnTo>
                    <a:pt x="2584964" y="1692114"/>
                  </a:lnTo>
                  <a:lnTo>
                    <a:pt x="2597250" y="1647445"/>
                  </a:lnTo>
                  <a:lnTo>
                    <a:pt x="2607995" y="1602159"/>
                  </a:lnTo>
                  <a:lnTo>
                    <a:pt x="2617169" y="1556286"/>
                  </a:lnTo>
                  <a:lnTo>
                    <a:pt x="2624741" y="1509854"/>
                  </a:lnTo>
                  <a:lnTo>
                    <a:pt x="2630683" y="1462895"/>
                  </a:lnTo>
                  <a:lnTo>
                    <a:pt x="2634964" y="1415438"/>
                  </a:lnTo>
                  <a:lnTo>
                    <a:pt x="2637554" y="1367512"/>
                  </a:lnTo>
                  <a:lnTo>
                    <a:pt x="2638425" y="1319149"/>
                  </a:lnTo>
                  <a:lnTo>
                    <a:pt x="2637554" y="1270793"/>
                  </a:lnTo>
                  <a:lnTo>
                    <a:pt x="2634964" y="1222875"/>
                  </a:lnTo>
                  <a:lnTo>
                    <a:pt x="2630683" y="1175426"/>
                  </a:lnTo>
                  <a:lnTo>
                    <a:pt x="2624741" y="1128474"/>
                  </a:lnTo>
                  <a:lnTo>
                    <a:pt x="2617169" y="1082049"/>
                  </a:lnTo>
                  <a:lnTo>
                    <a:pt x="2607995" y="1036182"/>
                  </a:lnTo>
                  <a:lnTo>
                    <a:pt x="2597250" y="990902"/>
                  </a:lnTo>
                  <a:lnTo>
                    <a:pt x="2584964" y="946240"/>
                  </a:lnTo>
                  <a:lnTo>
                    <a:pt x="2571166" y="902224"/>
                  </a:lnTo>
                  <a:lnTo>
                    <a:pt x="2555887" y="858884"/>
                  </a:lnTo>
                  <a:lnTo>
                    <a:pt x="2539155" y="816252"/>
                  </a:lnTo>
                  <a:lnTo>
                    <a:pt x="2521001" y="774355"/>
                  </a:lnTo>
                  <a:lnTo>
                    <a:pt x="2501455" y="733225"/>
                  </a:lnTo>
                  <a:lnTo>
                    <a:pt x="2480547" y="692890"/>
                  </a:lnTo>
                  <a:lnTo>
                    <a:pt x="2458306" y="653382"/>
                  </a:lnTo>
                  <a:lnTo>
                    <a:pt x="2434761" y="614728"/>
                  </a:lnTo>
                  <a:lnTo>
                    <a:pt x="2409944" y="576961"/>
                  </a:lnTo>
                  <a:lnTo>
                    <a:pt x="2383884" y="540108"/>
                  </a:lnTo>
                  <a:lnTo>
                    <a:pt x="2356610" y="504201"/>
                  </a:lnTo>
                  <a:lnTo>
                    <a:pt x="2328153" y="469268"/>
                  </a:lnTo>
                  <a:lnTo>
                    <a:pt x="2298542" y="435340"/>
                  </a:lnTo>
                  <a:lnTo>
                    <a:pt x="2267807" y="402446"/>
                  </a:lnTo>
                  <a:lnTo>
                    <a:pt x="2235978" y="370617"/>
                  </a:lnTo>
                  <a:lnTo>
                    <a:pt x="2203084" y="339882"/>
                  </a:lnTo>
                  <a:lnTo>
                    <a:pt x="2169156" y="310271"/>
                  </a:lnTo>
                  <a:lnTo>
                    <a:pt x="2134223" y="281814"/>
                  </a:lnTo>
                  <a:lnTo>
                    <a:pt x="2098316" y="254540"/>
                  </a:lnTo>
                  <a:lnTo>
                    <a:pt x="2061463" y="228480"/>
                  </a:lnTo>
                  <a:lnTo>
                    <a:pt x="2023696" y="203663"/>
                  </a:lnTo>
                  <a:lnTo>
                    <a:pt x="1985042" y="180118"/>
                  </a:lnTo>
                  <a:lnTo>
                    <a:pt x="1945534" y="157877"/>
                  </a:lnTo>
                  <a:lnTo>
                    <a:pt x="1905199" y="136969"/>
                  </a:lnTo>
                  <a:lnTo>
                    <a:pt x="1864069" y="117423"/>
                  </a:lnTo>
                  <a:lnTo>
                    <a:pt x="1822172" y="99269"/>
                  </a:lnTo>
                  <a:lnTo>
                    <a:pt x="1779540" y="82537"/>
                  </a:lnTo>
                  <a:lnTo>
                    <a:pt x="1736200" y="67258"/>
                  </a:lnTo>
                  <a:lnTo>
                    <a:pt x="1692184" y="53460"/>
                  </a:lnTo>
                  <a:lnTo>
                    <a:pt x="1647522" y="41174"/>
                  </a:lnTo>
                  <a:lnTo>
                    <a:pt x="1602242" y="30429"/>
                  </a:lnTo>
                  <a:lnTo>
                    <a:pt x="1556375" y="21255"/>
                  </a:lnTo>
                  <a:lnTo>
                    <a:pt x="1509950" y="13683"/>
                  </a:lnTo>
                  <a:lnTo>
                    <a:pt x="1462998" y="7741"/>
                  </a:lnTo>
                  <a:lnTo>
                    <a:pt x="1415549" y="3460"/>
                  </a:lnTo>
                  <a:lnTo>
                    <a:pt x="1367631" y="870"/>
                  </a:lnTo>
                  <a:lnTo>
                    <a:pt x="1319276" y="0"/>
                  </a:lnTo>
                  <a:close/>
                </a:path>
              </a:pathLst>
            </a:custGeom>
            <a:solidFill>
              <a:srgbClr val="FD7B77">
                <a:alpha val="3137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50950" y="2032952"/>
            <a:ext cx="5397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Microsoft YaHei"/>
                <a:cs typeface="Microsoft YaHei"/>
              </a:rPr>
              <a:t>快速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4585" y="3911028"/>
            <a:ext cx="5403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Microsoft YaHei"/>
                <a:cs typeface="Microsoft YaHei"/>
              </a:rPr>
              <a:t>智能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8628" y="1973262"/>
            <a:ext cx="5397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 dirty="0">
                <a:latin typeface="Microsoft YaHei"/>
                <a:cs typeface="Microsoft YaHei"/>
              </a:rPr>
              <a:t>准确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4585" y="1740217"/>
            <a:ext cx="5403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latin typeface="Microsoft YaHei"/>
                <a:cs typeface="Microsoft YaHei"/>
              </a:rPr>
              <a:t>愚蠢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7070" y="2838386"/>
            <a:ext cx="5397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latin typeface="Microsoft YaHei"/>
                <a:cs typeface="Microsoft YaHei"/>
              </a:rPr>
              <a:t>缓慢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2610" y="2268812"/>
            <a:ext cx="1402080" cy="92773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474345">
              <a:lnSpc>
                <a:spcPct val="100000"/>
              </a:lnSpc>
              <a:spcBef>
                <a:spcPts val="1280"/>
              </a:spcBef>
            </a:pPr>
            <a:r>
              <a:rPr sz="1800" b="1" spc="-20" dirty="0">
                <a:solidFill>
                  <a:srgbClr val="FF0000"/>
                </a:solidFill>
                <a:latin typeface="Microsoft YaHei"/>
                <a:cs typeface="Microsoft YaHei"/>
              </a:rPr>
              <a:t>不可能？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000" b="1" spc="-25" dirty="0">
                <a:latin typeface="Microsoft YaHei"/>
                <a:cs typeface="Microsoft YaHei"/>
              </a:rPr>
              <a:t>幻觉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962" y="4910137"/>
            <a:ext cx="4629150" cy="1450590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110"/>
              </a:spcBef>
            </a:pPr>
            <a:r>
              <a:rPr sz="1550" b="1" dirty="0">
                <a:latin typeface="Microsoft YaHei"/>
                <a:cs typeface="Microsoft YaHei"/>
              </a:rPr>
              <a:t>Chat</a:t>
            </a:r>
            <a:r>
              <a:rPr sz="1550" b="1" spc="140" dirty="0">
                <a:latin typeface="Microsoft YaHei"/>
                <a:cs typeface="Microsoft YaHei"/>
              </a:rPr>
              <a:t> </a:t>
            </a:r>
            <a:r>
              <a:rPr sz="1550" b="1" spc="-25" dirty="0">
                <a:latin typeface="Microsoft YaHei"/>
                <a:cs typeface="Microsoft YaHei"/>
              </a:rPr>
              <a:t>BI</a:t>
            </a:r>
            <a:endParaRPr sz="1550" dirty="0">
              <a:latin typeface="Microsoft YaHei"/>
              <a:cs typeface="Microsoft YaHei"/>
            </a:endParaRPr>
          </a:p>
          <a:p>
            <a:pPr marL="291465">
              <a:lnSpc>
                <a:spcPct val="100000"/>
              </a:lnSpc>
              <a:spcBef>
                <a:spcPts val="994"/>
              </a:spcBef>
            </a:pPr>
            <a:r>
              <a:rPr sz="1550" b="1" spc="15" dirty="0">
                <a:solidFill>
                  <a:srgbClr val="1C4AE6"/>
                </a:solidFill>
                <a:latin typeface="Microsoft YaHei"/>
                <a:cs typeface="Microsoft YaHei"/>
              </a:rPr>
              <a:t>“更快”</a:t>
            </a:r>
            <a:r>
              <a:rPr sz="1550" spc="20" dirty="0">
                <a:latin typeface="Microsoft YaHei"/>
                <a:cs typeface="Microsoft YaHei"/>
              </a:rPr>
              <a:t>数据领域算法训练</a:t>
            </a:r>
            <a:r>
              <a:rPr sz="1550" dirty="0">
                <a:latin typeface="Microsoft YaHei"/>
                <a:cs typeface="Microsoft YaHei"/>
              </a:rPr>
              <a:t>&amp;</a:t>
            </a:r>
            <a:r>
              <a:rPr sz="1550" spc="10" dirty="0">
                <a:latin typeface="Microsoft YaHei"/>
                <a:cs typeface="Microsoft YaHei"/>
              </a:rPr>
              <a:t>小模型</a:t>
            </a:r>
            <a:endParaRPr sz="1550" dirty="0">
              <a:latin typeface="Microsoft YaHei"/>
              <a:cs typeface="Microsoft YaHei"/>
            </a:endParaRPr>
          </a:p>
          <a:p>
            <a:pPr marL="291465" marR="267970">
              <a:lnSpc>
                <a:spcPct val="153500"/>
              </a:lnSpc>
              <a:spcBef>
                <a:spcPts val="70"/>
              </a:spcBef>
            </a:pPr>
            <a:r>
              <a:rPr sz="1550" b="1" spc="15" dirty="0">
                <a:solidFill>
                  <a:srgbClr val="1C4AE6"/>
                </a:solidFill>
                <a:latin typeface="Microsoft YaHei"/>
                <a:cs typeface="Microsoft YaHei"/>
              </a:rPr>
              <a:t>“更准”</a:t>
            </a:r>
            <a:r>
              <a:rPr sz="1550" dirty="0">
                <a:latin typeface="Microsoft YaHei"/>
                <a:cs typeface="Microsoft YaHei"/>
              </a:rPr>
              <a:t>业务实际和数据关系的语义建模能力</a:t>
            </a:r>
            <a:r>
              <a:rPr sz="1550" spc="-50" dirty="0">
                <a:latin typeface="Microsoft YaHei"/>
                <a:cs typeface="Microsoft YaHei"/>
              </a:rPr>
              <a:t> </a:t>
            </a:r>
            <a:r>
              <a:rPr sz="1550" b="1" spc="15" dirty="0">
                <a:solidFill>
                  <a:srgbClr val="1C4AE6"/>
                </a:solidFill>
                <a:latin typeface="Microsoft YaHei"/>
                <a:cs typeface="Microsoft YaHei"/>
              </a:rPr>
              <a:t>“更狠”</a:t>
            </a:r>
            <a:r>
              <a:rPr sz="1550" dirty="0">
                <a:latin typeface="Microsoft YaHei"/>
                <a:cs typeface="Microsoft YaHei"/>
              </a:rPr>
              <a:t>大模型理解和泛化及生成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612" y="342836"/>
            <a:ext cx="1245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1C4AE6"/>
                </a:solidFill>
                <a:latin typeface="Microsoft YaHei"/>
                <a:cs typeface="Microsoft YaHei"/>
              </a:rPr>
              <a:t>合作客户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12192000" cy="6553200"/>
            <a:chOff x="0" y="304800"/>
            <a:chExt cx="12192000" cy="6553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05023"/>
              <a:ext cx="12192000" cy="19574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609975"/>
              <a:ext cx="12192000" cy="904875"/>
            </a:xfrm>
            <a:custGeom>
              <a:avLst/>
              <a:gdLst/>
              <a:ahLst/>
              <a:cxnLst/>
              <a:rect l="l" t="t" r="r" b="b"/>
              <a:pathLst>
                <a:path w="12192000" h="904875">
                  <a:moveTo>
                    <a:pt x="0" y="0"/>
                  </a:moveTo>
                  <a:lnTo>
                    <a:pt x="0" y="904875"/>
                  </a:lnTo>
                  <a:lnTo>
                    <a:pt x="12192000" y="904875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667500"/>
              <a:ext cx="12192000" cy="190500"/>
            </a:xfrm>
            <a:custGeom>
              <a:avLst/>
              <a:gdLst/>
              <a:ahLst/>
              <a:cxnLst/>
              <a:rect l="l" t="t" r="r" b="b"/>
              <a:pathLst>
                <a:path w="12192000" h="190500">
                  <a:moveTo>
                    <a:pt x="0" y="190500"/>
                  </a:moveTo>
                  <a:lnTo>
                    <a:pt x="12192000" y="1905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74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04800"/>
              <a:ext cx="114300" cy="447675"/>
            </a:xfrm>
            <a:custGeom>
              <a:avLst/>
              <a:gdLst/>
              <a:ahLst/>
              <a:cxnLst/>
              <a:rect l="l" t="t" r="r" b="b"/>
              <a:pathLst>
                <a:path w="114300" h="447675">
                  <a:moveTo>
                    <a:pt x="1143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4300" y="4476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34126" y="2262251"/>
              <a:ext cx="632460" cy="0"/>
            </a:xfrm>
            <a:custGeom>
              <a:avLst/>
              <a:gdLst/>
              <a:ahLst/>
              <a:cxnLst/>
              <a:rect l="l" t="t" r="r" b="b"/>
              <a:pathLst>
                <a:path w="632460">
                  <a:moveTo>
                    <a:pt x="0" y="0"/>
                  </a:moveTo>
                  <a:lnTo>
                    <a:pt x="632460" y="0"/>
                  </a:lnTo>
                </a:path>
              </a:pathLst>
            </a:custGeom>
            <a:ln w="44450">
              <a:solidFill>
                <a:srgbClr val="362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4352988"/>
              <a:ext cx="2333625" cy="1447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52575" y="473392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5625" y="4352988"/>
              <a:ext cx="2343150" cy="1447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76625" y="4733925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4"/>
                  </a:lnTo>
                  <a:lnTo>
                    <a:pt x="1502362" y="607012"/>
                  </a:lnTo>
                  <a:lnTo>
                    <a:pt x="1525164" y="573184"/>
                  </a:lnTo>
                  <a:lnTo>
                    <a:pt x="1533525" y="531749"/>
                  </a:lnTo>
                  <a:lnTo>
                    <a:pt x="1533525" y="106425"/>
                  </a:lnTo>
                  <a:lnTo>
                    <a:pt x="1525164" y="64990"/>
                  </a:lnTo>
                  <a:lnTo>
                    <a:pt x="1502362" y="31162"/>
                  </a:lnTo>
                  <a:lnTo>
                    <a:pt x="1468534" y="8360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200" y="4352988"/>
              <a:ext cx="2333625" cy="14478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10200" y="473392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2775" y="4352988"/>
              <a:ext cx="2333625" cy="14478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43775" y="473392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100" y="2152650"/>
              <a:ext cx="2333625" cy="1447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62100" y="2533650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4675" y="2152650"/>
              <a:ext cx="2333625" cy="1447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495675" y="2533650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8725" y="2152650"/>
              <a:ext cx="2343150" cy="14478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19725" y="2533650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4"/>
                  </a:lnTo>
                  <a:lnTo>
                    <a:pt x="1502362" y="607012"/>
                  </a:lnTo>
                  <a:lnTo>
                    <a:pt x="1525164" y="573184"/>
                  </a:lnTo>
                  <a:lnTo>
                    <a:pt x="1533525" y="531749"/>
                  </a:lnTo>
                  <a:lnTo>
                    <a:pt x="1533525" y="106425"/>
                  </a:lnTo>
                  <a:lnTo>
                    <a:pt x="1525164" y="64990"/>
                  </a:lnTo>
                  <a:lnTo>
                    <a:pt x="1502362" y="31162"/>
                  </a:lnTo>
                  <a:lnTo>
                    <a:pt x="1468534" y="8360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2300" y="2152650"/>
              <a:ext cx="2343150" cy="14478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353300" y="2533650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4"/>
                  </a:lnTo>
                  <a:lnTo>
                    <a:pt x="1502362" y="607012"/>
                  </a:lnTo>
                  <a:lnTo>
                    <a:pt x="1525164" y="573184"/>
                  </a:lnTo>
                  <a:lnTo>
                    <a:pt x="1533525" y="531749"/>
                  </a:lnTo>
                  <a:lnTo>
                    <a:pt x="1533525" y="106425"/>
                  </a:lnTo>
                  <a:lnTo>
                    <a:pt x="1525164" y="64990"/>
                  </a:lnTo>
                  <a:lnTo>
                    <a:pt x="1502362" y="31162"/>
                  </a:lnTo>
                  <a:lnTo>
                    <a:pt x="1468534" y="8360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5050" y="5305485"/>
              <a:ext cx="2343150" cy="14478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86050" y="5686425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59"/>
                  </a:lnTo>
                  <a:lnTo>
                    <a:pt x="31162" y="31154"/>
                  </a:lnTo>
                  <a:lnTo>
                    <a:pt x="8360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60" y="573211"/>
                  </a:lnTo>
                  <a:lnTo>
                    <a:pt x="31162" y="607020"/>
                  </a:lnTo>
                  <a:lnTo>
                    <a:pt x="64990" y="629815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5"/>
                  </a:lnTo>
                  <a:lnTo>
                    <a:pt x="1502362" y="607020"/>
                  </a:lnTo>
                  <a:lnTo>
                    <a:pt x="1525164" y="573211"/>
                  </a:lnTo>
                  <a:lnTo>
                    <a:pt x="1533525" y="531812"/>
                  </a:lnTo>
                  <a:lnTo>
                    <a:pt x="1533525" y="106362"/>
                  </a:lnTo>
                  <a:lnTo>
                    <a:pt x="1525164" y="64963"/>
                  </a:lnTo>
                  <a:lnTo>
                    <a:pt x="1502362" y="31154"/>
                  </a:lnTo>
                  <a:lnTo>
                    <a:pt x="1468534" y="8359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53500" y="4352988"/>
              <a:ext cx="2333625" cy="14478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334500" y="473392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4"/>
                  </a:lnTo>
                  <a:lnTo>
                    <a:pt x="1492837" y="607012"/>
                  </a:lnTo>
                  <a:lnTo>
                    <a:pt x="1515639" y="573184"/>
                  </a:lnTo>
                  <a:lnTo>
                    <a:pt x="1524000" y="531749"/>
                  </a:lnTo>
                  <a:lnTo>
                    <a:pt x="1524000" y="106425"/>
                  </a:lnTo>
                  <a:lnTo>
                    <a:pt x="1515639" y="64990"/>
                  </a:lnTo>
                  <a:lnTo>
                    <a:pt x="1492837" y="31162"/>
                  </a:lnTo>
                  <a:lnTo>
                    <a:pt x="1459009" y="8360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8850" y="5315010"/>
              <a:ext cx="2343150" cy="1447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19850" y="5695950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59"/>
                  </a:lnTo>
                  <a:lnTo>
                    <a:pt x="31162" y="31154"/>
                  </a:lnTo>
                  <a:lnTo>
                    <a:pt x="8360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60" y="573211"/>
                  </a:lnTo>
                  <a:lnTo>
                    <a:pt x="31162" y="607020"/>
                  </a:lnTo>
                  <a:lnTo>
                    <a:pt x="64990" y="629815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5"/>
                  </a:lnTo>
                  <a:lnTo>
                    <a:pt x="1502362" y="607020"/>
                  </a:lnTo>
                  <a:lnTo>
                    <a:pt x="1525164" y="573211"/>
                  </a:lnTo>
                  <a:lnTo>
                    <a:pt x="1533525" y="531812"/>
                  </a:lnTo>
                  <a:lnTo>
                    <a:pt x="1533525" y="106362"/>
                  </a:lnTo>
                  <a:lnTo>
                    <a:pt x="1525164" y="64963"/>
                  </a:lnTo>
                  <a:lnTo>
                    <a:pt x="1502362" y="31154"/>
                  </a:lnTo>
                  <a:lnTo>
                    <a:pt x="1468534" y="8359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0900" y="4733925"/>
              <a:ext cx="1704975" cy="5810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5925" y="4791075"/>
              <a:ext cx="1276350" cy="5143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09975" y="2638425"/>
              <a:ext cx="1238250" cy="3619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53075" y="4772025"/>
              <a:ext cx="1304925" cy="5810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0700" y="4857750"/>
              <a:ext cx="1457325" cy="4572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7975" y="5743575"/>
              <a:ext cx="1228725" cy="4857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34275" y="3838575"/>
              <a:ext cx="1000125" cy="3619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10500" y="2571750"/>
              <a:ext cx="704850" cy="5334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24750" y="4791075"/>
              <a:ext cx="1323975" cy="4857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19250" y="2619375"/>
              <a:ext cx="1400175" cy="4667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44175" y="3733800"/>
              <a:ext cx="809625" cy="609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90600" y="3762375"/>
              <a:ext cx="1828800" cy="5048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91325" y="5743575"/>
              <a:ext cx="685800" cy="5143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15025" y="3781425"/>
              <a:ext cx="1266825" cy="5334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3375" y="5305485"/>
              <a:ext cx="2333625" cy="14478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334375" y="568642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59"/>
                  </a:lnTo>
                  <a:lnTo>
                    <a:pt x="31162" y="31154"/>
                  </a:lnTo>
                  <a:lnTo>
                    <a:pt x="8360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60" y="573211"/>
                  </a:lnTo>
                  <a:lnTo>
                    <a:pt x="31162" y="607020"/>
                  </a:lnTo>
                  <a:lnTo>
                    <a:pt x="64990" y="629815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5"/>
                  </a:lnTo>
                  <a:lnTo>
                    <a:pt x="1492837" y="607020"/>
                  </a:lnTo>
                  <a:lnTo>
                    <a:pt x="1515639" y="573211"/>
                  </a:lnTo>
                  <a:lnTo>
                    <a:pt x="1524000" y="531812"/>
                  </a:lnTo>
                  <a:lnTo>
                    <a:pt x="1524000" y="106362"/>
                  </a:lnTo>
                  <a:lnTo>
                    <a:pt x="1515639" y="64963"/>
                  </a:lnTo>
                  <a:lnTo>
                    <a:pt x="1492837" y="31154"/>
                  </a:lnTo>
                  <a:lnTo>
                    <a:pt x="1459009" y="8359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58200" y="5781675"/>
              <a:ext cx="1276350" cy="495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250" y="5286435"/>
              <a:ext cx="2333625" cy="14478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57250" y="5667375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362" y="0"/>
                  </a:lnTo>
                  <a:lnTo>
                    <a:pt x="64963" y="8359"/>
                  </a:lnTo>
                  <a:lnTo>
                    <a:pt x="31154" y="31154"/>
                  </a:lnTo>
                  <a:lnTo>
                    <a:pt x="8359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59" y="573211"/>
                  </a:lnTo>
                  <a:lnTo>
                    <a:pt x="31154" y="607020"/>
                  </a:lnTo>
                  <a:lnTo>
                    <a:pt x="64963" y="629815"/>
                  </a:lnTo>
                  <a:lnTo>
                    <a:pt x="106362" y="638175"/>
                  </a:lnTo>
                  <a:lnTo>
                    <a:pt x="1417574" y="638175"/>
                  </a:lnTo>
                  <a:lnTo>
                    <a:pt x="1459009" y="629815"/>
                  </a:lnTo>
                  <a:lnTo>
                    <a:pt x="1492837" y="607020"/>
                  </a:lnTo>
                  <a:lnTo>
                    <a:pt x="1515639" y="573211"/>
                  </a:lnTo>
                  <a:lnTo>
                    <a:pt x="1524000" y="531812"/>
                  </a:lnTo>
                  <a:lnTo>
                    <a:pt x="1524000" y="106362"/>
                  </a:lnTo>
                  <a:lnTo>
                    <a:pt x="1515639" y="64963"/>
                  </a:lnTo>
                  <a:lnTo>
                    <a:pt x="1492837" y="31154"/>
                  </a:lnTo>
                  <a:lnTo>
                    <a:pt x="1459009" y="8359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6775" y="5762625"/>
              <a:ext cx="1504950" cy="44767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3850" y="5315010"/>
              <a:ext cx="2333625" cy="14478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14850" y="5695950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17574" y="0"/>
                  </a:moveTo>
                  <a:lnTo>
                    <a:pt x="106425" y="0"/>
                  </a:lnTo>
                  <a:lnTo>
                    <a:pt x="64990" y="8359"/>
                  </a:lnTo>
                  <a:lnTo>
                    <a:pt x="31162" y="31154"/>
                  </a:lnTo>
                  <a:lnTo>
                    <a:pt x="8360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60" y="573211"/>
                  </a:lnTo>
                  <a:lnTo>
                    <a:pt x="31162" y="607020"/>
                  </a:lnTo>
                  <a:lnTo>
                    <a:pt x="64990" y="629815"/>
                  </a:lnTo>
                  <a:lnTo>
                    <a:pt x="106425" y="638175"/>
                  </a:lnTo>
                  <a:lnTo>
                    <a:pt x="1417574" y="638175"/>
                  </a:lnTo>
                  <a:lnTo>
                    <a:pt x="1459009" y="629815"/>
                  </a:lnTo>
                  <a:lnTo>
                    <a:pt x="1492837" y="607020"/>
                  </a:lnTo>
                  <a:lnTo>
                    <a:pt x="1515639" y="573211"/>
                  </a:lnTo>
                  <a:lnTo>
                    <a:pt x="1524000" y="531812"/>
                  </a:lnTo>
                  <a:lnTo>
                    <a:pt x="1524000" y="106362"/>
                  </a:lnTo>
                  <a:lnTo>
                    <a:pt x="1515639" y="64963"/>
                  </a:lnTo>
                  <a:lnTo>
                    <a:pt x="1492837" y="31154"/>
                  </a:lnTo>
                  <a:lnTo>
                    <a:pt x="1459009" y="8359"/>
                  </a:lnTo>
                  <a:lnTo>
                    <a:pt x="1417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81575" y="5724525"/>
              <a:ext cx="581025" cy="58102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953500" y="2143125"/>
              <a:ext cx="2057400" cy="14478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334500" y="2524125"/>
              <a:ext cx="1247775" cy="638175"/>
            </a:xfrm>
            <a:custGeom>
              <a:avLst/>
              <a:gdLst/>
              <a:ahLst/>
              <a:cxnLst/>
              <a:rect l="l" t="t" r="r" b="b"/>
              <a:pathLst>
                <a:path w="1247775" h="638175">
                  <a:moveTo>
                    <a:pt x="1141349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531749"/>
                  </a:lnTo>
                  <a:lnTo>
                    <a:pt x="8360" y="573184"/>
                  </a:lnTo>
                  <a:lnTo>
                    <a:pt x="31162" y="607012"/>
                  </a:lnTo>
                  <a:lnTo>
                    <a:pt x="64990" y="629814"/>
                  </a:lnTo>
                  <a:lnTo>
                    <a:pt x="106425" y="638175"/>
                  </a:lnTo>
                  <a:lnTo>
                    <a:pt x="1141349" y="638175"/>
                  </a:lnTo>
                  <a:lnTo>
                    <a:pt x="1182784" y="629814"/>
                  </a:lnTo>
                  <a:lnTo>
                    <a:pt x="1216612" y="607012"/>
                  </a:lnTo>
                  <a:lnTo>
                    <a:pt x="1239414" y="573184"/>
                  </a:lnTo>
                  <a:lnTo>
                    <a:pt x="1247775" y="531749"/>
                  </a:lnTo>
                  <a:lnTo>
                    <a:pt x="1247775" y="106425"/>
                  </a:lnTo>
                  <a:lnTo>
                    <a:pt x="1239414" y="64990"/>
                  </a:lnTo>
                  <a:lnTo>
                    <a:pt x="1216612" y="31162"/>
                  </a:lnTo>
                  <a:lnTo>
                    <a:pt x="1182784" y="8360"/>
                  </a:lnTo>
                  <a:lnTo>
                    <a:pt x="1141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344025" y="2628900"/>
              <a:ext cx="1257300" cy="4572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14625" y="3895725"/>
              <a:ext cx="1228725" cy="3333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867775" y="3829050"/>
              <a:ext cx="1266825" cy="4667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33875" y="3838575"/>
              <a:ext cx="1238250" cy="42862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24550" y="2600325"/>
              <a:ext cx="533400" cy="51435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858375" y="5315010"/>
              <a:ext cx="2333625" cy="14478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144125" y="5505450"/>
              <a:ext cx="1771650" cy="109537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0239375" y="5695950"/>
              <a:ext cx="1533525" cy="638175"/>
            </a:xfrm>
            <a:custGeom>
              <a:avLst/>
              <a:gdLst/>
              <a:ahLst/>
              <a:cxnLst/>
              <a:rect l="l" t="t" r="r" b="b"/>
              <a:pathLst>
                <a:path w="1533525" h="638175">
                  <a:moveTo>
                    <a:pt x="1427099" y="0"/>
                  </a:moveTo>
                  <a:lnTo>
                    <a:pt x="106425" y="0"/>
                  </a:lnTo>
                  <a:lnTo>
                    <a:pt x="64990" y="8359"/>
                  </a:lnTo>
                  <a:lnTo>
                    <a:pt x="31162" y="31154"/>
                  </a:lnTo>
                  <a:lnTo>
                    <a:pt x="8360" y="64963"/>
                  </a:lnTo>
                  <a:lnTo>
                    <a:pt x="0" y="106362"/>
                  </a:lnTo>
                  <a:lnTo>
                    <a:pt x="0" y="531812"/>
                  </a:lnTo>
                  <a:lnTo>
                    <a:pt x="8360" y="573211"/>
                  </a:lnTo>
                  <a:lnTo>
                    <a:pt x="31162" y="607020"/>
                  </a:lnTo>
                  <a:lnTo>
                    <a:pt x="64990" y="629815"/>
                  </a:lnTo>
                  <a:lnTo>
                    <a:pt x="106425" y="638175"/>
                  </a:lnTo>
                  <a:lnTo>
                    <a:pt x="1427099" y="638175"/>
                  </a:lnTo>
                  <a:lnTo>
                    <a:pt x="1468534" y="629815"/>
                  </a:lnTo>
                  <a:lnTo>
                    <a:pt x="1502362" y="607020"/>
                  </a:lnTo>
                  <a:lnTo>
                    <a:pt x="1525164" y="573211"/>
                  </a:lnTo>
                  <a:lnTo>
                    <a:pt x="1533525" y="531812"/>
                  </a:lnTo>
                  <a:lnTo>
                    <a:pt x="1533525" y="106362"/>
                  </a:lnTo>
                  <a:lnTo>
                    <a:pt x="1525164" y="64963"/>
                  </a:lnTo>
                  <a:lnTo>
                    <a:pt x="1502362" y="31154"/>
                  </a:lnTo>
                  <a:lnTo>
                    <a:pt x="1468534" y="8359"/>
                  </a:lnTo>
                  <a:lnTo>
                    <a:pt x="1427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047875" y="789152"/>
            <a:ext cx="8193405" cy="11849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3000" b="1" dirty="0" err="1">
                <a:solidFill>
                  <a:srgbClr val="FD7B77"/>
                </a:solidFill>
                <a:latin typeface="Microsoft YaHei"/>
                <a:cs typeface="Microsoft YaHei"/>
              </a:rPr>
              <a:t>各行各业</a:t>
            </a:r>
            <a:r>
              <a:rPr sz="3000" b="1" spc="-5" dirty="0" err="1">
                <a:solidFill>
                  <a:srgbClr val="3623C5"/>
                </a:solidFill>
                <a:latin typeface="Microsoft YaHei"/>
                <a:cs typeface="Microsoft YaHei"/>
              </a:rPr>
              <a:t>客户在</a:t>
            </a:r>
            <a:r>
              <a:rPr sz="3000" b="1" dirty="0" err="1">
                <a:solidFill>
                  <a:srgbClr val="3623C5"/>
                </a:solidFill>
                <a:latin typeface="Microsoft YaHei"/>
                <a:cs typeface="Microsoft YaHei"/>
              </a:rPr>
              <a:t>AI</a:t>
            </a:r>
            <a:r>
              <a:rPr sz="3000" b="1" spc="-5" dirty="0" err="1">
                <a:solidFill>
                  <a:srgbClr val="3623C5"/>
                </a:solidFill>
                <a:latin typeface="Microsoft YaHei"/>
                <a:cs typeface="Microsoft YaHei"/>
              </a:rPr>
              <a:t>时代选择建设</a:t>
            </a:r>
            <a:r>
              <a:rPr sz="3000" b="1" spc="-10" dirty="0" err="1">
                <a:solidFill>
                  <a:srgbClr val="3623C5"/>
                </a:solidFill>
                <a:latin typeface="Microsoft YaHei"/>
                <a:cs typeface="Microsoft YaHei"/>
              </a:rPr>
              <a:t>ChatBI</a:t>
            </a:r>
            <a:r>
              <a:rPr sz="3000" b="1" spc="-25" dirty="0" err="1">
                <a:solidFill>
                  <a:srgbClr val="3623C5"/>
                </a:solidFill>
                <a:latin typeface="Microsoft YaHei"/>
                <a:cs typeface="Microsoft YaHei"/>
              </a:rPr>
              <a:t>能力</a:t>
            </a:r>
            <a:endParaRPr sz="3000" dirty="0">
              <a:latin typeface="Microsoft YaHei"/>
              <a:cs typeface="Microsoft YaHei"/>
            </a:endParaRPr>
          </a:p>
          <a:p>
            <a:pPr marR="91440" algn="ctr">
              <a:lnSpc>
                <a:spcPct val="100000"/>
              </a:lnSpc>
              <a:spcBef>
                <a:spcPts val="965"/>
              </a:spcBef>
              <a:tabLst>
                <a:tab pos="2749550" algn="l"/>
                <a:tab pos="5108575" algn="l"/>
              </a:tabLst>
            </a:pPr>
            <a:r>
              <a:rPr sz="2000" dirty="0">
                <a:latin typeface="Microsoft YaHei"/>
                <a:cs typeface="Microsoft YaHei"/>
              </a:rPr>
              <a:t>累</a:t>
            </a:r>
            <a:r>
              <a:rPr sz="2000" spc="-60" dirty="0">
                <a:latin typeface="Microsoft YaHei"/>
                <a:cs typeface="Microsoft YaHei"/>
              </a:rPr>
              <a:t>计</a:t>
            </a:r>
            <a:r>
              <a:rPr sz="2000" dirty="0">
                <a:latin typeface="Microsoft YaHei"/>
                <a:cs typeface="Microsoft YaHei"/>
              </a:rPr>
              <a:t>交付</a:t>
            </a:r>
            <a:r>
              <a:rPr sz="2000" spc="-65" dirty="0">
                <a:latin typeface="Microsoft YaHei"/>
                <a:cs typeface="Microsoft YaHei"/>
              </a:rPr>
              <a:t>项</a:t>
            </a:r>
            <a:r>
              <a:rPr sz="2000" dirty="0">
                <a:latin typeface="Microsoft YaHei"/>
                <a:cs typeface="Microsoft YaHei"/>
              </a:rPr>
              <a:t>目</a:t>
            </a:r>
            <a:r>
              <a:rPr sz="30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70+</a:t>
            </a:r>
            <a:r>
              <a:rPr sz="3000" b="1" dirty="0">
                <a:solidFill>
                  <a:srgbClr val="FD7B77"/>
                </a:solidFill>
                <a:latin typeface="Microsoft YaHei"/>
                <a:cs typeface="Microsoft YaHei"/>
              </a:rPr>
              <a:t>	</a:t>
            </a:r>
            <a:r>
              <a:rPr sz="3000" baseline="1388" dirty="0">
                <a:latin typeface="Microsoft YaHei"/>
                <a:cs typeface="Microsoft YaHei"/>
              </a:rPr>
              <a:t>续</a:t>
            </a:r>
            <a:r>
              <a:rPr sz="3000" spc="-82" baseline="1388" dirty="0">
                <a:latin typeface="Microsoft YaHei"/>
                <a:cs typeface="Microsoft YaHei"/>
              </a:rPr>
              <a:t>费</a:t>
            </a:r>
            <a:r>
              <a:rPr sz="3000" baseline="1388" dirty="0">
                <a:latin typeface="Microsoft YaHei"/>
                <a:cs typeface="Microsoft YaHei"/>
              </a:rPr>
              <a:t>率</a:t>
            </a:r>
            <a:r>
              <a:rPr sz="3000" b="1" spc="-20" dirty="0">
                <a:solidFill>
                  <a:srgbClr val="FD7B77"/>
                </a:solidFill>
                <a:latin typeface="Microsoft YaHei"/>
                <a:cs typeface="Microsoft YaHei"/>
              </a:rPr>
              <a:t>100%</a:t>
            </a:r>
            <a:r>
              <a:rPr sz="3000" b="1" dirty="0">
                <a:solidFill>
                  <a:srgbClr val="FD7B77"/>
                </a:solidFill>
                <a:latin typeface="Microsoft YaHei"/>
                <a:cs typeface="Microsoft YaHei"/>
              </a:rPr>
              <a:t>	</a:t>
            </a:r>
            <a:r>
              <a:rPr sz="3000" baseline="2777" dirty="0">
                <a:latin typeface="Microsoft YaHei"/>
                <a:cs typeface="Microsoft YaHei"/>
              </a:rPr>
              <a:t>最</a:t>
            </a:r>
            <a:r>
              <a:rPr sz="3000" spc="-82" baseline="2777" dirty="0">
                <a:latin typeface="Microsoft YaHei"/>
                <a:cs typeface="Microsoft YaHei"/>
              </a:rPr>
              <a:t>长</a:t>
            </a:r>
            <a:r>
              <a:rPr sz="3000" baseline="2777" dirty="0">
                <a:latin typeface="Microsoft YaHei"/>
                <a:cs typeface="Microsoft YaHei"/>
              </a:rPr>
              <a:t>客户</a:t>
            </a:r>
            <a:r>
              <a:rPr sz="3000" spc="-82" baseline="2777" dirty="0">
                <a:latin typeface="Microsoft YaHei"/>
                <a:cs typeface="Microsoft YaHei"/>
              </a:rPr>
              <a:t>续</a:t>
            </a:r>
            <a:r>
              <a:rPr sz="3000" baseline="2777" dirty="0">
                <a:latin typeface="Microsoft YaHei"/>
                <a:cs typeface="Microsoft YaHei"/>
              </a:rPr>
              <a:t>费</a:t>
            </a:r>
            <a:r>
              <a:rPr sz="4500" b="1" spc="-15" baseline="1851" dirty="0">
                <a:solidFill>
                  <a:srgbClr val="FD7B77"/>
                </a:solidFill>
                <a:latin typeface="Microsoft YaHei"/>
                <a:cs typeface="Microsoft YaHei"/>
              </a:rPr>
              <a:t>4</a:t>
            </a:r>
            <a:r>
              <a:rPr sz="4500" b="1" spc="-75" baseline="1851" dirty="0">
                <a:solidFill>
                  <a:srgbClr val="FD7B77"/>
                </a:solidFill>
                <a:latin typeface="Microsoft YaHei"/>
                <a:cs typeface="Microsoft YaHei"/>
              </a:rPr>
              <a:t>年</a:t>
            </a:r>
            <a:endParaRPr sz="4500" baseline="1851" dirty="0">
              <a:latin typeface="Microsoft YaHei"/>
              <a:cs typeface="Microsoft YaHe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608309" y="5913437"/>
            <a:ext cx="8134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FF7881"/>
                </a:solidFill>
                <a:latin typeface="Microsoft YaHei"/>
                <a:cs typeface="Microsoft YaHei"/>
              </a:rPr>
              <a:t>更多客户……</a:t>
            </a:r>
            <a:endParaRPr sz="11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829175" cy="6419850"/>
            <a:chOff x="0" y="0"/>
            <a:chExt cx="4829175" cy="6419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1500" y="1943100"/>
              <a:ext cx="4210050" cy="4476750"/>
            </a:xfrm>
            <a:custGeom>
              <a:avLst/>
              <a:gdLst/>
              <a:ahLst/>
              <a:cxnLst/>
              <a:rect l="l" t="t" r="r" b="b"/>
              <a:pathLst>
                <a:path w="4210050" h="4476750">
                  <a:moveTo>
                    <a:pt x="4210050" y="0"/>
                  </a:moveTo>
                  <a:lnTo>
                    <a:pt x="0" y="0"/>
                  </a:lnTo>
                  <a:lnTo>
                    <a:pt x="0" y="4476750"/>
                  </a:lnTo>
                  <a:lnTo>
                    <a:pt x="4210050" y="4476750"/>
                  </a:lnTo>
                  <a:lnTo>
                    <a:pt x="4210050" y="0"/>
                  </a:lnTo>
                  <a:close/>
                </a:path>
              </a:pathLst>
            </a:custGeom>
            <a:solidFill>
              <a:srgbClr val="F6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677" y="359981"/>
            <a:ext cx="5542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理想汽车：利用AI</a:t>
            </a:r>
            <a:r>
              <a:rPr spc="-15" dirty="0"/>
              <a:t>技术加强公司的护城河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61975" y="1200150"/>
            <a:ext cx="8429625" cy="5181600"/>
            <a:chOff x="561975" y="1200150"/>
            <a:chExt cx="8429625" cy="5181600"/>
          </a:xfrm>
        </p:grpSpPr>
        <p:sp>
          <p:nvSpPr>
            <p:cNvPr id="8" name="object 8"/>
            <p:cNvSpPr/>
            <p:nvPr/>
          </p:nvSpPr>
          <p:spPr>
            <a:xfrm>
              <a:off x="4857750" y="5324475"/>
              <a:ext cx="4133850" cy="1057275"/>
            </a:xfrm>
            <a:custGeom>
              <a:avLst/>
              <a:gdLst/>
              <a:ahLst/>
              <a:cxnLst/>
              <a:rect l="l" t="t" r="r" b="b"/>
              <a:pathLst>
                <a:path w="4133850" h="1057275">
                  <a:moveTo>
                    <a:pt x="4133850" y="0"/>
                  </a:moveTo>
                  <a:lnTo>
                    <a:pt x="0" y="0"/>
                  </a:lnTo>
                  <a:lnTo>
                    <a:pt x="0" y="1057275"/>
                  </a:lnTo>
                  <a:lnTo>
                    <a:pt x="4133850" y="1057275"/>
                  </a:lnTo>
                  <a:lnTo>
                    <a:pt x="4133850" y="0"/>
                  </a:lnTo>
                  <a:close/>
                </a:path>
              </a:pathLst>
            </a:custGeom>
            <a:solidFill>
              <a:srgbClr val="F1F1F1">
                <a:alpha val="2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57750" y="1876425"/>
              <a:ext cx="2000250" cy="3352800"/>
            </a:xfrm>
            <a:custGeom>
              <a:avLst/>
              <a:gdLst/>
              <a:ahLst/>
              <a:cxnLst/>
              <a:rect l="l" t="t" r="r" b="b"/>
              <a:pathLst>
                <a:path w="2000250" h="3352800">
                  <a:moveTo>
                    <a:pt x="200025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2000250" y="3352800"/>
                  </a:lnTo>
                  <a:lnTo>
                    <a:pt x="2000250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15150" y="1905000"/>
              <a:ext cx="2076450" cy="3343275"/>
            </a:xfrm>
            <a:custGeom>
              <a:avLst/>
              <a:gdLst/>
              <a:ahLst/>
              <a:cxnLst/>
              <a:rect l="l" t="t" r="r" b="b"/>
              <a:pathLst>
                <a:path w="2076450" h="3343275">
                  <a:moveTo>
                    <a:pt x="2076450" y="0"/>
                  </a:moveTo>
                  <a:lnTo>
                    <a:pt x="0" y="0"/>
                  </a:lnTo>
                  <a:lnTo>
                    <a:pt x="0" y="3343275"/>
                  </a:lnTo>
                  <a:lnTo>
                    <a:pt x="2076450" y="3343275"/>
                  </a:lnTo>
                  <a:lnTo>
                    <a:pt x="207645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1975" y="1200149"/>
              <a:ext cx="8429625" cy="600075"/>
            </a:xfrm>
            <a:custGeom>
              <a:avLst/>
              <a:gdLst/>
              <a:ahLst/>
              <a:cxnLst/>
              <a:rect l="l" t="t" r="r" b="b"/>
              <a:pathLst>
                <a:path w="8429625" h="600075">
                  <a:moveTo>
                    <a:pt x="3457575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3457575" y="600075"/>
                  </a:lnTo>
                  <a:lnTo>
                    <a:pt x="3457575" y="0"/>
                  </a:lnTo>
                  <a:close/>
                </a:path>
                <a:path w="8429625" h="600075">
                  <a:moveTo>
                    <a:pt x="8429625" y="0"/>
                  </a:moveTo>
                  <a:lnTo>
                    <a:pt x="3533775" y="0"/>
                  </a:lnTo>
                  <a:lnTo>
                    <a:pt x="3533775" y="600075"/>
                  </a:lnTo>
                  <a:lnTo>
                    <a:pt x="8429625" y="600075"/>
                  </a:lnTo>
                  <a:lnTo>
                    <a:pt x="842962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0425" y="1295336"/>
            <a:ext cx="156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975" algn="l"/>
              </a:tabLst>
            </a:pPr>
            <a:r>
              <a:rPr sz="24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95%</a:t>
            </a:r>
            <a:r>
              <a:rPr sz="2400" b="1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1200" spc="-15" dirty="0">
                <a:solidFill>
                  <a:srgbClr val="FFFFFF"/>
                </a:solidFill>
                <a:latin typeface="Microsoft YaHei"/>
                <a:cs typeface="Microsoft YaHei"/>
              </a:rPr>
              <a:t>结果稳定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6559" y="1295336"/>
            <a:ext cx="871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Microsoft YaHei"/>
                <a:cs typeface="Microsoft YaHei"/>
              </a:rPr>
              <a:t>100%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54625" y="1447736"/>
            <a:ext cx="1549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FFFFFF"/>
                </a:solidFill>
                <a:latin typeface="Microsoft YaHei"/>
                <a:cs typeface="Microsoft YaHei"/>
              </a:rPr>
              <a:t>以上的语义理解正确率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76400" y="1304925"/>
            <a:ext cx="5772150" cy="4924425"/>
            <a:chOff x="1676400" y="1304925"/>
            <a:chExt cx="5772150" cy="4924425"/>
          </a:xfrm>
        </p:grpSpPr>
        <p:sp>
          <p:nvSpPr>
            <p:cNvPr id="16" name="object 16"/>
            <p:cNvSpPr/>
            <p:nvPr/>
          </p:nvSpPr>
          <p:spPr>
            <a:xfrm>
              <a:off x="1676400" y="1304925"/>
              <a:ext cx="76200" cy="426084"/>
            </a:xfrm>
            <a:custGeom>
              <a:avLst/>
              <a:gdLst/>
              <a:ahLst/>
              <a:cxnLst/>
              <a:rect l="l" t="t" r="r" b="b"/>
              <a:pathLst>
                <a:path w="76200" h="42608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426085"/>
                  </a:lnTo>
                  <a:lnTo>
                    <a:pt x="47625" y="426085"/>
                  </a:lnTo>
                  <a:lnTo>
                    <a:pt x="47625" y="63500"/>
                  </a:lnTo>
                  <a:close/>
                </a:path>
                <a:path w="76200" h="42608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608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72100" y="5876925"/>
              <a:ext cx="381000" cy="352425"/>
            </a:xfrm>
            <a:custGeom>
              <a:avLst/>
              <a:gdLst/>
              <a:ahLst/>
              <a:cxnLst/>
              <a:rect l="l" t="t" r="r" b="b"/>
              <a:pathLst>
                <a:path w="381000" h="352425">
                  <a:moveTo>
                    <a:pt x="374014" y="76"/>
                  </a:moveTo>
                  <a:lnTo>
                    <a:pt x="224027" y="76"/>
                  </a:lnTo>
                  <a:lnTo>
                    <a:pt x="216915" y="7010"/>
                  </a:lnTo>
                  <a:lnTo>
                    <a:pt x="216915" y="157721"/>
                  </a:lnTo>
                  <a:lnTo>
                    <a:pt x="224027" y="164731"/>
                  </a:lnTo>
                  <a:lnTo>
                    <a:pt x="282448" y="164731"/>
                  </a:lnTo>
                  <a:lnTo>
                    <a:pt x="277971" y="205470"/>
                  </a:lnTo>
                  <a:lnTo>
                    <a:pt x="268160" y="234656"/>
                  </a:lnTo>
                  <a:lnTo>
                    <a:pt x="253015" y="252219"/>
                  </a:lnTo>
                  <a:lnTo>
                    <a:pt x="232537" y="258089"/>
                  </a:lnTo>
                  <a:lnTo>
                    <a:pt x="224027" y="258089"/>
                  </a:lnTo>
                  <a:lnTo>
                    <a:pt x="216915" y="265010"/>
                  </a:lnTo>
                  <a:lnTo>
                    <a:pt x="216915" y="345503"/>
                  </a:lnTo>
                  <a:lnTo>
                    <a:pt x="224027" y="352425"/>
                  </a:lnTo>
                  <a:lnTo>
                    <a:pt x="232537" y="352425"/>
                  </a:lnTo>
                  <a:lnTo>
                    <a:pt x="250265" y="351465"/>
                  </a:lnTo>
                  <a:lnTo>
                    <a:pt x="297307" y="337184"/>
                  </a:lnTo>
                  <a:lnTo>
                    <a:pt x="334311" y="307390"/>
                  </a:lnTo>
                  <a:lnTo>
                    <a:pt x="360520" y="265010"/>
                  </a:lnTo>
                  <a:lnTo>
                    <a:pt x="360600" y="264847"/>
                  </a:lnTo>
                  <a:lnTo>
                    <a:pt x="376017" y="211567"/>
                  </a:lnTo>
                  <a:lnTo>
                    <a:pt x="380450" y="170984"/>
                  </a:lnTo>
                  <a:lnTo>
                    <a:pt x="381000" y="149161"/>
                  </a:lnTo>
                  <a:lnTo>
                    <a:pt x="381000" y="7010"/>
                  </a:lnTo>
                  <a:lnTo>
                    <a:pt x="374014" y="76"/>
                  </a:lnTo>
                  <a:close/>
                </a:path>
                <a:path w="381000" h="352425">
                  <a:moveTo>
                    <a:pt x="157099" y="0"/>
                  </a:moveTo>
                  <a:lnTo>
                    <a:pt x="6985" y="0"/>
                  </a:lnTo>
                  <a:lnTo>
                    <a:pt x="0" y="7010"/>
                  </a:lnTo>
                  <a:lnTo>
                    <a:pt x="0" y="157721"/>
                  </a:lnTo>
                  <a:lnTo>
                    <a:pt x="6985" y="164731"/>
                  </a:lnTo>
                  <a:lnTo>
                    <a:pt x="64770" y="164731"/>
                  </a:lnTo>
                  <a:lnTo>
                    <a:pt x="60394" y="205438"/>
                  </a:lnTo>
                  <a:lnTo>
                    <a:pt x="50720" y="234627"/>
                  </a:lnTo>
                  <a:lnTo>
                    <a:pt x="35784" y="252208"/>
                  </a:lnTo>
                  <a:lnTo>
                    <a:pt x="15621" y="258089"/>
                  </a:lnTo>
                  <a:lnTo>
                    <a:pt x="6985" y="258089"/>
                  </a:lnTo>
                  <a:lnTo>
                    <a:pt x="0" y="265010"/>
                  </a:lnTo>
                  <a:lnTo>
                    <a:pt x="0" y="345503"/>
                  </a:lnTo>
                  <a:lnTo>
                    <a:pt x="6985" y="352425"/>
                  </a:lnTo>
                  <a:lnTo>
                    <a:pt x="15621" y="352425"/>
                  </a:lnTo>
                  <a:lnTo>
                    <a:pt x="33275" y="351465"/>
                  </a:lnTo>
                  <a:lnTo>
                    <a:pt x="80263" y="337184"/>
                  </a:lnTo>
                  <a:lnTo>
                    <a:pt x="117340" y="307390"/>
                  </a:lnTo>
                  <a:lnTo>
                    <a:pt x="143540" y="265010"/>
                  </a:lnTo>
                  <a:lnTo>
                    <a:pt x="143621" y="264847"/>
                  </a:lnTo>
                  <a:lnTo>
                    <a:pt x="159047" y="211555"/>
                  </a:lnTo>
                  <a:lnTo>
                    <a:pt x="163516" y="170946"/>
                  </a:lnTo>
                  <a:lnTo>
                    <a:pt x="164084" y="149161"/>
                  </a:lnTo>
                  <a:lnTo>
                    <a:pt x="164084" y="7010"/>
                  </a:lnTo>
                  <a:lnTo>
                    <a:pt x="157099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0" y="3895725"/>
              <a:ext cx="276225" cy="2190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0" y="4533901"/>
              <a:ext cx="95248" cy="857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3275" y="4352925"/>
              <a:ext cx="228600" cy="2667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4700" y="4838700"/>
              <a:ext cx="266700" cy="2476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3275" y="4876800"/>
              <a:ext cx="219075" cy="1619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96125" y="2447925"/>
              <a:ext cx="323850" cy="2762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9000" y="2524125"/>
              <a:ext cx="209550" cy="2000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53275" y="2933700"/>
              <a:ext cx="247650" cy="238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72325" y="3381375"/>
              <a:ext cx="276225" cy="2762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62015" y="5385815"/>
            <a:ext cx="2790190" cy="979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8890" indent="-169545">
              <a:lnSpc>
                <a:spcPct val="1304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200" spc="-10" dirty="0">
                <a:latin typeface="Microsoft YaHei"/>
                <a:cs typeface="Microsoft YaHei"/>
              </a:rPr>
              <a:t>客户内部开发了一款Ai</a:t>
            </a:r>
            <a:r>
              <a:rPr sz="1200" spc="-20" dirty="0">
                <a:latin typeface="Microsoft YaHei"/>
                <a:cs typeface="Microsoft YaHei"/>
              </a:rPr>
              <a:t>工具箱产品，将	</a:t>
            </a:r>
            <a:r>
              <a:rPr sz="1200" spc="-10" dirty="0">
                <a:latin typeface="Microsoft YaHei"/>
                <a:cs typeface="Microsoft YaHei"/>
              </a:rPr>
              <a:t>我们的bi</a:t>
            </a:r>
            <a:r>
              <a:rPr sz="1200" spc="-5" dirty="0">
                <a:latin typeface="Microsoft YaHei"/>
                <a:cs typeface="Microsoft YaHei"/>
              </a:rPr>
              <a:t>问答能力嵌入</a:t>
            </a:r>
            <a:r>
              <a:rPr sz="1200" spc="-10" dirty="0">
                <a:latin typeface="Microsoft YaHei"/>
                <a:cs typeface="Microsoft YaHei"/>
              </a:rPr>
              <a:t>ai</a:t>
            </a:r>
            <a:r>
              <a:rPr sz="1200" spc="-20" dirty="0">
                <a:latin typeface="Microsoft YaHei"/>
                <a:cs typeface="Microsoft YaHei"/>
              </a:rPr>
              <a:t>工具箱。</a:t>
            </a:r>
            <a:endParaRPr sz="1200">
              <a:latin typeface="Microsoft YaHei"/>
              <a:cs typeface="Microsoft YaHei"/>
            </a:endParaRPr>
          </a:p>
          <a:p>
            <a:pPr marL="181610" marR="5080" indent="-169545">
              <a:lnSpc>
                <a:spcPct val="130400"/>
              </a:lnSpc>
              <a:buChar char="•"/>
              <a:tabLst>
                <a:tab pos="184150" algn="l"/>
              </a:tabLst>
            </a:pPr>
            <a:r>
              <a:rPr sz="1200" spc="-10" dirty="0">
                <a:latin typeface="Microsoft YaHei"/>
                <a:cs typeface="Microsoft YaHei"/>
              </a:rPr>
              <a:t>Ai</a:t>
            </a:r>
            <a:r>
              <a:rPr sz="1200" spc="-5" dirty="0">
                <a:latin typeface="Microsoft YaHei"/>
                <a:cs typeface="Microsoft YaHei"/>
              </a:rPr>
              <a:t>工具箱包含业务知识问答和智能取数	</a:t>
            </a:r>
            <a:r>
              <a:rPr sz="1200" spc="-20" dirty="0">
                <a:latin typeface="Microsoft YaHei"/>
                <a:cs typeface="Microsoft YaHei"/>
              </a:rPr>
              <a:t>两部分。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34915" y="5439092"/>
            <a:ext cx="7410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35" dirty="0">
                <a:latin typeface="Microsoft YaHei"/>
                <a:cs typeface="Microsoft YaHei"/>
              </a:rPr>
              <a:t>成果概览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68434" y="3998150"/>
            <a:ext cx="2487930" cy="23761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965"/>
              </a:spcBef>
            </a:pPr>
            <a:r>
              <a:rPr sz="1400" b="1" spc="-30" dirty="0">
                <a:latin typeface="Microsoft YaHei"/>
                <a:cs typeface="Microsoft YaHei"/>
              </a:rPr>
              <a:t>行业：零售</a:t>
            </a:r>
            <a:endParaRPr sz="1400">
              <a:latin typeface="Microsoft YaHei"/>
              <a:cs typeface="Microsoft YaHei"/>
            </a:endParaRPr>
          </a:p>
          <a:p>
            <a:pPr marL="68580">
              <a:lnSpc>
                <a:spcPct val="100000"/>
              </a:lnSpc>
              <a:spcBef>
                <a:spcPts val="869"/>
              </a:spcBef>
            </a:pPr>
            <a:r>
              <a:rPr sz="1400" b="1" spc="-25" dirty="0">
                <a:latin typeface="Microsoft YaHei"/>
                <a:cs typeface="Microsoft YaHei"/>
              </a:rPr>
              <a:t>应用平台：</a:t>
            </a:r>
            <a:r>
              <a:rPr sz="1400" b="1" spc="-20" dirty="0">
                <a:latin typeface="Microsoft YaHei"/>
                <a:cs typeface="Microsoft YaHei"/>
              </a:rPr>
              <a:t>PC</a:t>
            </a:r>
            <a:r>
              <a:rPr sz="1400" b="1" spc="-50" dirty="0">
                <a:latin typeface="Microsoft YaHei"/>
                <a:cs typeface="Microsoft YaHei"/>
              </a:rPr>
              <a:t>，飞书</a:t>
            </a:r>
            <a:endParaRPr sz="1400">
              <a:latin typeface="Microsoft YaHei"/>
              <a:cs typeface="Microsoft YaHei"/>
            </a:endParaRPr>
          </a:p>
          <a:p>
            <a:pPr marL="182245" marR="5080" indent="-169545" algn="just">
              <a:lnSpc>
                <a:spcPct val="120000"/>
              </a:lnSpc>
              <a:spcBef>
                <a:spcPts val="1245"/>
              </a:spcBef>
              <a:buChar char="•"/>
              <a:tabLst>
                <a:tab pos="184150" algn="l"/>
              </a:tabLst>
            </a:pPr>
            <a:r>
              <a:rPr sz="1200" spc="-5" dirty="0">
                <a:latin typeface="Microsoft YaHei"/>
                <a:cs typeface="Microsoft YaHei"/>
              </a:rPr>
              <a:t>理想汽车作为一家新兴的电动汽车	制造商，一直致力于为家庭用户打	造更安全、更舒适、更便捷的产品	</a:t>
            </a:r>
            <a:r>
              <a:rPr sz="1200" spc="-15" dirty="0">
                <a:latin typeface="Microsoft YaHei"/>
                <a:cs typeface="Microsoft YaHei"/>
              </a:rPr>
              <a:t>和服务。</a:t>
            </a:r>
            <a:endParaRPr sz="1200">
              <a:latin typeface="Microsoft YaHei"/>
              <a:cs typeface="Microsoft YaHei"/>
            </a:endParaRPr>
          </a:p>
          <a:p>
            <a:pPr marL="182245" marR="5715" indent="-169545" algn="just">
              <a:lnSpc>
                <a:spcPct val="120000"/>
              </a:lnSpc>
              <a:buChar char="•"/>
              <a:tabLst>
                <a:tab pos="184150" algn="l"/>
              </a:tabLst>
            </a:pPr>
            <a:r>
              <a:rPr sz="1200" spc="-10" dirty="0">
                <a:latin typeface="Microsoft YaHei"/>
                <a:cs typeface="Microsoft YaHei"/>
              </a:rPr>
              <a:t>期望实现在产品设计、营销推广、	售后保障等多端形成以事实为依据</a:t>
            </a:r>
            <a:endParaRPr sz="1200">
              <a:latin typeface="Microsoft YaHei"/>
              <a:cs typeface="Microsoft YaHei"/>
            </a:endParaRPr>
          </a:p>
          <a:p>
            <a:pPr marL="184150">
              <a:lnSpc>
                <a:spcPct val="100000"/>
              </a:lnSpc>
              <a:spcBef>
                <a:spcPts val="360"/>
              </a:spcBef>
            </a:pPr>
            <a:r>
              <a:rPr sz="1200" spc="-5" dirty="0">
                <a:latin typeface="Microsoft YaHei"/>
                <a:cs typeface="Microsoft YaHei"/>
              </a:rPr>
              <a:t>，以数据为驱动的高效业务策略。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48750" y="1181100"/>
            <a:ext cx="2562225" cy="191452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2550" y="3339550"/>
            <a:ext cx="1945556" cy="39845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561580" y="3921125"/>
            <a:ext cx="78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智能云部门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61580" y="4426267"/>
            <a:ext cx="6362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Microsoft YaHei"/>
                <a:cs typeface="Microsoft YaHei"/>
              </a:rPr>
              <a:t>售后部门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61580" y="4882197"/>
            <a:ext cx="6362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Microsoft YaHei"/>
                <a:cs typeface="Microsoft YaHei"/>
              </a:rPr>
              <a:t>规划部门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31431" y="1955482"/>
            <a:ext cx="1219200" cy="716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使用部门</a:t>
            </a:r>
            <a:endParaRPr sz="2000">
              <a:latin typeface="Microsoft YaHei"/>
              <a:cs typeface="Microsoft YaHei"/>
            </a:endParaRPr>
          </a:p>
          <a:p>
            <a:pPr marL="442595">
              <a:lnSpc>
                <a:spcPct val="100000"/>
              </a:lnSpc>
              <a:spcBef>
                <a:spcPts val="1580"/>
              </a:spcBef>
            </a:pPr>
            <a:r>
              <a:rPr sz="1200" spc="-10" dirty="0">
                <a:latin typeface="Microsoft YaHei"/>
                <a:cs typeface="Microsoft YaHei"/>
              </a:rPr>
              <a:t>智能云部门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61580" y="2938145"/>
            <a:ext cx="636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Microsoft YaHei"/>
                <a:cs typeface="Microsoft YaHei"/>
              </a:rPr>
              <a:t>售后部门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61580" y="3396615"/>
            <a:ext cx="636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Microsoft YaHei"/>
                <a:cs typeface="Microsoft YaHei"/>
              </a:rPr>
              <a:t>规划部门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24450" y="2543175"/>
            <a:ext cx="314325" cy="257175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088890" y="1948497"/>
            <a:ext cx="1301115" cy="822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使用场景</a:t>
            </a:r>
            <a:endParaRPr sz="2000">
              <a:latin typeface="Microsoft YaHei"/>
              <a:cs typeface="Microsoft YaHei"/>
            </a:endParaRPr>
          </a:p>
          <a:p>
            <a:pPr marL="525780">
              <a:lnSpc>
                <a:spcPct val="100000"/>
              </a:lnSpc>
              <a:spcBef>
                <a:spcPts val="2405"/>
              </a:spcBef>
            </a:pPr>
            <a:r>
              <a:rPr sz="1200" spc="-20" dirty="0">
                <a:latin typeface="Microsoft YaHei"/>
                <a:cs typeface="Microsoft YaHei"/>
              </a:rPr>
              <a:t>市占率分析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9150" y="1976501"/>
            <a:ext cx="6021705" cy="4149090"/>
            <a:chOff x="819150" y="1976501"/>
            <a:chExt cx="6021705" cy="4149090"/>
          </a:xfrm>
        </p:grpSpPr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24450" y="3248025"/>
              <a:ext cx="352425" cy="3143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24450" y="4714875"/>
              <a:ext cx="361950" cy="2762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24450" y="4010025"/>
              <a:ext cx="333375" cy="2667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834251" y="1976501"/>
              <a:ext cx="0" cy="3248025"/>
            </a:xfrm>
            <a:custGeom>
              <a:avLst/>
              <a:gdLst/>
              <a:ahLst/>
              <a:cxnLst/>
              <a:rect l="l" t="t" r="r" b="b"/>
              <a:pathLst>
                <a:path h="3248025">
                  <a:moveTo>
                    <a:pt x="0" y="0"/>
                  </a:moveTo>
                  <a:lnTo>
                    <a:pt x="0" y="3247898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9150" y="2114550"/>
              <a:ext cx="752475" cy="5143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7250" y="2209800"/>
              <a:ext cx="247650" cy="3524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6325" y="2181225"/>
              <a:ext cx="371475" cy="3810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76325" y="3895725"/>
              <a:ext cx="238125" cy="2286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81075" y="3790950"/>
              <a:ext cx="428625" cy="4476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4400" y="5343525"/>
              <a:ext cx="581025" cy="58102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757425" y="2128901"/>
              <a:ext cx="19050" cy="3996690"/>
            </a:xfrm>
            <a:custGeom>
              <a:avLst/>
              <a:gdLst/>
              <a:ahLst/>
              <a:cxnLst/>
              <a:rect l="l" t="t" r="r" b="b"/>
              <a:pathLst>
                <a:path w="19050" h="3996690">
                  <a:moveTo>
                    <a:pt x="0" y="0"/>
                  </a:moveTo>
                  <a:lnTo>
                    <a:pt x="0" y="720089"/>
                  </a:lnTo>
                </a:path>
                <a:path w="19050" h="3996690">
                  <a:moveTo>
                    <a:pt x="0" y="1381125"/>
                  </a:moveTo>
                  <a:lnTo>
                    <a:pt x="0" y="2790825"/>
                  </a:lnTo>
                </a:path>
                <a:path w="19050" h="3996690">
                  <a:moveTo>
                    <a:pt x="19050" y="3276600"/>
                  </a:moveTo>
                  <a:lnTo>
                    <a:pt x="19050" y="3996626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620384" y="3280473"/>
            <a:ext cx="6350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icrosoft YaHei"/>
                <a:cs typeface="Microsoft YaHei"/>
              </a:rPr>
              <a:t>财务分析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602604" y="4744148"/>
            <a:ext cx="787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icrosoft YaHei"/>
                <a:cs typeface="Microsoft YaHei"/>
              </a:rPr>
              <a:t>保有量分析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20384" y="4045902"/>
            <a:ext cx="10922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icrosoft YaHei"/>
                <a:cs typeface="Microsoft YaHei"/>
              </a:rPr>
              <a:t>售后满意度分析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3112" y="2696527"/>
            <a:ext cx="787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Microsoft YaHei"/>
                <a:cs typeface="Microsoft YaHei"/>
              </a:rPr>
              <a:t>了解并试用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33119" y="4316095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icrosoft YaHei"/>
                <a:cs typeface="Microsoft YaHei"/>
              </a:rPr>
              <a:t>测评与评价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18210" y="6003290"/>
            <a:ext cx="636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Microsoft YaHei"/>
                <a:cs typeface="Microsoft YaHei"/>
              </a:rPr>
              <a:t>达成合作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39060" y="2041969"/>
            <a:ext cx="2316480" cy="540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95"/>
              </a:spcBef>
            </a:pPr>
            <a:r>
              <a:rPr sz="1200" spc="-10" dirty="0">
                <a:latin typeface="Microsoft YaHei"/>
                <a:cs typeface="Microsoft YaHei"/>
              </a:rPr>
              <a:t>2023年8</a:t>
            </a:r>
            <a:r>
              <a:rPr sz="1200" spc="-15" dirty="0">
                <a:latin typeface="Microsoft YaHei"/>
                <a:cs typeface="Microsoft YaHei"/>
              </a:rPr>
              <a:t>月份，理想汽车员工通过</a:t>
            </a:r>
            <a:r>
              <a:rPr sz="1200" spc="-5" dirty="0">
                <a:latin typeface="Microsoft YaHei"/>
                <a:cs typeface="Microsoft YaHei"/>
              </a:rPr>
              <a:t>我司官网联系到我们，开始了解并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39060" y="2631122"/>
            <a:ext cx="1094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试用我们产品。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39060" y="3430714"/>
            <a:ext cx="2332990" cy="1217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200" spc="-5" dirty="0">
                <a:latin typeface="Microsoft YaHei"/>
                <a:cs typeface="Microsoft YaHei"/>
              </a:rPr>
              <a:t>在理想汽车智能云部门调研过程中</a:t>
            </a:r>
            <a:endParaRPr sz="1200">
              <a:latin typeface="Microsoft YaHei"/>
              <a:cs typeface="Microsoft YaHei"/>
            </a:endParaRPr>
          </a:p>
          <a:p>
            <a:pPr marL="12700" marR="5080">
              <a:lnSpc>
                <a:spcPct val="130400"/>
              </a:lnSpc>
            </a:pPr>
            <a:r>
              <a:rPr sz="1200" spc="-5" dirty="0">
                <a:latin typeface="Microsoft YaHei"/>
                <a:cs typeface="Microsoft YaHei"/>
              </a:rPr>
              <a:t>，他们评测了市面上所有已知</a:t>
            </a:r>
            <a:r>
              <a:rPr sz="1200" spc="-50" dirty="0">
                <a:latin typeface="Microsoft YaHei"/>
                <a:cs typeface="Microsoft YaHei"/>
              </a:rPr>
              <a:t> </a:t>
            </a:r>
            <a:r>
              <a:rPr sz="1200" spc="-10" dirty="0">
                <a:latin typeface="Microsoft YaHei"/>
                <a:cs typeface="Microsoft YaHei"/>
              </a:rPr>
              <a:t>Chatbi</a:t>
            </a:r>
            <a:r>
              <a:rPr sz="1200" spc="-5" dirty="0">
                <a:latin typeface="Microsoft YaHei"/>
                <a:cs typeface="Microsoft YaHei"/>
              </a:rPr>
              <a:t>产品包括商用的和开源的，以及公司内部自研</a:t>
            </a:r>
            <a:r>
              <a:rPr sz="1200" spc="-10" dirty="0">
                <a:latin typeface="Microsoft YaHei"/>
                <a:cs typeface="Microsoft YaHei"/>
              </a:rPr>
              <a:t>Chatbi</a:t>
            </a:r>
            <a:r>
              <a:rPr sz="1200" spc="-15" dirty="0">
                <a:latin typeface="Microsoft YaHei"/>
                <a:cs typeface="Microsoft YaHei"/>
              </a:rPr>
              <a:t>团队产品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" dirty="0">
                <a:latin typeface="Microsoft YaHei"/>
                <a:cs typeface="Microsoft YaHei"/>
              </a:rPr>
              <a:t>。最终，在他们提供的自有测试集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39060" y="4677981"/>
            <a:ext cx="14001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中，本司产品能做到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60016" y="5322951"/>
            <a:ext cx="2388870" cy="54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100"/>
              </a:spcBef>
            </a:pPr>
            <a:r>
              <a:rPr sz="1200" spc="-5" dirty="0">
                <a:latin typeface="Microsoft YaHei"/>
                <a:cs typeface="Microsoft YaHei"/>
              </a:rPr>
              <a:t>综合上述因素，理想汽车智能云部门于</a:t>
            </a:r>
            <a:r>
              <a:rPr sz="1200" spc="-10" dirty="0">
                <a:latin typeface="Microsoft YaHei"/>
                <a:cs typeface="Microsoft YaHei"/>
              </a:rPr>
              <a:t>2023年12</a:t>
            </a:r>
            <a:r>
              <a:rPr sz="1200" spc="-15" dirty="0">
                <a:latin typeface="Microsoft YaHei"/>
                <a:cs typeface="Microsoft YaHei"/>
              </a:rPr>
              <a:t>月决定采购我司产品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160016" y="5912167"/>
            <a:ext cx="1247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，并已通过验收。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637" y="323278"/>
            <a:ext cx="78403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雅戈尔：人人都能0</a:t>
            </a:r>
            <a:r>
              <a:rPr spc="-5" dirty="0"/>
              <a:t>门槛获得商业洞察，打造集团数据文化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2925" y="1371600"/>
            <a:ext cx="8448675" cy="5181600"/>
            <a:chOff x="542925" y="1371600"/>
            <a:chExt cx="8448675" cy="5181600"/>
          </a:xfrm>
        </p:grpSpPr>
        <p:sp>
          <p:nvSpPr>
            <p:cNvPr id="6" name="object 6"/>
            <p:cNvSpPr/>
            <p:nvPr/>
          </p:nvSpPr>
          <p:spPr>
            <a:xfrm>
              <a:off x="4086225" y="5486400"/>
              <a:ext cx="4905375" cy="1066800"/>
            </a:xfrm>
            <a:custGeom>
              <a:avLst/>
              <a:gdLst/>
              <a:ahLst/>
              <a:cxnLst/>
              <a:rect l="l" t="t" r="r" b="b"/>
              <a:pathLst>
                <a:path w="4905375" h="1066800">
                  <a:moveTo>
                    <a:pt x="4905375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4905375" y="1066800"/>
                  </a:lnTo>
                  <a:lnTo>
                    <a:pt x="4905375" y="0"/>
                  </a:lnTo>
                  <a:close/>
                </a:path>
              </a:pathLst>
            </a:custGeom>
            <a:solidFill>
              <a:srgbClr val="F1F1F1">
                <a:alpha val="2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2925" y="2819400"/>
              <a:ext cx="3476625" cy="3733800"/>
            </a:xfrm>
            <a:custGeom>
              <a:avLst/>
              <a:gdLst/>
              <a:ahLst/>
              <a:cxnLst/>
              <a:rect l="l" t="t" r="r" b="b"/>
              <a:pathLst>
                <a:path w="3476625" h="3733800">
                  <a:moveTo>
                    <a:pt x="3476625" y="0"/>
                  </a:moveTo>
                  <a:lnTo>
                    <a:pt x="0" y="0"/>
                  </a:lnTo>
                  <a:lnTo>
                    <a:pt x="0" y="3733800"/>
                  </a:lnTo>
                  <a:lnTo>
                    <a:pt x="3476625" y="3733800"/>
                  </a:lnTo>
                  <a:lnTo>
                    <a:pt x="3476625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95750" y="2781300"/>
              <a:ext cx="4895850" cy="2628900"/>
            </a:xfrm>
            <a:custGeom>
              <a:avLst/>
              <a:gdLst/>
              <a:ahLst/>
              <a:cxnLst/>
              <a:rect l="l" t="t" r="r" b="b"/>
              <a:pathLst>
                <a:path w="4895850" h="2628900">
                  <a:moveTo>
                    <a:pt x="4895850" y="0"/>
                  </a:moveTo>
                  <a:lnTo>
                    <a:pt x="0" y="0"/>
                  </a:lnTo>
                  <a:lnTo>
                    <a:pt x="0" y="2628900"/>
                  </a:lnTo>
                  <a:lnTo>
                    <a:pt x="4895850" y="2628900"/>
                  </a:lnTo>
                  <a:lnTo>
                    <a:pt x="489585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975" y="1371599"/>
              <a:ext cx="8429625" cy="1276350"/>
            </a:xfrm>
            <a:custGeom>
              <a:avLst/>
              <a:gdLst/>
              <a:ahLst/>
              <a:cxnLst/>
              <a:rect l="l" t="t" r="r" b="b"/>
              <a:pathLst>
                <a:path w="8429625" h="1276350">
                  <a:moveTo>
                    <a:pt x="3457575" y="676275"/>
                  </a:moveTo>
                  <a:lnTo>
                    <a:pt x="0" y="676275"/>
                  </a:lnTo>
                  <a:lnTo>
                    <a:pt x="0" y="1276350"/>
                  </a:lnTo>
                  <a:lnTo>
                    <a:pt x="3457575" y="1276350"/>
                  </a:lnTo>
                  <a:lnTo>
                    <a:pt x="3457575" y="676275"/>
                  </a:lnTo>
                  <a:close/>
                </a:path>
                <a:path w="8429625" h="1276350">
                  <a:moveTo>
                    <a:pt x="3457575" y="0"/>
                  </a:moveTo>
                  <a:lnTo>
                    <a:pt x="0" y="0"/>
                  </a:lnTo>
                  <a:lnTo>
                    <a:pt x="0" y="590550"/>
                  </a:lnTo>
                  <a:lnTo>
                    <a:pt x="3457575" y="590550"/>
                  </a:lnTo>
                  <a:lnTo>
                    <a:pt x="3457575" y="0"/>
                  </a:lnTo>
                  <a:close/>
                </a:path>
                <a:path w="8429625" h="1276350">
                  <a:moveTo>
                    <a:pt x="8429625" y="676275"/>
                  </a:moveTo>
                  <a:lnTo>
                    <a:pt x="3533775" y="676275"/>
                  </a:lnTo>
                  <a:lnTo>
                    <a:pt x="3533775" y="1276350"/>
                  </a:lnTo>
                  <a:lnTo>
                    <a:pt x="8429625" y="1276350"/>
                  </a:lnTo>
                  <a:lnTo>
                    <a:pt x="8429625" y="676275"/>
                  </a:lnTo>
                  <a:close/>
                </a:path>
                <a:path w="8429625" h="1276350">
                  <a:moveTo>
                    <a:pt x="8429625" y="0"/>
                  </a:moveTo>
                  <a:lnTo>
                    <a:pt x="3533775" y="0"/>
                  </a:lnTo>
                  <a:lnTo>
                    <a:pt x="3533775" y="590550"/>
                  </a:lnTo>
                  <a:lnTo>
                    <a:pt x="8429625" y="590550"/>
                  </a:lnTo>
                  <a:lnTo>
                    <a:pt x="842962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0425" y="1461452"/>
            <a:ext cx="7664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Microsoft YaHei"/>
                <a:cs typeface="Microsoft YaHei"/>
              </a:rPr>
              <a:t>100x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2614" y="1614170"/>
            <a:ext cx="154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Microsoft YaHei"/>
                <a:cs typeface="Microsoft YaHei"/>
              </a:rPr>
              <a:t>数据需求响应速度提升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6559" y="1461452"/>
            <a:ext cx="1245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Microsoft YaHei"/>
                <a:cs typeface="Microsoft YaHei"/>
              </a:rPr>
              <a:t>反哺中台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8004" y="1614170"/>
            <a:ext cx="3205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icrosoft YaHei"/>
                <a:cs typeface="Microsoft YaHei"/>
              </a:rPr>
              <a:t>IT</a:t>
            </a:r>
            <a:r>
              <a:rPr sz="1200" spc="-5" dirty="0">
                <a:solidFill>
                  <a:srgbClr val="FFFFFF"/>
                </a:solidFill>
                <a:latin typeface="Microsoft YaHei"/>
                <a:cs typeface="Microsoft YaHei"/>
              </a:rPr>
              <a:t>人员快速了解业务，数据需求沉淀为数据资产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76400" y="1466850"/>
            <a:ext cx="76200" cy="426084"/>
          </a:xfrm>
          <a:custGeom>
            <a:avLst/>
            <a:gdLst/>
            <a:ahLst/>
            <a:cxnLst/>
            <a:rect l="l" t="t" r="r" b="b"/>
            <a:pathLst>
              <a:path w="76200" h="426085">
                <a:moveTo>
                  <a:pt x="47625" y="63500"/>
                </a:moveTo>
                <a:lnTo>
                  <a:pt x="28575" y="63500"/>
                </a:lnTo>
                <a:lnTo>
                  <a:pt x="28575" y="426085"/>
                </a:lnTo>
                <a:lnTo>
                  <a:pt x="47625" y="426085"/>
                </a:lnTo>
                <a:lnTo>
                  <a:pt x="47625" y="63500"/>
                </a:lnTo>
                <a:close/>
              </a:path>
              <a:path w="76200" h="426085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26085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60425" y="2143061"/>
            <a:ext cx="2698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2805" algn="l"/>
              </a:tabLst>
            </a:pPr>
            <a:r>
              <a:rPr sz="24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70%</a:t>
            </a:r>
            <a:r>
              <a:rPr sz="2400" b="1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1200" spc="-5" dirty="0">
                <a:solidFill>
                  <a:srgbClr val="FFFFFF"/>
                </a:solidFill>
                <a:latin typeface="Microsoft YaHei"/>
                <a:cs typeface="Microsoft YaHei"/>
              </a:rPr>
              <a:t>日常业务分析需求自助分析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6559" y="2143061"/>
            <a:ext cx="3598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1000+</a:t>
            </a:r>
            <a:r>
              <a:rPr sz="1200" spc="-5" dirty="0">
                <a:solidFill>
                  <a:srgbClr val="FFFFFF"/>
                </a:solidFill>
                <a:latin typeface="Microsoft YaHei"/>
                <a:cs typeface="Microsoft YaHei"/>
              </a:rPr>
              <a:t>上线一周，业务人员主动搜索问题数量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684" y="3133153"/>
            <a:ext cx="2766695" cy="1269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业务痛点</a:t>
            </a:r>
            <a:endParaRPr sz="2000">
              <a:latin typeface="Microsoft YaHei"/>
              <a:cs typeface="Microsoft YaHei"/>
            </a:endParaRPr>
          </a:p>
          <a:p>
            <a:pPr marL="45085">
              <a:lnSpc>
                <a:spcPct val="100000"/>
              </a:lnSpc>
              <a:spcBef>
                <a:spcPts val="1860"/>
              </a:spcBef>
            </a:pPr>
            <a:r>
              <a:rPr sz="1400" b="1" spc="-35" dirty="0">
                <a:latin typeface="Microsoft YaHei"/>
                <a:cs typeface="Microsoft YaHei"/>
              </a:rPr>
              <a:t>数据报告不灵活</a:t>
            </a:r>
            <a:endParaRPr sz="1400">
              <a:latin typeface="Microsoft YaHei"/>
              <a:cs typeface="Microsoft YaHei"/>
            </a:endParaRPr>
          </a:p>
          <a:p>
            <a:pPr marL="199390" indent="-170815">
              <a:lnSpc>
                <a:spcPct val="100000"/>
              </a:lnSpc>
              <a:spcBef>
                <a:spcPts val="885"/>
              </a:spcBef>
              <a:buFont typeface="Wingdings"/>
              <a:buChar char=""/>
              <a:tabLst>
                <a:tab pos="199390" algn="l"/>
              </a:tabLst>
            </a:pPr>
            <a:r>
              <a:rPr sz="1200" spc="-10" dirty="0">
                <a:latin typeface="Microsoft YaHei"/>
                <a:cs typeface="Microsoft YaHei"/>
              </a:rPr>
              <a:t>几十个看板、100</a:t>
            </a:r>
            <a:r>
              <a:rPr sz="1200" spc="-15" dirty="0">
                <a:latin typeface="Microsoft YaHei"/>
                <a:cs typeface="Microsoft YaHei"/>
              </a:rPr>
              <a:t>多张图表长期固定化</a:t>
            </a:r>
            <a:endParaRPr sz="1200">
              <a:latin typeface="Microsoft YaHei"/>
              <a:cs typeface="Microsoft YaHei"/>
            </a:endParaRPr>
          </a:p>
          <a:p>
            <a:pPr marL="199390" indent="-170815">
              <a:lnSpc>
                <a:spcPct val="100000"/>
              </a:lnSpc>
              <a:spcBef>
                <a:spcPts val="60"/>
              </a:spcBef>
              <a:buFont typeface="Wingdings"/>
              <a:buChar char=""/>
              <a:tabLst>
                <a:tab pos="199390" algn="l"/>
              </a:tabLst>
            </a:pPr>
            <a:r>
              <a:rPr sz="1200" spc="-15" dirty="0">
                <a:latin typeface="Microsoft YaHei"/>
                <a:cs typeface="Microsoft YaHei"/>
              </a:rPr>
              <a:t>临时需求的开发周期从数周到数个月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559" y="4538718"/>
            <a:ext cx="3092450" cy="842644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90"/>
              </a:spcBef>
            </a:pPr>
            <a:r>
              <a:rPr sz="1400" b="1" spc="-35" dirty="0">
                <a:latin typeface="Microsoft YaHei"/>
                <a:cs typeface="Microsoft YaHei"/>
              </a:rPr>
              <a:t>数据中台复杂沉重</a:t>
            </a:r>
            <a:endParaRPr sz="1400">
              <a:latin typeface="Microsoft YaHei"/>
              <a:cs typeface="Microsoft YaHei"/>
            </a:endParaRPr>
          </a:p>
          <a:p>
            <a:pPr marL="184150" marR="5080" indent="-171450">
              <a:lnSpc>
                <a:spcPct val="104400"/>
              </a:lnSpc>
              <a:spcBef>
                <a:spcPts val="750"/>
              </a:spcBef>
              <a:buFont typeface="Wingdings"/>
              <a:buChar char=""/>
              <a:tabLst>
                <a:tab pos="184150" algn="l"/>
              </a:tabLst>
            </a:pPr>
            <a:r>
              <a:rPr sz="1200" spc="-15" dirty="0">
                <a:latin typeface="Microsoft YaHei"/>
                <a:cs typeface="Microsoft YaHei"/>
              </a:rPr>
              <a:t>为了支持足够多的业务场景，需要搭建大量</a:t>
            </a:r>
            <a:r>
              <a:rPr sz="1200" spc="-10" dirty="0">
                <a:latin typeface="Microsoft YaHei"/>
                <a:cs typeface="Microsoft YaHei"/>
              </a:rPr>
              <a:t>复杂组件，编写大量</a:t>
            </a:r>
            <a:r>
              <a:rPr sz="1200" spc="-25" dirty="0">
                <a:latin typeface="Microsoft YaHei"/>
                <a:cs typeface="Microsoft YaHei"/>
              </a:rPr>
              <a:t>SQL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559" y="5535092"/>
            <a:ext cx="3244850" cy="82486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20"/>
              </a:spcBef>
            </a:pPr>
            <a:r>
              <a:rPr sz="1400" b="1" spc="-50" dirty="0">
                <a:latin typeface="Microsoft YaHei"/>
                <a:cs typeface="Microsoft YaHei"/>
              </a:rPr>
              <a:t>数据基建价值业务感知不明显</a:t>
            </a:r>
            <a:endParaRPr sz="1400">
              <a:latin typeface="Microsoft YaHei"/>
              <a:cs typeface="Microsoft YaHei"/>
            </a:endParaRPr>
          </a:p>
          <a:p>
            <a:pPr marL="183515" indent="-170815">
              <a:lnSpc>
                <a:spcPct val="100000"/>
              </a:lnSpc>
              <a:spcBef>
                <a:spcPts val="755"/>
              </a:spcBef>
              <a:buFont typeface="Wingdings"/>
              <a:buChar char=""/>
              <a:tabLst>
                <a:tab pos="183515" algn="l"/>
              </a:tabLst>
            </a:pPr>
            <a:r>
              <a:rPr sz="1200" spc="-5" dirty="0">
                <a:latin typeface="Microsoft YaHei"/>
                <a:cs typeface="Microsoft YaHei"/>
              </a:rPr>
              <a:t>业务部门对数据中台的建设价值感知不明显，</a:t>
            </a:r>
            <a:endParaRPr sz="1200">
              <a:latin typeface="Microsoft YaHei"/>
              <a:cs typeface="Microsoft YaHei"/>
            </a:endParaRPr>
          </a:p>
          <a:p>
            <a:pPr marL="184150">
              <a:lnSpc>
                <a:spcPct val="100000"/>
              </a:lnSpc>
              <a:spcBef>
                <a:spcPts val="60"/>
              </a:spcBef>
            </a:pPr>
            <a:r>
              <a:rPr sz="1200" spc="-15" dirty="0">
                <a:latin typeface="Microsoft YaHei"/>
                <a:cs typeface="Microsoft YaHei"/>
              </a:rPr>
              <a:t>数据未在企业内充分流动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04614" y="3133153"/>
            <a:ext cx="1507490" cy="2014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应用场景</a:t>
            </a:r>
            <a:endParaRPr sz="20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1725"/>
              </a:spcBef>
            </a:pPr>
            <a:r>
              <a:rPr sz="1200" b="1" spc="-25" dirty="0">
                <a:latin typeface="Microsoft YaHei"/>
                <a:cs typeface="Microsoft YaHei"/>
              </a:rPr>
              <a:t>高管</a:t>
            </a:r>
            <a:endParaRPr sz="12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Microsoft YaHei"/>
                <a:cs typeface="Microsoft YaHei"/>
              </a:rPr>
              <a:t>看大盘、看趋势</a:t>
            </a:r>
            <a:endParaRPr sz="12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1340"/>
              </a:spcBef>
            </a:pPr>
            <a:r>
              <a:rPr sz="1200" b="1" spc="-30" dirty="0">
                <a:latin typeface="Microsoft YaHei"/>
                <a:cs typeface="Microsoft YaHei"/>
              </a:rPr>
              <a:t>店长</a:t>
            </a:r>
            <a:endParaRPr sz="12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65"/>
              </a:spcBef>
            </a:pPr>
            <a:r>
              <a:rPr sz="1200" spc="-20" dirty="0">
                <a:latin typeface="Microsoft YaHei"/>
                <a:cs typeface="Microsoft YaHei"/>
              </a:rPr>
              <a:t>看门店、看对比</a:t>
            </a:r>
            <a:endParaRPr sz="12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1340"/>
              </a:spcBef>
            </a:pPr>
            <a:r>
              <a:rPr sz="1200" b="1" spc="-20" dirty="0">
                <a:latin typeface="Microsoft YaHei"/>
                <a:cs typeface="Microsoft YaHei"/>
              </a:rPr>
              <a:t>数据专家</a:t>
            </a:r>
            <a:endParaRPr sz="1200">
              <a:latin typeface="Microsoft YaHei"/>
              <a:cs typeface="Microsoft YaHei"/>
            </a:endParaRPr>
          </a:p>
          <a:p>
            <a:pPr marL="427355">
              <a:lnSpc>
                <a:spcPct val="100000"/>
              </a:lnSpc>
              <a:spcBef>
                <a:spcPts val="65"/>
              </a:spcBef>
            </a:pPr>
            <a:r>
              <a:rPr sz="1200" spc="-20" dirty="0">
                <a:latin typeface="Microsoft YaHei"/>
                <a:cs typeface="Microsoft YaHei"/>
              </a:rPr>
              <a:t>看深层分析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33875" y="2990850"/>
            <a:ext cx="4486275" cy="2274570"/>
            <a:chOff x="4333875" y="2990850"/>
            <a:chExt cx="4486275" cy="2274570"/>
          </a:xfrm>
        </p:grpSpPr>
        <p:sp>
          <p:nvSpPr>
            <p:cNvPr id="22" name="object 22"/>
            <p:cNvSpPr/>
            <p:nvPr/>
          </p:nvSpPr>
          <p:spPr>
            <a:xfrm>
              <a:off x="4333875" y="2990849"/>
              <a:ext cx="4486275" cy="2219325"/>
            </a:xfrm>
            <a:custGeom>
              <a:avLst/>
              <a:gdLst/>
              <a:ahLst/>
              <a:cxnLst/>
              <a:rect l="l" t="t" r="r" b="b"/>
              <a:pathLst>
                <a:path w="4486275" h="2219325">
                  <a:moveTo>
                    <a:pt x="189776" y="1934273"/>
                  </a:moveTo>
                  <a:lnTo>
                    <a:pt x="185293" y="1885061"/>
                  </a:lnTo>
                  <a:lnTo>
                    <a:pt x="157962" y="1835556"/>
                  </a:lnTo>
                  <a:lnTo>
                    <a:pt x="129032" y="1828800"/>
                  </a:lnTo>
                  <a:lnTo>
                    <a:pt x="118630" y="1829536"/>
                  </a:lnTo>
                  <a:lnTo>
                    <a:pt x="82016" y="1852256"/>
                  </a:lnTo>
                  <a:lnTo>
                    <a:pt x="72567" y="1890522"/>
                  </a:lnTo>
                  <a:lnTo>
                    <a:pt x="72542" y="1891411"/>
                  </a:lnTo>
                  <a:lnTo>
                    <a:pt x="72428" y="1894840"/>
                  </a:lnTo>
                  <a:lnTo>
                    <a:pt x="72301" y="1898370"/>
                  </a:lnTo>
                  <a:lnTo>
                    <a:pt x="76174" y="1927694"/>
                  </a:lnTo>
                  <a:lnTo>
                    <a:pt x="92316" y="1957133"/>
                  </a:lnTo>
                  <a:lnTo>
                    <a:pt x="128651" y="1970786"/>
                  </a:lnTo>
                  <a:lnTo>
                    <a:pt x="129413" y="1970786"/>
                  </a:lnTo>
                  <a:lnTo>
                    <a:pt x="167068" y="1969096"/>
                  </a:lnTo>
                  <a:lnTo>
                    <a:pt x="185445" y="1959597"/>
                  </a:lnTo>
                  <a:lnTo>
                    <a:pt x="189776" y="1934273"/>
                  </a:lnTo>
                  <a:close/>
                </a:path>
                <a:path w="4486275" h="2219325">
                  <a:moveTo>
                    <a:pt x="189865" y="871601"/>
                  </a:moveTo>
                  <a:lnTo>
                    <a:pt x="189623" y="869200"/>
                  </a:lnTo>
                  <a:lnTo>
                    <a:pt x="189522" y="868172"/>
                  </a:lnTo>
                  <a:lnTo>
                    <a:pt x="189484" y="867664"/>
                  </a:lnTo>
                  <a:lnTo>
                    <a:pt x="186944" y="864870"/>
                  </a:lnTo>
                  <a:lnTo>
                    <a:pt x="185293" y="863092"/>
                  </a:lnTo>
                  <a:lnTo>
                    <a:pt x="182880" y="862330"/>
                  </a:lnTo>
                  <a:lnTo>
                    <a:pt x="160020" y="862330"/>
                  </a:lnTo>
                  <a:lnTo>
                    <a:pt x="153035" y="871601"/>
                  </a:lnTo>
                  <a:lnTo>
                    <a:pt x="154813" y="874649"/>
                  </a:lnTo>
                  <a:lnTo>
                    <a:pt x="164592" y="889000"/>
                  </a:lnTo>
                  <a:lnTo>
                    <a:pt x="160020" y="926719"/>
                  </a:lnTo>
                  <a:lnTo>
                    <a:pt x="168910" y="950214"/>
                  </a:lnTo>
                  <a:lnTo>
                    <a:pt x="169799" y="952627"/>
                  </a:lnTo>
                  <a:lnTo>
                    <a:pt x="173101" y="952627"/>
                  </a:lnTo>
                  <a:lnTo>
                    <a:pt x="173990" y="950214"/>
                  </a:lnTo>
                  <a:lnTo>
                    <a:pt x="182880" y="926719"/>
                  </a:lnTo>
                  <a:lnTo>
                    <a:pt x="178308" y="889000"/>
                  </a:lnTo>
                  <a:lnTo>
                    <a:pt x="188087" y="874649"/>
                  </a:lnTo>
                  <a:lnTo>
                    <a:pt x="189865" y="871601"/>
                  </a:lnTo>
                  <a:close/>
                </a:path>
                <a:path w="4486275" h="2219325">
                  <a:moveTo>
                    <a:pt x="240030" y="772541"/>
                  </a:moveTo>
                  <a:lnTo>
                    <a:pt x="234632" y="746213"/>
                  </a:lnTo>
                  <a:lnTo>
                    <a:pt x="219925" y="724700"/>
                  </a:lnTo>
                  <a:lnTo>
                    <a:pt x="198120" y="710184"/>
                  </a:lnTo>
                  <a:lnTo>
                    <a:pt x="171450" y="704850"/>
                  </a:lnTo>
                  <a:lnTo>
                    <a:pt x="144830" y="710184"/>
                  </a:lnTo>
                  <a:lnTo>
                    <a:pt x="123075" y="724700"/>
                  </a:lnTo>
                  <a:lnTo>
                    <a:pt x="108381" y="746213"/>
                  </a:lnTo>
                  <a:lnTo>
                    <a:pt x="102997" y="772541"/>
                  </a:lnTo>
                  <a:lnTo>
                    <a:pt x="108381" y="798880"/>
                  </a:lnTo>
                  <a:lnTo>
                    <a:pt x="123075" y="820394"/>
                  </a:lnTo>
                  <a:lnTo>
                    <a:pt x="144830" y="834910"/>
                  </a:lnTo>
                  <a:lnTo>
                    <a:pt x="171450" y="840232"/>
                  </a:lnTo>
                  <a:lnTo>
                    <a:pt x="198120" y="834910"/>
                  </a:lnTo>
                  <a:lnTo>
                    <a:pt x="219925" y="820394"/>
                  </a:lnTo>
                  <a:lnTo>
                    <a:pt x="234632" y="798880"/>
                  </a:lnTo>
                  <a:lnTo>
                    <a:pt x="240030" y="772541"/>
                  </a:lnTo>
                  <a:close/>
                </a:path>
                <a:path w="4486275" h="2219325">
                  <a:moveTo>
                    <a:pt x="248793" y="2062861"/>
                  </a:moveTo>
                  <a:lnTo>
                    <a:pt x="248666" y="2058543"/>
                  </a:lnTo>
                  <a:lnTo>
                    <a:pt x="248488" y="2056638"/>
                  </a:lnTo>
                  <a:lnTo>
                    <a:pt x="247510" y="2045804"/>
                  </a:lnTo>
                  <a:lnTo>
                    <a:pt x="244043" y="2034717"/>
                  </a:lnTo>
                  <a:lnTo>
                    <a:pt x="243840" y="2034413"/>
                  </a:lnTo>
                  <a:lnTo>
                    <a:pt x="237172" y="2025015"/>
                  </a:lnTo>
                  <a:lnTo>
                    <a:pt x="237058" y="2024849"/>
                  </a:lnTo>
                  <a:lnTo>
                    <a:pt x="199491" y="2000389"/>
                  </a:lnTo>
                  <a:lnTo>
                    <a:pt x="171323" y="1986534"/>
                  </a:lnTo>
                  <a:lnTo>
                    <a:pt x="148717" y="2056638"/>
                  </a:lnTo>
                  <a:lnTo>
                    <a:pt x="135509" y="2019935"/>
                  </a:lnTo>
                  <a:lnTo>
                    <a:pt x="144983" y="2001405"/>
                  </a:lnTo>
                  <a:lnTo>
                    <a:pt x="142824" y="1991448"/>
                  </a:lnTo>
                  <a:lnTo>
                    <a:pt x="135445" y="1987423"/>
                  </a:lnTo>
                  <a:lnTo>
                    <a:pt x="129286" y="1986661"/>
                  </a:lnTo>
                  <a:lnTo>
                    <a:pt x="129032" y="1986661"/>
                  </a:lnTo>
                  <a:lnTo>
                    <a:pt x="122986" y="1987423"/>
                  </a:lnTo>
                  <a:lnTo>
                    <a:pt x="115646" y="1991448"/>
                  </a:lnTo>
                  <a:lnTo>
                    <a:pt x="113474" y="2001405"/>
                  </a:lnTo>
                  <a:lnTo>
                    <a:pt x="122936" y="2019935"/>
                  </a:lnTo>
                  <a:lnTo>
                    <a:pt x="109728" y="2056638"/>
                  </a:lnTo>
                  <a:lnTo>
                    <a:pt x="86995" y="1986661"/>
                  </a:lnTo>
                  <a:lnTo>
                    <a:pt x="82130" y="1989010"/>
                  </a:lnTo>
                  <a:lnTo>
                    <a:pt x="69507" y="1995347"/>
                  </a:lnTo>
                  <a:lnTo>
                    <a:pt x="32893" y="2015744"/>
                  </a:lnTo>
                  <a:lnTo>
                    <a:pt x="9525" y="2058543"/>
                  </a:lnTo>
                  <a:lnTo>
                    <a:pt x="9525" y="2062861"/>
                  </a:lnTo>
                  <a:lnTo>
                    <a:pt x="9652" y="2120646"/>
                  </a:lnTo>
                  <a:lnTo>
                    <a:pt x="61468" y="2120646"/>
                  </a:lnTo>
                  <a:lnTo>
                    <a:pt x="106934" y="2076323"/>
                  </a:lnTo>
                  <a:lnTo>
                    <a:pt x="109474" y="2073783"/>
                  </a:lnTo>
                  <a:lnTo>
                    <a:pt x="115062" y="2068322"/>
                  </a:lnTo>
                  <a:lnTo>
                    <a:pt x="122682" y="2065274"/>
                  </a:lnTo>
                  <a:lnTo>
                    <a:pt x="138811" y="2065274"/>
                  </a:lnTo>
                  <a:lnTo>
                    <a:pt x="146304" y="2068322"/>
                  </a:lnTo>
                  <a:lnTo>
                    <a:pt x="152019" y="2073783"/>
                  </a:lnTo>
                  <a:lnTo>
                    <a:pt x="154559" y="2076323"/>
                  </a:lnTo>
                  <a:lnTo>
                    <a:pt x="194818" y="2115439"/>
                  </a:lnTo>
                  <a:lnTo>
                    <a:pt x="216662" y="2094230"/>
                  </a:lnTo>
                  <a:lnTo>
                    <a:pt x="225806" y="2085213"/>
                  </a:lnTo>
                  <a:lnTo>
                    <a:pt x="246303" y="2065274"/>
                  </a:lnTo>
                  <a:lnTo>
                    <a:pt x="248793" y="2062861"/>
                  </a:lnTo>
                  <a:close/>
                </a:path>
                <a:path w="4486275" h="2219325">
                  <a:moveTo>
                    <a:pt x="280530" y="1951228"/>
                  </a:moveTo>
                  <a:lnTo>
                    <a:pt x="275704" y="1940814"/>
                  </a:lnTo>
                  <a:lnTo>
                    <a:pt x="266192" y="1932686"/>
                  </a:lnTo>
                  <a:lnTo>
                    <a:pt x="261366" y="1930019"/>
                  </a:lnTo>
                  <a:lnTo>
                    <a:pt x="256032" y="1928114"/>
                  </a:lnTo>
                  <a:lnTo>
                    <a:pt x="250952" y="1925955"/>
                  </a:lnTo>
                  <a:lnTo>
                    <a:pt x="247904" y="1924812"/>
                  </a:lnTo>
                  <a:lnTo>
                    <a:pt x="245110" y="1923415"/>
                  </a:lnTo>
                  <a:lnTo>
                    <a:pt x="242570" y="1921383"/>
                  </a:lnTo>
                  <a:lnTo>
                    <a:pt x="237617" y="1917573"/>
                  </a:lnTo>
                  <a:lnTo>
                    <a:pt x="238582" y="1911477"/>
                  </a:lnTo>
                  <a:lnTo>
                    <a:pt x="238633" y="1911223"/>
                  </a:lnTo>
                  <a:lnTo>
                    <a:pt x="244475" y="1908810"/>
                  </a:lnTo>
                  <a:lnTo>
                    <a:pt x="246126" y="1908048"/>
                  </a:lnTo>
                  <a:lnTo>
                    <a:pt x="247777" y="1907794"/>
                  </a:lnTo>
                  <a:lnTo>
                    <a:pt x="249555" y="1907794"/>
                  </a:lnTo>
                  <a:lnTo>
                    <a:pt x="256286" y="1907413"/>
                  </a:lnTo>
                  <a:lnTo>
                    <a:pt x="262763" y="1908556"/>
                  </a:lnTo>
                  <a:lnTo>
                    <a:pt x="268859" y="1911477"/>
                  </a:lnTo>
                  <a:lnTo>
                    <a:pt x="271907" y="1912874"/>
                  </a:lnTo>
                  <a:lnTo>
                    <a:pt x="272923" y="1912493"/>
                  </a:lnTo>
                  <a:lnTo>
                    <a:pt x="274396" y="1908048"/>
                  </a:lnTo>
                  <a:lnTo>
                    <a:pt x="274485" y="1907794"/>
                  </a:lnTo>
                  <a:lnTo>
                    <a:pt x="274612" y="1907413"/>
                  </a:lnTo>
                  <a:lnTo>
                    <a:pt x="275082" y="1906016"/>
                  </a:lnTo>
                  <a:lnTo>
                    <a:pt x="275971" y="1902841"/>
                  </a:lnTo>
                  <a:lnTo>
                    <a:pt x="276987" y="1899539"/>
                  </a:lnTo>
                  <a:lnTo>
                    <a:pt x="277622" y="1897253"/>
                  </a:lnTo>
                  <a:lnTo>
                    <a:pt x="276860" y="1895856"/>
                  </a:lnTo>
                  <a:lnTo>
                    <a:pt x="274701" y="1894840"/>
                  </a:lnTo>
                  <a:lnTo>
                    <a:pt x="270764" y="1893316"/>
                  </a:lnTo>
                  <a:lnTo>
                    <a:pt x="266827" y="1892046"/>
                  </a:lnTo>
                  <a:lnTo>
                    <a:pt x="262509" y="1891411"/>
                  </a:lnTo>
                  <a:lnTo>
                    <a:pt x="256921" y="1890522"/>
                  </a:lnTo>
                  <a:lnTo>
                    <a:pt x="256921" y="1877568"/>
                  </a:lnTo>
                  <a:lnTo>
                    <a:pt x="241935" y="1877568"/>
                  </a:lnTo>
                  <a:lnTo>
                    <a:pt x="241300" y="1878203"/>
                  </a:lnTo>
                  <a:lnTo>
                    <a:pt x="241173" y="1881759"/>
                  </a:lnTo>
                  <a:lnTo>
                    <a:pt x="241046" y="1891411"/>
                  </a:lnTo>
                  <a:lnTo>
                    <a:pt x="236474" y="1892935"/>
                  </a:lnTo>
                  <a:lnTo>
                    <a:pt x="217297" y="1916684"/>
                  </a:lnTo>
                  <a:lnTo>
                    <a:pt x="217843" y="1923415"/>
                  </a:lnTo>
                  <a:lnTo>
                    <a:pt x="217906" y="1924075"/>
                  </a:lnTo>
                  <a:lnTo>
                    <a:pt x="220535" y="1930019"/>
                  </a:lnTo>
                  <a:lnTo>
                    <a:pt x="220662" y="1930311"/>
                  </a:lnTo>
                  <a:lnTo>
                    <a:pt x="225221" y="1935543"/>
                  </a:lnTo>
                  <a:lnTo>
                    <a:pt x="231267" y="1939925"/>
                  </a:lnTo>
                  <a:lnTo>
                    <a:pt x="236855" y="1943100"/>
                  </a:lnTo>
                  <a:lnTo>
                    <a:pt x="242951" y="1945005"/>
                  </a:lnTo>
                  <a:lnTo>
                    <a:pt x="251079" y="1948561"/>
                  </a:lnTo>
                  <a:lnTo>
                    <a:pt x="253365" y="1949704"/>
                  </a:lnTo>
                  <a:lnTo>
                    <a:pt x="255270" y="1951228"/>
                  </a:lnTo>
                  <a:lnTo>
                    <a:pt x="260858" y="1955800"/>
                  </a:lnTo>
                  <a:lnTo>
                    <a:pt x="259956" y="1962531"/>
                  </a:lnTo>
                  <a:lnTo>
                    <a:pt x="259842" y="1963420"/>
                  </a:lnTo>
                  <a:lnTo>
                    <a:pt x="253111" y="1966087"/>
                  </a:lnTo>
                  <a:lnTo>
                    <a:pt x="249555" y="1967611"/>
                  </a:lnTo>
                  <a:lnTo>
                    <a:pt x="245745" y="1968119"/>
                  </a:lnTo>
                  <a:lnTo>
                    <a:pt x="235839" y="1966849"/>
                  </a:lnTo>
                  <a:lnTo>
                    <a:pt x="230124" y="1965325"/>
                  </a:lnTo>
                  <a:lnTo>
                    <a:pt x="221488" y="1960880"/>
                  </a:lnTo>
                  <a:lnTo>
                    <a:pt x="220599" y="1961388"/>
                  </a:lnTo>
                  <a:lnTo>
                    <a:pt x="219456" y="1964690"/>
                  </a:lnTo>
                  <a:lnTo>
                    <a:pt x="217678" y="1970532"/>
                  </a:lnTo>
                  <a:lnTo>
                    <a:pt x="215900" y="1977390"/>
                  </a:lnTo>
                  <a:lnTo>
                    <a:pt x="216179" y="1978152"/>
                  </a:lnTo>
                  <a:lnTo>
                    <a:pt x="216281" y="1978406"/>
                  </a:lnTo>
                  <a:lnTo>
                    <a:pt x="225171" y="1982470"/>
                  </a:lnTo>
                  <a:lnTo>
                    <a:pt x="230251" y="1983740"/>
                  </a:lnTo>
                  <a:lnTo>
                    <a:pt x="235712" y="1984502"/>
                  </a:lnTo>
                  <a:lnTo>
                    <a:pt x="240030" y="1985264"/>
                  </a:lnTo>
                  <a:lnTo>
                    <a:pt x="240106" y="1994636"/>
                  </a:lnTo>
                  <a:lnTo>
                    <a:pt x="240157" y="1995347"/>
                  </a:lnTo>
                  <a:lnTo>
                    <a:pt x="240258" y="1997837"/>
                  </a:lnTo>
                  <a:lnTo>
                    <a:pt x="241300" y="1999107"/>
                  </a:lnTo>
                  <a:lnTo>
                    <a:pt x="254889" y="1999107"/>
                  </a:lnTo>
                  <a:lnTo>
                    <a:pt x="256159" y="1997837"/>
                  </a:lnTo>
                  <a:lnTo>
                    <a:pt x="256032" y="1985010"/>
                  </a:lnTo>
                  <a:lnTo>
                    <a:pt x="257060" y="1983740"/>
                  </a:lnTo>
                  <a:lnTo>
                    <a:pt x="256730" y="1983740"/>
                  </a:lnTo>
                  <a:lnTo>
                    <a:pt x="259842" y="1982851"/>
                  </a:lnTo>
                  <a:lnTo>
                    <a:pt x="265938" y="1981200"/>
                  </a:lnTo>
                  <a:lnTo>
                    <a:pt x="271018" y="1978152"/>
                  </a:lnTo>
                  <a:lnTo>
                    <a:pt x="275082" y="1973453"/>
                  </a:lnTo>
                  <a:lnTo>
                    <a:pt x="277774" y="1968119"/>
                  </a:lnTo>
                  <a:lnTo>
                    <a:pt x="280492" y="1962772"/>
                  </a:lnTo>
                  <a:lnTo>
                    <a:pt x="280530" y="1951228"/>
                  </a:lnTo>
                  <a:close/>
                </a:path>
                <a:path w="4486275" h="2219325">
                  <a:moveTo>
                    <a:pt x="304800" y="929513"/>
                  </a:moveTo>
                  <a:lnTo>
                    <a:pt x="280250" y="881608"/>
                  </a:lnTo>
                  <a:lnTo>
                    <a:pt x="242938" y="869200"/>
                  </a:lnTo>
                  <a:lnTo>
                    <a:pt x="226949" y="867029"/>
                  </a:lnTo>
                  <a:lnTo>
                    <a:pt x="223901" y="866013"/>
                  </a:lnTo>
                  <a:lnTo>
                    <a:pt x="220599" y="867664"/>
                  </a:lnTo>
                  <a:lnTo>
                    <a:pt x="219646" y="870521"/>
                  </a:lnTo>
                  <a:lnTo>
                    <a:pt x="178435" y="982091"/>
                  </a:lnTo>
                  <a:lnTo>
                    <a:pt x="176149" y="988568"/>
                  </a:lnTo>
                  <a:lnTo>
                    <a:pt x="166878" y="988568"/>
                  </a:lnTo>
                  <a:lnTo>
                    <a:pt x="164465" y="982091"/>
                  </a:lnTo>
                  <a:lnTo>
                    <a:pt x="123545" y="871016"/>
                  </a:lnTo>
                  <a:lnTo>
                    <a:pt x="122428" y="868172"/>
                  </a:lnTo>
                  <a:lnTo>
                    <a:pt x="120142" y="866775"/>
                  </a:lnTo>
                  <a:lnTo>
                    <a:pt x="117729" y="866775"/>
                  </a:lnTo>
                  <a:lnTo>
                    <a:pt x="79756" y="872871"/>
                  </a:lnTo>
                  <a:lnTo>
                    <a:pt x="40982" y="910996"/>
                  </a:lnTo>
                  <a:lnTo>
                    <a:pt x="38100" y="1022604"/>
                  </a:lnTo>
                  <a:lnTo>
                    <a:pt x="40093" y="1032383"/>
                  </a:lnTo>
                  <a:lnTo>
                    <a:pt x="45554" y="1040371"/>
                  </a:lnTo>
                  <a:lnTo>
                    <a:pt x="53632" y="1045768"/>
                  </a:lnTo>
                  <a:lnTo>
                    <a:pt x="63500" y="1047750"/>
                  </a:lnTo>
                  <a:lnTo>
                    <a:pt x="279400" y="1047750"/>
                  </a:lnTo>
                  <a:lnTo>
                    <a:pt x="289255" y="1045768"/>
                  </a:lnTo>
                  <a:lnTo>
                    <a:pt x="297332" y="1040371"/>
                  </a:lnTo>
                  <a:lnTo>
                    <a:pt x="302793" y="1032383"/>
                  </a:lnTo>
                  <a:lnTo>
                    <a:pt x="304800" y="1022604"/>
                  </a:lnTo>
                  <a:lnTo>
                    <a:pt x="304800" y="988568"/>
                  </a:lnTo>
                  <a:lnTo>
                    <a:pt x="304800" y="929513"/>
                  </a:lnTo>
                  <a:close/>
                </a:path>
                <a:path w="4486275" h="2219325">
                  <a:moveTo>
                    <a:pt x="305435" y="1312037"/>
                  </a:moveTo>
                  <a:lnTo>
                    <a:pt x="297688" y="1304925"/>
                  </a:lnTo>
                  <a:lnTo>
                    <a:pt x="44450" y="1304925"/>
                  </a:lnTo>
                  <a:lnTo>
                    <a:pt x="37465" y="1312037"/>
                  </a:lnTo>
                  <a:lnTo>
                    <a:pt x="37465" y="1330071"/>
                  </a:lnTo>
                  <a:lnTo>
                    <a:pt x="45212" y="1337183"/>
                  </a:lnTo>
                  <a:lnTo>
                    <a:pt x="298450" y="1337183"/>
                  </a:lnTo>
                  <a:lnTo>
                    <a:pt x="305435" y="1330071"/>
                  </a:lnTo>
                  <a:lnTo>
                    <a:pt x="305435" y="1312037"/>
                  </a:lnTo>
                  <a:close/>
                </a:path>
                <a:path w="4486275" h="2219325">
                  <a:moveTo>
                    <a:pt x="311785" y="1493520"/>
                  </a:moveTo>
                  <a:lnTo>
                    <a:pt x="307848" y="1494282"/>
                  </a:lnTo>
                  <a:lnTo>
                    <a:pt x="293751" y="1494282"/>
                  </a:lnTo>
                  <a:lnTo>
                    <a:pt x="292227" y="1493520"/>
                  </a:lnTo>
                  <a:lnTo>
                    <a:pt x="289941" y="1493520"/>
                  </a:lnTo>
                  <a:lnTo>
                    <a:pt x="289179" y="1492758"/>
                  </a:lnTo>
                  <a:lnTo>
                    <a:pt x="287528" y="1492758"/>
                  </a:lnTo>
                  <a:lnTo>
                    <a:pt x="284480" y="1491996"/>
                  </a:lnTo>
                  <a:lnTo>
                    <a:pt x="282067" y="1491107"/>
                  </a:lnTo>
                  <a:lnTo>
                    <a:pt x="279019" y="1490345"/>
                  </a:lnTo>
                  <a:lnTo>
                    <a:pt x="279019" y="1570482"/>
                  </a:lnTo>
                  <a:lnTo>
                    <a:pt x="64643" y="1570482"/>
                  </a:lnTo>
                  <a:lnTo>
                    <a:pt x="64643" y="1494282"/>
                  </a:lnTo>
                  <a:lnTo>
                    <a:pt x="64643" y="1490345"/>
                  </a:lnTo>
                  <a:lnTo>
                    <a:pt x="61595" y="1491107"/>
                  </a:lnTo>
                  <a:lnTo>
                    <a:pt x="59182" y="1491996"/>
                  </a:lnTo>
                  <a:lnTo>
                    <a:pt x="56134" y="1492758"/>
                  </a:lnTo>
                  <a:lnTo>
                    <a:pt x="55372" y="1493520"/>
                  </a:lnTo>
                  <a:lnTo>
                    <a:pt x="52959" y="1493520"/>
                  </a:lnTo>
                  <a:lnTo>
                    <a:pt x="51435" y="1494282"/>
                  </a:lnTo>
                  <a:lnTo>
                    <a:pt x="35052" y="1494282"/>
                  </a:lnTo>
                  <a:lnTo>
                    <a:pt x="32004" y="1493520"/>
                  </a:lnTo>
                  <a:lnTo>
                    <a:pt x="32004" y="1612138"/>
                  </a:lnTo>
                  <a:lnTo>
                    <a:pt x="39751" y="1619250"/>
                  </a:lnTo>
                  <a:lnTo>
                    <a:pt x="304673" y="1619250"/>
                  </a:lnTo>
                  <a:lnTo>
                    <a:pt x="311785" y="1611376"/>
                  </a:lnTo>
                  <a:lnTo>
                    <a:pt x="311785" y="1570482"/>
                  </a:lnTo>
                  <a:lnTo>
                    <a:pt x="311785" y="1494282"/>
                  </a:lnTo>
                  <a:lnTo>
                    <a:pt x="311785" y="1493520"/>
                  </a:lnTo>
                  <a:close/>
                </a:path>
                <a:path w="4486275" h="2219325">
                  <a:moveTo>
                    <a:pt x="333629" y="2026920"/>
                  </a:moveTo>
                  <a:lnTo>
                    <a:pt x="331724" y="2025015"/>
                  </a:lnTo>
                  <a:lnTo>
                    <a:pt x="326644" y="2025015"/>
                  </a:lnTo>
                  <a:lnTo>
                    <a:pt x="284149" y="2026920"/>
                  </a:lnTo>
                  <a:lnTo>
                    <a:pt x="283464" y="2026920"/>
                  </a:lnTo>
                  <a:lnTo>
                    <a:pt x="276479" y="2027301"/>
                  </a:lnTo>
                  <a:lnTo>
                    <a:pt x="275209" y="2030095"/>
                  </a:lnTo>
                  <a:lnTo>
                    <a:pt x="273939" y="2032762"/>
                  </a:lnTo>
                  <a:lnTo>
                    <a:pt x="275463" y="2034413"/>
                  </a:lnTo>
                  <a:lnTo>
                    <a:pt x="276987" y="2035937"/>
                  </a:lnTo>
                  <a:lnTo>
                    <a:pt x="281686" y="2040509"/>
                  </a:lnTo>
                  <a:lnTo>
                    <a:pt x="286258" y="2045208"/>
                  </a:lnTo>
                  <a:lnTo>
                    <a:pt x="291084" y="2049526"/>
                  </a:lnTo>
                  <a:lnTo>
                    <a:pt x="240157" y="2099056"/>
                  </a:lnTo>
                  <a:lnTo>
                    <a:pt x="231013" y="2108073"/>
                  </a:lnTo>
                  <a:lnTo>
                    <a:pt x="194818" y="2143252"/>
                  </a:lnTo>
                  <a:lnTo>
                    <a:pt x="192786" y="2141220"/>
                  </a:lnTo>
                  <a:lnTo>
                    <a:pt x="164071" y="2113280"/>
                  </a:lnTo>
                  <a:lnTo>
                    <a:pt x="140335" y="2090166"/>
                  </a:lnTo>
                  <a:lnTo>
                    <a:pt x="137922" y="2087753"/>
                  </a:lnTo>
                  <a:lnTo>
                    <a:pt x="135890" y="2085848"/>
                  </a:lnTo>
                  <a:lnTo>
                    <a:pt x="133350" y="2084832"/>
                  </a:lnTo>
                  <a:lnTo>
                    <a:pt x="128270" y="2084832"/>
                  </a:lnTo>
                  <a:lnTo>
                    <a:pt x="125603" y="2085848"/>
                  </a:lnTo>
                  <a:lnTo>
                    <a:pt x="123825" y="2087753"/>
                  </a:lnTo>
                  <a:lnTo>
                    <a:pt x="121285" y="2090166"/>
                  </a:lnTo>
                  <a:lnTo>
                    <a:pt x="65024" y="2145030"/>
                  </a:lnTo>
                  <a:lnTo>
                    <a:pt x="65024" y="2151253"/>
                  </a:lnTo>
                  <a:lnTo>
                    <a:pt x="68961" y="2155063"/>
                  </a:lnTo>
                  <a:lnTo>
                    <a:pt x="71374" y="2157476"/>
                  </a:lnTo>
                  <a:lnTo>
                    <a:pt x="73406" y="2159381"/>
                  </a:lnTo>
                  <a:lnTo>
                    <a:pt x="75819" y="2160270"/>
                  </a:lnTo>
                  <a:lnTo>
                    <a:pt x="81026" y="2160270"/>
                  </a:lnTo>
                  <a:lnTo>
                    <a:pt x="83566" y="2159381"/>
                  </a:lnTo>
                  <a:lnTo>
                    <a:pt x="85471" y="2157476"/>
                  </a:lnTo>
                  <a:lnTo>
                    <a:pt x="130810" y="2113280"/>
                  </a:lnTo>
                  <a:lnTo>
                    <a:pt x="132969" y="2115439"/>
                  </a:lnTo>
                  <a:lnTo>
                    <a:pt x="185293" y="2166366"/>
                  </a:lnTo>
                  <a:lnTo>
                    <a:pt x="189738" y="2170811"/>
                  </a:lnTo>
                  <a:lnTo>
                    <a:pt x="192278" y="2171700"/>
                  </a:lnTo>
                  <a:lnTo>
                    <a:pt x="197358" y="2171700"/>
                  </a:lnTo>
                  <a:lnTo>
                    <a:pt x="200025" y="2170811"/>
                  </a:lnTo>
                  <a:lnTo>
                    <a:pt x="201930" y="2168906"/>
                  </a:lnTo>
                  <a:lnTo>
                    <a:pt x="204343" y="2166366"/>
                  </a:lnTo>
                  <a:lnTo>
                    <a:pt x="228142" y="2143252"/>
                  </a:lnTo>
                  <a:lnTo>
                    <a:pt x="256794" y="2115439"/>
                  </a:lnTo>
                  <a:lnTo>
                    <a:pt x="260477" y="2111756"/>
                  </a:lnTo>
                  <a:lnTo>
                    <a:pt x="302514" y="2070862"/>
                  </a:lnTo>
                  <a:lnTo>
                    <a:pt x="307467" y="2065909"/>
                  </a:lnTo>
                  <a:lnTo>
                    <a:pt x="321183" y="2079117"/>
                  </a:lnTo>
                  <a:lnTo>
                    <a:pt x="323723" y="2081657"/>
                  </a:lnTo>
                  <a:lnTo>
                    <a:pt x="326834" y="2081657"/>
                  </a:lnTo>
                  <a:lnTo>
                    <a:pt x="327787" y="2081022"/>
                  </a:lnTo>
                  <a:lnTo>
                    <a:pt x="330581" y="2079625"/>
                  </a:lnTo>
                  <a:lnTo>
                    <a:pt x="331216" y="2077212"/>
                  </a:lnTo>
                  <a:lnTo>
                    <a:pt x="331520" y="2070862"/>
                  </a:lnTo>
                  <a:lnTo>
                    <a:pt x="331635" y="2068322"/>
                  </a:lnTo>
                  <a:lnTo>
                    <a:pt x="331749" y="2065909"/>
                  </a:lnTo>
                  <a:lnTo>
                    <a:pt x="333159" y="2035937"/>
                  </a:lnTo>
                  <a:lnTo>
                    <a:pt x="333603" y="2027301"/>
                  </a:lnTo>
                  <a:lnTo>
                    <a:pt x="333629" y="2026920"/>
                  </a:lnTo>
                  <a:close/>
                </a:path>
                <a:path w="4486275" h="2219325">
                  <a:moveTo>
                    <a:pt x="342900" y="1435354"/>
                  </a:moveTo>
                  <a:lnTo>
                    <a:pt x="313309" y="1353693"/>
                  </a:lnTo>
                  <a:lnTo>
                    <a:pt x="30353" y="1353693"/>
                  </a:lnTo>
                  <a:lnTo>
                    <a:pt x="0" y="1435354"/>
                  </a:lnTo>
                  <a:lnTo>
                    <a:pt x="3390" y="1452067"/>
                  </a:lnTo>
                  <a:lnTo>
                    <a:pt x="12649" y="1465808"/>
                  </a:lnTo>
                  <a:lnTo>
                    <a:pt x="26301" y="1475117"/>
                  </a:lnTo>
                  <a:lnTo>
                    <a:pt x="42926" y="1478534"/>
                  </a:lnTo>
                  <a:lnTo>
                    <a:pt x="59461" y="1475117"/>
                  </a:lnTo>
                  <a:lnTo>
                    <a:pt x="73088" y="1465808"/>
                  </a:lnTo>
                  <a:lnTo>
                    <a:pt x="82321" y="1452067"/>
                  </a:lnTo>
                  <a:lnTo>
                    <a:pt x="85725" y="1435354"/>
                  </a:lnTo>
                  <a:lnTo>
                    <a:pt x="89115" y="1452067"/>
                  </a:lnTo>
                  <a:lnTo>
                    <a:pt x="98374" y="1465808"/>
                  </a:lnTo>
                  <a:lnTo>
                    <a:pt x="112026" y="1475117"/>
                  </a:lnTo>
                  <a:lnTo>
                    <a:pt x="128651" y="1478534"/>
                  </a:lnTo>
                  <a:lnTo>
                    <a:pt x="145186" y="1475117"/>
                  </a:lnTo>
                  <a:lnTo>
                    <a:pt x="158813" y="1465808"/>
                  </a:lnTo>
                  <a:lnTo>
                    <a:pt x="168046" y="1452067"/>
                  </a:lnTo>
                  <a:lnTo>
                    <a:pt x="171450" y="1435354"/>
                  </a:lnTo>
                  <a:lnTo>
                    <a:pt x="174840" y="1452067"/>
                  </a:lnTo>
                  <a:lnTo>
                    <a:pt x="184099" y="1465808"/>
                  </a:lnTo>
                  <a:lnTo>
                    <a:pt x="197751" y="1475117"/>
                  </a:lnTo>
                  <a:lnTo>
                    <a:pt x="214376" y="1478534"/>
                  </a:lnTo>
                  <a:lnTo>
                    <a:pt x="230911" y="1475117"/>
                  </a:lnTo>
                  <a:lnTo>
                    <a:pt x="244538" y="1465808"/>
                  </a:lnTo>
                  <a:lnTo>
                    <a:pt x="253771" y="1452067"/>
                  </a:lnTo>
                  <a:lnTo>
                    <a:pt x="257175" y="1435354"/>
                  </a:lnTo>
                  <a:lnTo>
                    <a:pt x="260565" y="1452067"/>
                  </a:lnTo>
                  <a:lnTo>
                    <a:pt x="269824" y="1465808"/>
                  </a:lnTo>
                  <a:lnTo>
                    <a:pt x="283476" y="1475117"/>
                  </a:lnTo>
                  <a:lnTo>
                    <a:pt x="300101" y="1478534"/>
                  </a:lnTo>
                  <a:lnTo>
                    <a:pt x="316636" y="1475117"/>
                  </a:lnTo>
                  <a:lnTo>
                    <a:pt x="330263" y="1465808"/>
                  </a:lnTo>
                  <a:lnTo>
                    <a:pt x="339496" y="1452067"/>
                  </a:lnTo>
                  <a:lnTo>
                    <a:pt x="342900" y="1435354"/>
                  </a:lnTo>
                  <a:close/>
                </a:path>
                <a:path w="4486275" h="2219325">
                  <a:moveTo>
                    <a:pt x="4486275" y="2219325"/>
                  </a:moveTo>
                  <a:lnTo>
                    <a:pt x="3200400" y="0"/>
                  </a:lnTo>
                  <a:lnTo>
                    <a:pt x="1914525" y="2219325"/>
                  </a:lnTo>
                  <a:lnTo>
                    <a:pt x="4486275" y="2219325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00926" y="4110100"/>
              <a:ext cx="1287780" cy="1151890"/>
            </a:xfrm>
            <a:custGeom>
              <a:avLst/>
              <a:gdLst/>
              <a:ahLst/>
              <a:cxnLst/>
              <a:rect l="l" t="t" r="r" b="b"/>
              <a:pathLst>
                <a:path w="1287779" h="1151889">
                  <a:moveTo>
                    <a:pt x="0" y="0"/>
                  </a:moveTo>
                  <a:lnTo>
                    <a:pt x="656844" y="351155"/>
                  </a:lnTo>
                </a:path>
                <a:path w="1287779" h="1151889">
                  <a:moveTo>
                    <a:pt x="1287779" y="0"/>
                  </a:moveTo>
                  <a:lnTo>
                    <a:pt x="657225" y="351155"/>
                  </a:lnTo>
                </a:path>
                <a:path w="1287779" h="1151889">
                  <a:moveTo>
                    <a:pt x="657859" y="342900"/>
                  </a:moveTo>
                  <a:lnTo>
                    <a:pt x="638175" y="1151763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08494" y="3702304"/>
            <a:ext cx="1172210" cy="53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25"/>
              </a:spcBef>
            </a:pPr>
            <a:r>
              <a:rPr sz="11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高管看</a:t>
            </a:r>
            <a:endParaRPr sz="1100">
              <a:latin typeface="Microsoft YaHei"/>
              <a:cs typeface="Microsoft YaHei"/>
            </a:endParaRPr>
          </a:p>
          <a:p>
            <a:pPr marR="5080" algn="ctr">
              <a:lnSpc>
                <a:spcPts val="1295"/>
              </a:lnSpc>
              <a:spcBef>
                <a:spcPts val="30"/>
              </a:spcBef>
            </a:pPr>
            <a:r>
              <a:rPr sz="1100" spc="5" dirty="0">
                <a:solidFill>
                  <a:srgbClr val="FFFFFF"/>
                </a:solidFill>
                <a:latin typeface="Microsoft YaHei"/>
                <a:cs typeface="Microsoft YaHei"/>
              </a:rPr>
              <a:t>基于“四率二效”</a:t>
            </a:r>
            <a:endParaRPr sz="1100">
              <a:latin typeface="Microsoft YaHei"/>
              <a:cs typeface="Microsoft YaHei"/>
            </a:endParaRPr>
          </a:p>
          <a:p>
            <a:pPr algn="ctr">
              <a:lnSpc>
                <a:spcPts val="1295"/>
              </a:lnSpc>
            </a:pPr>
            <a:r>
              <a:rPr sz="1100" spc="-30" dirty="0">
                <a:solidFill>
                  <a:srgbClr val="FFFFFF"/>
                </a:solidFill>
                <a:latin typeface="Microsoft YaHei"/>
                <a:cs typeface="Microsoft YaHei"/>
              </a:rPr>
              <a:t>的运营数据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9859" y="4579239"/>
            <a:ext cx="995044" cy="53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25"/>
              </a:spcBef>
            </a:pPr>
            <a:r>
              <a:rPr sz="11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数据专家看</a:t>
            </a:r>
            <a:endParaRPr sz="1100">
              <a:latin typeface="Microsoft YaHei"/>
              <a:cs typeface="Microsoft YaHei"/>
            </a:endParaRPr>
          </a:p>
          <a:p>
            <a:pPr marR="5080" algn="ctr">
              <a:lnSpc>
                <a:spcPts val="1280"/>
              </a:lnSpc>
              <a:spcBef>
                <a:spcPts val="105"/>
              </a:spcBef>
            </a:pPr>
            <a:r>
              <a:rPr sz="1100" spc="-30" dirty="0">
                <a:solidFill>
                  <a:srgbClr val="FFFFFF"/>
                </a:solidFill>
                <a:latin typeface="Microsoft YaHei"/>
                <a:cs typeface="Microsoft YaHei"/>
              </a:rPr>
              <a:t>更深层次的原因</a:t>
            </a:r>
            <a:r>
              <a:rPr sz="1100" spc="-25" dirty="0">
                <a:solidFill>
                  <a:srgbClr val="FFFFFF"/>
                </a:solidFill>
                <a:latin typeface="Microsoft YaHei"/>
                <a:cs typeface="Microsoft YaHei"/>
              </a:rPr>
              <a:t>分析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25409" y="4579239"/>
            <a:ext cx="718185" cy="530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indent="139700">
              <a:lnSpc>
                <a:spcPct val="99500"/>
              </a:lnSpc>
              <a:spcBef>
                <a:spcPts val="130"/>
              </a:spcBef>
            </a:pPr>
            <a:r>
              <a:rPr sz="11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店长看</a:t>
            </a:r>
            <a:r>
              <a:rPr sz="1100" b="1" spc="50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Microsoft YaHei"/>
                <a:cs typeface="Microsoft YaHei"/>
              </a:rPr>
              <a:t>所辖店铺的</a:t>
            </a:r>
            <a:r>
              <a:rPr sz="1100" spc="-35" dirty="0">
                <a:solidFill>
                  <a:srgbClr val="FFFFFF"/>
                </a:solidFill>
                <a:latin typeface="Microsoft YaHei"/>
                <a:cs typeface="Microsoft YaHei"/>
              </a:rPr>
              <a:t>销售数据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56276" y="5760084"/>
            <a:ext cx="3579495" cy="75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现业务、发现业务、挖掘业务、决策业务。</a:t>
            </a:r>
            <a:endParaRPr sz="1200" dirty="0">
              <a:latin typeface="Microsoft YaHei"/>
              <a:cs typeface="Microsoft YaHei"/>
            </a:endParaRPr>
          </a:p>
          <a:p>
            <a:pPr marL="12700" marR="5080" algn="just">
              <a:lnSpc>
                <a:spcPct val="99000"/>
              </a:lnSpc>
              <a:spcBef>
                <a:spcPts val="5"/>
              </a:spcBef>
            </a:pPr>
            <a:r>
              <a:rPr sz="1200" dirty="0" err="1">
                <a:latin typeface="Microsoft YaHei"/>
                <a:cs typeface="Microsoft YaHei"/>
              </a:rPr>
              <a:t>BI</a:t>
            </a:r>
            <a:r>
              <a:rPr sz="1200" spc="-10" dirty="0" err="1">
                <a:latin typeface="Microsoft YaHei"/>
                <a:cs typeface="Microsoft YaHei"/>
              </a:rPr>
              <a:t>让每个具有一定商业洞察能力的人，获取数据的成本降至最低，这就是我们和ChatBI</a:t>
            </a:r>
            <a:r>
              <a:rPr sz="1200" spc="-20" dirty="0" err="1">
                <a:latin typeface="Microsoft YaHei"/>
                <a:cs typeface="Microsoft YaHei"/>
              </a:rPr>
              <a:t>合作过程</a:t>
            </a:r>
            <a:r>
              <a:rPr sz="1200" spc="-15" dirty="0" err="1">
                <a:latin typeface="Microsoft YaHei"/>
                <a:cs typeface="Microsoft YaHei"/>
              </a:rPr>
              <a:t>中最大的价值点</a:t>
            </a:r>
            <a:r>
              <a:rPr sz="1200" spc="-15" dirty="0">
                <a:latin typeface="Microsoft YaHei"/>
                <a:cs typeface="Microsoft YaHei"/>
              </a:rPr>
              <a:t>。</a:t>
            </a:r>
            <a:endParaRPr sz="1200" dirty="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75454" y="5540375"/>
            <a:ext cx="45916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b="1" spc="-44" baseline="-19841" dirty="0">
                <a:latin typeface="Microsoft YaHei"/>
                <a:cs typeface="Microsoft YaHei"/>
              </a:rPr>
              <a:t>雅戈尔</a:t>
            </a:r>
            <a:r>
              <a:rPr sz="2100" b="1" baseline="-19841" dirty="0">
                <a:latin typeface="Microsoft YaHei"/>
                <a:cs typeface="Microsoft YaHei"/>
              </a:rPr>
              <a:t>CIO</a:t>
            </a:r>
            <a:r>
              <a:rPr sz="2100" b="1" spc="532" baseline="-19841" dirty="0">
                <a:latin typeface="Microsoft YaHei"/>
                <a:cs typeface="Microsoft YaHei"/>
              </a:rPr>
              <a:t> </a:t>
            </a:r>
            <a:r>
              <a:rPr sz="1200" dirty="0">
                <a:latin typeface="Microsoft YaHei"/>
                <a:cs typeface="Microsoft YaHei"/>
              </a:rPr>
              <a:t>IT</a:t>
            </a:r>
            <a:r>
              <a:rPr sz="1200" spc="-5" dirty="0">
                <a:latin typeface="Microsoft YaHei"/>
                <a:cs typeface="Microsoft YaHei"/>
              </a:rPr>
              <a:t>团队最大的价值就是如何用数据帮助业务团队去呈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24400" y="6029325"/>
            <a:ext cx="371475" cy="352425"/>
          </a:xfrm>
          <a:custGeom>
            <a:avLst/>
            <a:gdLst/>
            <a:ahLst/>
            <a:cxnLst/>
            <a:rect l="l" t="t" r="r" b="b"/>
            <a:pathLst>
              <a:path w="371475" h="352425">
                <a:moveTo>
                  <a:pt x="364744" y="76"/>
                </a:moveTo>
                <a:lnTo>
                  <a:pt x="218439" y="76"/>
                </a:lnTo>
                <a:lnTo>
                  <a:pt x="211582" y="7010"/>
                </a:lnTo>
                <a:lnTo>
                  <a:pt x="211582" y="157721"/>
                </a:lnTo>
                <a:lnTo>
                  <a:pt x="218439" y="164731"/>
                </a:lnTo>
                <a:lnTo>
                  <a:pt x="275336" y="164731"/>
                </a:lnTo>
                <a:lnTo>
                  <a:pt x="271006" y="205470"/>
                </a:lnTo>
                <a:lnTo>
                  <a:pt x="261461" y="234656"/>
                </a:lnTo>
                <a:lnTo>
                  <a:pt x="246725" y="252219"/>
                </a:lnTo>
                <a:lnTo>
                  <a:pt x="226822" y="258089"/>
                </a:lnTo>
                <a:lnTo>
                  <a:pt x="218439" y="258089"/>
                </a:lnTo>
                <a:lnTo>
                  <a:pt x="211582" y="265010"/>
                </a:lnTo>
                <a:lnTo>
                  <a:pt x="211582" y="345503"/>
                </a:lnTo>
                <a:lnTo>
                  <a:pt x="218439" y="352425"/>
                </a:lnTo>
                <a:lnTo>
                  <a:pt x="226822" y="352425"/>
                </a:lnTo>
                <a:lnTo>
                  <a:pt x="244076" y="351465"/>
                </a:lnTo>
                <a:lnTo>
                  <a:pt x="289813" y="337184"/>
                </a:lnTo>
                <a:lnTo>
                  <a:pt x="325961" y="307390"/>
                </a:lnTo>
                <a:lnTo>
                  <a:pt x="351458" y="265010"/>
                </a:lnTo>
                <a:lnTo>
                  <a:pt x="366545" y="211567"/>
                </a:lnTo>
                <a:lnTo>
                  <a:pt x="370927" y="170984"/>
                </a:lnTo>
                <a:lnTo>
                  <a:pt x="371475" y="149161"/>
                </a:lnTo>
                <a:lnTo>
                  <a:pt x="371475" y="7010"/>
                </a:lnTo>
                <a:lnTo>
                  <a:pt x="364744" y="76"/>
                </a:lnTo>
                <a:close/>
              </a:path>
              <a:path w="371475" h="352425">
                <a:moveTo>
                  <a:pt x="153162" y="0"/>
                </a:moveTo>
                <a:lnTo>
                  <a:pt x="6730" y="0"/>
                </a:lnTo>
                <a:lnTo>
                  <a:pt x="0" y="7010"/>
                </a:lnTo>
                <a:lnTo>
                  <a:pt x="0" y="157721"/>
                </a:lnTo>
                <a:lnTo>
                  <a:pt x="6730" y="164731"/>
                </a:lnTo>
                <a:lnTo>
                  <a:pt x="63119" y="164731"/>
                </a:lnTo>
                <a:lnTo>
                  <a:pt x="58888" y="205438"/>
                </a:lnTo>
                <a:lnTo>
                  <a:pt x="49466" y="234627"/>
                </a:lnTo>
                <a:lnTo>
                  <a:pt x="34901" y="252208"/>
                </a:lnTo>
                <a:lnTo>
                  <a:pt x="15239" y="258089"/>
                </a:lnTo>
                <a:lnTo>
                  <a:pt x="6730" y="258089"/>
                </a:lnTo>
                <a:lnTo>
                  <a:pt x="0" y="265010"/>
                </a:lnTo>
                <a:lnTo>
                  <a:pt x="0" y="345503"/>
                </a:lnTo>
                <a:lnTo>
                  <a:pt x="6730" y="352425"/>
                </a:lnTo>
                <a:lnTo>
                  <a:pt x="15239" y="352425"/>
                </a:lnTo>
                <a:lnTo>
                  <a:pt x="32442" y="351465"/>
                </a:lnTo>
                <a:lnTo>
                  <a:pt x="78359" y="337184"/>
                </a:lnTo>
                <a:lnTo>
                  <a:pt x="114381" y="307390"/>
                </a:lnTo>
                <a:lnTo>
                  <a:pt x="139939" y="265010"/>
                </a:lnTo>
                <a:lnTo>
                  <a:pt x="155017" y="211555"/>
                </a:lnTo>
                <a:lnTo>
                  <a:pt x="159347" y="170946"/>
                </a:lnTo>
                <a:lnTo>
                  <a:pt x="159892" y="149161"/>
                </a:lnTo>
                <a:lnTo>
                  <a:pt x="159892" y="7010"/>
                </a:lnTo>
                <a:lnTo>
                  <a:pt x="153162" y="0"/>
                </a:lnTo>
                <a:close/>
              </a:path>
            </a:pathLst>
          </a:custGeom>
          <a:solidFill>
            <a:srgbClr val="362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3762375"/>
            <a:ext cx="1057275" cy="69532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176384" y="4602162"/>
            <a:ext cx="1685925" cy="6743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400" b="1" spc="-30" dirty="0">
                <a:latin typeface="Microsoft YaHei"/>
                <a:cs typeface="Microsoft YaHei"/>
              </a:rPr>
              <a:t>行业：零售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400" b="1" spc="-25" dirty="0">
                <a:latin typeface="Microsoft YaHei"/>
                <a:cs typeface="Microsoft YaHei"/>
              </a:rPr>
              <a:t>应用平台：</a:t>
            </a:r>
            <a:r>
              <a:rPr sz="1400" b="1" spc="-20" dirty="0">
                <a:latin typeface="Microsoft YaHei"/>
                <a:cs typeface="Microsoft YaHei"/>
              </a:rPr>
              <a:t>PC</a:t>
            </a:r>
            <a:r>
              <a:rPr sz="1400" b="1" spc="-50" dirty="0">
                <a:latin typeface="Microsoft YaHei"/>
                <a:cs typeface="Microsoft YaHei"/>
              </a:rPr>
              <a:t>，钉钉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25280" y="5503214"/>
            <a:ext cx="233870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200" spc="-5" dirty="0">
                <a:latin typeface="Microsoft YaHei"/>
                <a:cs typeface="Microsoft YaHei"/>
              </a:rPr>
              <a:t>雅戈尔是服装零售行业大型跨国集团公司，男衬衫品类连续</a:t>
            </a:r>
            <a:r>
              <a:rPr sz="1200" spc="-10" dirty="0">
                <a:latin typeface="Microsoft YaHei"/>
                <a:cs typeface="Microsoft YaHei"/>
              </a:rPr>
              <a:t>26</a:t>
            </a:r>
            <a:r>
              <a:rPr sz="1200" spc="-20" dirty="0">
                <a:latin typeface="Microsoft YaHei"/>
                <a:cs typeface="Microsoft YaHei"/>
              </a:rPr>
              <a:t>年获得</a:t>
            </a:r>
            <a:r>
              <a:rPr sz="1200" spc="-5" dirty="0">
                <a:latin typeface="Microsoft YaHei"/>
                <a:cs typeface="Microsoft YaHei"/>
              </a:rPr>
              <a:t>市场综合占有率第一男西服品类连</a:t>
            </a:r>
            <a:r>
              <a:rPr sz="1200" dirty="0">
                <a:latin typeface="Microsoft YaHei"/>
                <a:cs typeface="Microsoft YaHei"/>
              </a:rPr>
              <a:t>续</a:t>
            </a:r>
            <a:r>
              <a:rPr sz="1200" spc="-10" dirty="0">
                <a:latin typeface="Microsoft YaHei"/>
                <a:cs typeface="Microsoft YaHei"/>
              </a:rPr>
              <a:t>23</a:t>
            </a:r>
            <a:r>
              <a:rPr sz="1200" spc="-5" dirty="0">
                <a:latin typeface="Microsoft YaHei"/>
                <a:cs typeface="Microsoft YaHei"/>
              </a:rPr>
              <a:t>年保持市场综合占有率第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67800" y="1371600"/>
            <a:ext cx="241935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829175" cy="5153025"/>
            <a:chOff x="0" y="0"/>
            <a:chExt cx="4829175" cy="5153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1500" y="1876425"/>
              <a:ext cx="4210050" cy="3276600"/>
            </a:xfrm>
            <a:custGeom>
              <a:avLst/>
              <a:gdLst/>
              <a:ahLst/>
              <a:cxnLst/>
              <a:rect l="l" t="t" r="r" b="b"/>
              <a:pathLst>
                <a:path w="4210050" h="3276600">
                  <a:moveTo>
                    <a:pt x="4210050" y="0"/>
                  </a:moveTo>
                  <a:lnTo>
                    <a:pt x="0" y="0"/>
                  </a:lnTo>
                  <a:lnTo>
                    <a:pt x="0" y="3276600"/>
                  </a:lnTo>
                  <a:lnTo>
                    <a:pt x="4210050" y="3276600"/>
                  </a:lnTo>
                  <a:lnTo>
                    <a:pt x="4210050" y="0"/>
                  </a:lnTo>
                  <a:close/>
                </a:path>
              </a:pathLst>
            </a:custGeom>
            <a:solidFill>
              <a:srgbClr val="F6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677" y="350456"/>
            <a:ext cx="4907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味全：以数据为驱动的高效工作文化</a:t>
            </a:r>
          </a:p>
        </p:txBody>
      </p:sp>
      <p:sp>
        <p:nvSpPr>
          <p:cNvPr id="7" name="object 7"/>
          <p:cNvSpPr/>
          <p:nvPr/>
        </p:nvSpPr>
        <p:spPr>
          <a:xfrm>
            <a:off x="561975" y="5257800"/>
            <a:ext cx="8429625" cy="1323975"/>
          </a:xfrm>
          <a:custGeom>
            <a:avLst/>
            <a:gdLst/>
            <a:ahLst/>
            <a:cxnLst/>
            <a:rect l="l" t="t" r="r" b="b"/>
            <a:pathLst>
              <a:path w="8429625" h="1323975">
                <a:moveTo>
                  <a:pt x="8429625" y="0"/>
                </a:moveTo>
                <a:lnTo>
                  <a:pt x="0" y="0"/>
                </a:lnTo>
                <a:lnTo>
                  <a:pt x="0" y="1323975"/>
                </a:lnTo>
                <a:lnTo>
                  <a:pt x="8429625" y="1323975"/>
                </a:lnTo>
                <a:lnTo>
                  <a:pt x="8429625" y="0"/>
                </a:lnTo>
                <a:close/>
              </a:path>
            </a:pathLst>
          </a:custGeom>
          <a:solidFill>
            <a:srgbClr val="F1F1F1">
              <a:alpha val="270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915150" y="1838325"/>
            <a:ext cx="2076450" cy="3343275"/>
            <a:chOff x="6915150" y="1838325"/>
            <a:chExt cx="2076450" cy="3343275"/>
          </a:xfrm>
        </p:grpSpPr>
        <p:sp>
          <p:nvSpPr>
            <p:cNvPr id="9" name="object 9"/>
            <p:cNvSpPr/>
            <p:nvPr/>
          </p:nvSpPr>
          <p:spPr>
            <a:xfrm>
              <a:off x="6915150" y="1838325"/>
              <a:ext cx="2076450" cy="3343275"/>
            </a:xfrm>
            <a:custGeom>
              <a:avLst/>
              <a:gdLst/>
              <a:ahLst/>
              <a:cxnLst/>
              <a:rect l="l" t="t" r="r" b="b"/>
              <a:pathLst>
                <a:path w="2076450" h="3343275">
                  <a:moveTo>
                    <a:pt x="2076450" y="0"/>
                  </a:moveTo>
                  <a:lnTo>
                    <a:pt x="0" y="0"/>
                  </a:lnTo>
                  <a:lnTo>
                    <a:pt x="0" y="3343275"/>
                  </a:lnTo>
                  <a:lnTo>
                    <a:pt x="2076450" y="3343275"/>
                  </a:lnTo>
                  <a:lnTo>
                    <a:pt x="207645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4225" y="3429000"/>
              <a:ext cx="209550" cy="1714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7575" y="3905250"/>
              <a:ext cx="66673" cy="66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750" y="3762375"/>
              <a:ext cx="171450" cy="2095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5175" y="4095750"/>
              <a:ext cx="209550" cy="190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4225" y="4124325"/>
              <a:ext cx="171450" cy="123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96125" y="2438400"/>
              <a:ext cx="247650" cy="2095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10425" y="2495550"/>
              <a:ext cx="161925" cy="152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750" y="2771775"/>
              <a:ext cx="180975" cy="1809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3275" y="3095625"/>
              <a:ext cx="219075" cy="20955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857750" y="1809750"/>
            <a:ext cx="2000250" cy="3354704"/>
            <a:chOff x="4857750" y="1809750"/>
            <a:chExt cx="2000250" cy="3354704"/>
          </a:xfrm>
        </p:grpSpPr>
        <p:sp>
          <p:nvSpPr>
            <p:cNvPr id="20" name="object 20"/>
            <p:cNvSpPr/>
            <p:nvPr/>
          </p:nvSpPr>
          <p:spPr>
            <a:xfrm>
              <a:off x="4857750" y="1809750"/>
              <a:ext cx="2000250" cy="3352800"/>
            </a:xfrm>
            <a:custGeom>
              <a:avLst/>
              <a:gdLst/>
              <a:ahLst/>
              <a:cxnLst/>
              <a:rect l="l" t="t" r="r" b="b"/>
              <a:pathLst>
                <a:path w="2000250" h="3352800">
                  <a:moveTo>
                    <a:pt x="200025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2000250" y="3352800"/>
                  </a:lnTo>
                  <a:lnTo>
                    <a:pt x="2000250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34251" y="1909826"/>
              <a:ext cx="0" cy="3248025"/>
            </a:xfrm>
            <a:custGeom>
              <a:avLst/>
              <a:gdLst/>
              <a:ahLst/>
              <a:cxnLst/>
              <a:rect l="l" t="t" r="r" b="b"/>
              <a:pathLst>
                <a:path h="3248025">
                  <a:moveTo>
                    <a:pt x="0" y="0"/>
                  </a:moveTo>
                  <a:lnTo>
                    <a:pt x="0" y="3247898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975" y="1143000"/>
            <a:ext cx="2705100" cy="600075"/>
          </a:xfrm>
          <a:prstGeom prst="rect">
            <a:avLst/>
          </a:prstGeom>
          <a:solidFill>
            <a:srgbClr val="3623C5"/>
          </a:solidFill>
        </p:spPr>
        <p:txBody>
          <a:bodyPr vert="horz" wrap="square" lIns="0" tIns="107950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850"/>
              </a:spcBef>
            </a:pPr>
            <a:r>
              <a:rPr sz="2400" b="1" dirty="0">
                <a:solidFill>
                  <a:srgbClr val="FFFFFF"/>
                </a:solidFill>
                <a:latin typeface="Microsoft YaHei"/>
                <a:cs typeface="Microsoft YaHei"/>
              </a:rPr>
              <a:t>What</a:t>
            </a:r>
            <a:r>
              <a:rPr sz="2400" b="1" spc="114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Microsoft YaHei"/>
                <a:cs typeface="Microsoft YaHei"/>
              </a:rPr>
              <a:t>通过问答得知当前现状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1489" y="5317235"/>
            <a:ext cx="7032625" cy="11226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500"/>
              </a:spcBef>
              <a:buChar char="•"/>
              <a:tabLst>
                <a:tab pos="171450" algn="l"/>
              </a:tabLst>
            </a:pPr>
            <a:r>
              <a:rPr sz="1100" spc="-30" dirty="0">
                <a:latin typeface="Microsoft YaHei"/>
                <a:cs typeface="Microsoft YaHei"/>
              </a:rPr>
              <a:t>通过客户给出的数据</a:t>
            </a:r>
            <a:r>
              <a:rPr sz="1100" dirty="0">
                <a:latin typeface="Microsoft YaHei"/>
                <a:cs typeface="Microsoft YaHei"/>
              </a:rPr>
              <a:t>api</a:t>
            </a:r>
            <a:r>
              <a:rPr sz="1100" spc="-55" dirty="0">
                <a:latin typeface="Microsoft YaHei"/>
                <a:cs typeface="Microsoft YaHei"/>
              </a:rPr>
              <a:t>，将多源异构数据统一整合至本系统，进行一站式问答。</a:t>
            </a:r>
            <a:endParaRPr sz="1100">
              <a:latin typeface="Microsoft YaHei"/>
              <a:cs typeface="Microsoft YaHei"/>
            </a:endParaRPr>
          </a:p>
          <a:p>
            <a:pPr marL="171450" indent="-171450">
              <a:lnSpc>
                <a:spcPct val="100000"/>
              </a:lnSpc>
              <a:spcBef>
                <a:spcPts val="409"/>
              </a:spcBef>
              <a:buChar char="•"/>
              <a:tabLst>
                <a:tab pos="171450" algn="l"/>
              </a:tabLst>
            </a:pPr>
            <a:r>
              <a:rPr sz="1100" spc="-35" dirty="0">
                <a:latin typeface="Microsoft YaHei"/>
                <a:cs typeface="Microsoft YaHei"/>
              </a:rPr>
              <a:t>完整的数据管道功能：全量更新 + 增量更新。</a:t>
            </a:r>
            <a:endParaRPr sz="1100">
              <a:latin typeface="Microsoft YaHei"/>
              <a:cs typeface="Microsoft YaHei"/>
            </a:endParaRPr>
          </a:p>
          <a:p>
            <a:pPr marL="171450" indent="-171450">
              <a:lnSpc>
                <a:spcPct val="100000"/>
              </a:lnSpc>
              <a:spcBef>
                <a:spcPts val="405"/>
              </a:spcBef>
              <a:buChar char="•"/>
              <a:tabLst>
                <a:tab pos="171450" algn="l"/>
              </a:tabLst>
            </a:pPr>
            <a:r>
              <a:rPr sz="1100" spc="-45" dirty="0">
                <a:latin typeface="Microsoft YaHei"/>
                <a:cs typeface="Microsoft YaHei"/>
              </a:rPr>
              <a:t>所有运算结果均从明细数据得出，达成数据</a:t>
            </a:r>
            <a:r>
              <a:rPr sz="1100" dirty="0">
                <a:latin typeface="Microsoft YaHei"/>
                <a:cs typeface="Microsoft YaHei"/>
              </a:rPr>
              <a:t>single</a:t>
            </a:r>
            <a:r>
              <a:rPr sz="1100" spc="180" dirty="0">
                <a:latin typeface="Microsoft YaHei"/>
                <a:cs typeface="Microsoft YaHei"/>
              </a:rPr>
              <a:t> </a:t>
            </a:r>
            <a:r>
              <a:rPr sz="1100" spc="-10" dirty="0">
                <a:latin typeface="Microsoft YaHei"/>
                <a:cs typeface="Microsoft YaHei"/>
              </a:rPr>
              <a:t>source</a:t>
            </a:r>
            <a:r>
              <a:rPr sz="1100" spc="70" dirty="0">
                <a:latin typeface="Microsoft YaHei"/>
                <a:cs typeface="Microsoft YaHei"/>
              </a:rPr>
              <a:t> </a:t>
            </a:r>
            <a:r>
              <a:rPr sz="1100" dirty="0">
                <a:latin typeface="Microsoft YaHei"/>
                <a:cs typeface="Microsoft YaHei"/>
              </a:rPr>
              <a:t>of</a:t>
            </a:r>
            <a:r>
              <a:rPr sz="1100" spc="105" dirty="0">
                <a:latin typeface="Microsoft YaHei"/>
                <a:cs typeface="Microsoft YaHei"/>
              </a:rPr>
              <a:t> </a:t>
            </a:r>
            <a:r>
              <a:rPr sz="1100" dirty="0">
                <a:latin typeface="Microsoft YaHei"/>
                <a:cs typeface="Microsoft YaHei"/>
              </a:rPr>
              <a:t>truth</a:t>
            </a:r>
            <a:r>
              <a:rPr sz="1100" spc="-35" dirty="0">
                <a:latin typeface="Microsoft YaHei"/>
                <a:cs typeface="Microsoft YaHei"/>
              </a:rPr>
              <a:t>，保证数据结果正确。</a:t>
            </a:r>
            <a:endParaRPr sz="1100">
              <a:latin typeface="Microsoft YaHei"/>
              <a:cs typeface="Microsoft YaHei"/>
            </a:endParaRPr>
          </a:p>
          <a:p>
            <a:pPr marL="170180" marR="5080" indent="-170815">
              <a:lnSpc>
                <a:spcPct val="130900"/>
              </a:lnSpc>
              <a:buChar char="•"/>
              <a:tabLst>
                <a:tab pos="171450" algn="l"/>
              </a:tabLst>
            </a:pPr>
            <a:r>
              <a:rPr sz="1100" spc="-60" dirty="0">
                <a:latin typeface="Microsoft YaHei"/>
                <a:cs typeface="Microsoft YaHei"/>
              </a:rPr>
              <a:t>使用了我们系统后，甲方通过问答对数据指标进行了二次核对，发现了之前自己数据本身未发现的一些错误，帮</a:t>
            </a:r>
            <a:r>
              <a:rPr sz="1100" spc="-20" dirty="0">
                <a:latin typeface="Microsoft YaHei"/>
                <a:cs typeface="Microsoft YaHei"/>
              </a:rPr>
              <a:t>助客	户提升数据质量。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805" y="5312727"/>
            <a:ext cx="7283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35" dirty="0">
                <a:latin typeface="Microsoft YaHei"/>
                <a:cs typeface="Microsoft YaHei"/>
              </a:rPr>
              <a:t>工作成果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57275" y="5753100"/>
            <a:ext cx="371475" cy="352425"/>
          </a:xfrm>
          <a:custGeom>
            <a:avLst/>
            <a:gdLst/>
            <a:ahLst/>
            <a:cxnLst/>
            <a:rect l="l" t="t" r="r" b="b"/>
            <a:pathLst>
              <a:path w="371475" h="352425">
                <a:moveTo>
                  <a:pt x="364744" y="76"/>
                </a:moveTo>
                <a:lnTo>
                  <a:pt x="218440" y="76"/>
                </a:lnTo>
                <a:lnTo>
                  <a:pt x="211518" y="7010"/>
                </a:lnTo>
                <a:lnTo>
                  <a:pt x="211518" y="157721"/>
                </a:lnTo>
                <a:lnTo>
                  <a:pt x="218440" y="164731"/>
                </a:lnTo>
                <a:lnTo>
                  <a:pt x="275336" y="164731"/>
                </a:lnTo>
                <a:lnTo>
                  <a:pt x="271006" y="205470"/>
                </a:lnTo>
                <a:lnTo>
                  <a:pt x="261461" y="234656"/>
                </a:lnTo>
                <a:lnTo>
                  <a:pt x="246725" y="252219"/>
                </a:lnTo>
                <a:lnTo>
                  <a:pt x="226822" y="258089"/>
                </a:lnTo>
                <a:lnTo>
                  <a:pt x="218440" y="258089"/>
                </a:lnTo>
                <a:lnTo>
                  <a:pt x="211518" y="265010"/>
                </a:lnTo>
                <a:lnTo>
                  <a:pt x="211518" y="345503"/>
                </a:lnTo>
                <a:lnTo>
                  <a:pt x="218440" y="352425"/>
                </a:lnTo>
                <a:lnTo>
                  <a:pt x="226822" y="352425"/>
                </a:lnTo>
                <a:lnTo>
                  <a:pt x="244076" y="351465"/>
                </a:lnTo>
                <a:lnTo>
                  <a:pt x="289813" y="337184"/>
                </a:lnTo>
                <a:lnTo>
                  <a:pt x="325961" y="307390"/>
                </a:lnTo>
                <a:lnTo>
                  <a:pt x="351458" y="265010"/>
                </a:lnTo>
                <a:lnTo>
                  <a:pt x="366545" y="211567"/>
                </a:lnTo>
                <a:lnTo>
                  <a:pt x="370927" y="170984"/>
                </a:lnTo>
                <a:lnTo>
                  <a:pt x="371475" y="149161"/>
                </a:lnTo>
                <a:lnTo>
                  <a:pt x="371475" y="7010"/>
                </a:lnTo>
                <a:lnTo>
                  <a:pt x="364744" y="76"/>
                </a:lnTo>
                <a:close/>
              </a:path>
              <a:path w="371475" h="352425">
                <a:moveTo>
                  <a:pt x="153174" y="0"/>
                </a:moveTo>
                <a:lnTo>
                  <a:pt x="6781" y="0"/>
                </a:lnTo>
                <a:lnTo>
                  <a:pt x="0" y="7010"/>
                </a:lnTo>
                <a:lnTo>
                  <a:pt x="0" y="157721"/>
                </a:lnTo>
                <a:lnTo>
                  <a:pt x="6781" y="164731"/>
                </a:lnTo>
                <a:lnTo>
                  <a:pt x="63131" y="164731"/>
                </a:lnTo>
                <a:lnTo>
                  <a:pt x="58859" y="205438"/>
                </a:lnTo>
                <a:lnTo>
                  <a:pt x="49425" y="234627"/>
                </a:lnTo>
                <a:lnTo>
                  <a:pt x="34871" y="252208"/>
                </a:lnTo>
                <a:lnTo>
                  <a:pt x="15240" y="258089"/>
                </a:lnTo>
                <a:lnTo>
                  <a:pt x="6781" y="258089"/>
                </a:lnTo>
                <a:lnTo>
                  <a:pt x="0" y="265010"/>
                </a:lnTo>
                <a:lnTo>
                  <a:pt x="0" y="345503"/>
                </a:lnTo>
                <a:lnTo>
                  <a:pt x="6781" y="352425"/>
                </a:lnTo>
                <a:lnTo>
                  <a:pt x="15240" y="352425"/>
                </a:lnTo>
                <a:lnTo>
                  <a:pt x="32456" y="351465"/>
                </a:lnTo>
                <a:lnTo>
                  <a:pt x="78308" y="337184"/>
                </a:lnTo>
                <a:lnTo>
                  <a:pt x="114384" y="307390"/>
                </a:lnTo>
                <a:lnTo>
                  <a:pt x="139952" y="265010"/>
                </a:lnTo>
                <a:lnTo>
                  <a:pt x="155038" y="211555"/>
                </a:lnTo>
                <a:lnTo>
                  <a:pt x="159404" y="170946"/>
                </a:lnTo>
                <a:lnTo>
                  <a:pt x="159956" y="149161"/>
                </a:lnTo>
                <a:lnTo>
                  <a:pt x="159956" y="7010"/>
                </a:lnTo>
                <a:lnTo>
                  <a:pt x="153174" y="0"/>
                </a:lnTo>
                <a:close/>
              </a:path>
            </a:pathLst>
          </a:custGeom>
          <a:solidFill>
            <a:srgbClr val="362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124950" y="3481133"/>
            <a:ext cx="1685925" cy="6743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400" b="1" spc="-30" dirty="0">
                <a:latin typeface="Microsoft YaHei"/>
                <a:cs typeface="Microsoft YaHei"/>
              </a:rPr>
              <a:t>行业：零售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400" b="1" spc="-25" dirty="0">
                <a:latin typeface="Microsoft YaHei"/>
                <a:cs typeface="Microsoft YaHei"/>
              </a:rPr>
              <a:t>应用平台：</a:t>
            </a:r>
            <a:r>
              <a:rPr sz="1400" b="1" spc="-20" dirty="0">
                <a:latin typeface="Microsoft YaHei"/>
                <a:cs typeface="Microsoft YaHei"/>
              </a:rPr>
              <a:t>PC</a:t>
            </a:r>
            <a:r>
              <a:rPr sz="1400" b="1" spc="-50" dirty="0">
                <a:latin typeface="Microsoft YaHei"/>
                <a:cs typeface="Microsoft YaHei"/>
              </a:rPr>
              <a:t>，企微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76055" y="4517274"/>
            <a:ext cx="2616200" cy="200913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20600"/>
              </a:lnSpc>
              <a:spcBef>
                <a:spcPts val="85"/>
              </a:spcBef>
            </a:pPr>
            <a:r>
              <a:rPr sz="1200" dirty="0">
                <a:latin typeface="Microsoft YaHei"/>
                <a:cs typeface="Microsoft YaHei"/>
              </a:rPr>
              <a:t>望通过在产品、营销、内部协同等各 </a:t>
            </a:r>
            <a:r>
              <a:rPr sz="1200" spc="-5" dirty="0">
                <a:latin typeface="Microsoft YaHei"/>
                <a:cs typeface="Microsoft YaHei"/>
              </a:rPr>
              <a:t>方面利用</a:t>
            </a:r>
            <a:r>
              <a:rPr sz="1200" spc="-10" dirty="0">
                <a:latin typeface="Microsoft YaHei"/>
                <a:cs typeface="Microsoft YaHei"/>
              </a:rPr>
              <a:t>AI</a:t>
            </a:r>
            <a:r>
              <a:rPr sz="1200" spc="-5" dirty="0">
                <a:latin typeface="Microsoft YaHei"/>
                <a:cs typeface="Microsoft YaHei"/>
              </a:rPr>
              <a:t>技术加强公司的护城河。业务执行侧，味全希望可以借助一款出色</a:t>
            </a:r>
            <a:r>
              <a:rPr sz="1200" dirty="0">
                <a:latin typeface="Microsoft YaHei"/>
                <a:cs typeface="Microsoft YaHei"/>
              </a:rPr>
              <a:t>的</a:t>
            </a:r>
            <a:r>
              <a:rPr sz="1200" spc="-10" dirty="0">
                <a:latin typeface="Microsoft YaHei"/>
                <a:cs typeface="Microsoft YaHei"/>
              </a:rPr>
              <a:t>AI</a:t>
            </a:r>
            <a:r>
              <a:rPr sz="1200" spc="-5" dirty="0">
                <a:latin typeface="Microsoft YaHei"/>
                <a:cs typeface="Microsoft YaHei"/>
              </a:rPr>
              <a:t>数据分析工具辅助各级业务人员低成本、快速、便捷的查看、分析、使用数据。从而实现在产品设计、营销推广、售后保障等多端形成以事实为依据，以数据为驱动的高效工作文化。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3592" y="2351595"/>
            <a:ext cx="787400" cy="426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95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404040"/>
                </a:solidFill>
                <a:latin typeface="Microsoft YaHei"/>
                <a:cs typeface="Microsoft YaHei"/>
              </a:rPr>
              <a:t>量身定做的</a:t>
            </a: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归因分析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52500" y="2019300"/>
            <a:ext cx="495300" cy="1333500"/>
            <a:chOff x="952500" y="2019300"/>
            <a:chExt cx="495300" cy="1333500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500" y="2019300"/>
              <a:ext cx="495300" cy="3333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1550" y="2076450"/>
              <a:ext cx="171450" cy="2381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3950" y="2057400"/>
              <a:ext cx="238125" cy="2571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5850" y="3057525"/>
              <a:ext cx="200025" cy="2000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0600" y="2962275"/>
              <a:ext cx="381000" cy="39052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66457" y="3415283"/>
            <a:ext cx="636270" cy="42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自然语言生成图表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7407" y="4761293"/>
            <a:ext cx="8007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AI</a:t>
            </a:r>
            <a:r>
              <a:rPr sz="1200" b="1" spc="-20" dirty="0">
                <a:solidFill>
                  <a:srgbClr val="404040"/>
                </a:solidFill>
                <a:latin typeface="Microsoft YaHei"/>
                <a:cs typeface="Microsoft YaHei"/>
              </a:rPr>
              <a:t>数据调用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39060" y="1983527"/>
            <a:ext cx="2411095" cy="682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sz="1100" spc="-45" dirty="0">
                <a:latin typeface="Microsoft YaHei"/>
                <a:cs typeface="Microsoft YaHei"/>
              </a:rPr>
              <a:t>根据业务需求定制的自动化归因分析功</a:t>
            </a:r>
            <a:r>
              <a:rPr sz="1100" spc="-50" dirty="0">
                <a:latin typeface="Microsoft YaHei"/>
                <a:cs typeface="Microsoft YaHei"/>
              </a:rPr>
              <a:t>能,能够自动发现业务数据变动的根源,</a:t>
            </a:r>
            <a:r>
              <a:rPr sz="1100" spc="-30" dirty="0">
                <a:latin typeface="Microsoft YaHei"/>
                <a:cs typeface="Microsoft YaHei"/>
              </a:rPr>
              <a:t>形成业务闭环。</a:t>
            </a:r>
            <a:endParaRPr sz="1100">
              <a:latin typeface="Microsoft YaHei"/>
              <a:cs typeface="Microsoft YaHe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52500" y="1143000"/>
            <a:ext cx="7972425" cy="3750945"/>
            <a:chOff x="952500" y="1143000"/>
            <a:chExt cx="7972425" cy="3750945"/>
          </a:xfrm>
        </p:grpSpPr>
        <p:sp>
          <p:nvSpPr>
            <p:cNvPr id="39" name="object 39"/>
            <p:cNvSpPr/>
            <p:nvPr/>
          </p:nvSpPr>
          <p:spPr>
            <a:xfrm>
              <a:off x="1757426" y="2071750"/>
              <a:ext cx="0" cy="2815590"/>
            </a:xfrm>
            <a:custGeom>
              <a:avLst/>
              <a:gdLst/>
              <a:ahLst/>
              <a:cxnLst/>
              <a:rect l="l" t="t" r="r" b="b"/>
              <a:pathLst>
                <a:path h="2815590">
                  <a:moveTo>
                    <a:pt x="0" y="0"/>
                  </a:moveTo>
                  <a:lnTo>
                    <a:pt x="0" y="642620"/>
                  </a:lnTo>
                </a:path>
                <a:path h="2815590">
                  <a:moveTo>
                    <a:pt x="0" y="923925"/>
                  </a:moveTo>
                  <a:lnTo>
                    <a:pt x="0" y="1726565"/>
                  </a:lnTo>
                </a:path>
                <a:path h="2815590">
                  <a:moveTo>
                    <a:pt x="0" y="2095500"/>
                  </a:moveTo>
                  <a:lnTo>
                    <a:pt x="0" y="281559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57826" y="3310001"/>
              <a:ext cx="1752600" cy="981075"/>
            </a:xfrm>
            <a:custGeom>
              <a:avLst/>
              <a:gdLst/>
              <a:ahLst/>
              <a:cxnLst/>
              <a:rect l="l" t="t" r="r" b="b"/>
              <a:pathLst>
                <a:path w="1752600" h="981075">
                  <a:moveTo>
                    <a:pt x="0" y="0"/>
                  </a:moveTo>
                  <a:lnTo>
                    <a:pt x="1752600" y="0"/>
                  </a:lnTo>
                </a:path>
                <a:path w="1752600" h="981075">
                  <a:moveTo>
                    <a:pt x="0" y="981075"/>
                  </a:moveTo>
                  <a:lnTo>
                    <a:pt x="1752600" y="981075"/>
                  </a:lnTo>
                </a:path>
              </a:pathLst>
            </a:custGeom>
            <a:ln w="12700">
              <a:solidFill>
                <a:srgbClr val="BEBEBE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2500" y="4162425"/>
              <a:ext cx="561975" cy="56197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219825" y="1143000"/>
              <a:ext cx="2705100" cy="600075"/>
            </a:xfrm>
            <a:custGeom>
              <a:avLst/>
              <a:gdLst/>
              <a:ahLst/>
              <a:cxnLst/>
              <a:rect l="l" t="t" r="r" b="b"/>
              <a:pathLst>
                <a:path w="2705100" h="600075">
                  <a:moveTo>
                    <a:pt x="2705100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2705100" y="600075"/>
                  </a:lnTo>
                  <a:lnTo>
                    <a:pt x="2705100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139060" y="2913634"/>
            <a:ext cx="2434590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95"/>
              </a:spcBef>
            </a:pPr>
            <a:r>
              <a:rPr sz="1100" spc="-50" dirty="0">
                <a:latin typeface="Microsoft YaHei"/>
                <a:cs typeface="Microsoft YaHei"/>
              </a:rPr>
              <a:t>通过自然语言交互,业务人员可以快速获取所需数据可视化,无需手动制作报表。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39060" y="4088003"/>
            <a:ext cx="2411095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95"/>
              </a:spcBef>
            </a:pPr>
            <a:r>
              <a:rPr sz="1100" spc="-30" dirty="0">
                <a:latin typeface="Microsoft YaHei"/>
                <a:cs typeface="Microsoft YaHei"/>
              </a:rPr>
              <a:t>企业内部所有数据产品集成于一个统一</a:t>
            </a:r>
            <a:r>
              <a:rPr sz="1100" spc="-5" dirty="0">
                <a:latin typeface="Microsoft YaHei"/>
                <a:cs typeface="Microsoft YaHei"/>
              </a:rPr>
              <a:t>的AI</a:t>
            </a:r>
            <a:r>
              <a:rPr sz="1100" spc="-25" dirty="0">
                <a:latin typeface="Microsoft YaHei"/>
                <a:cs typeface="Microsoft YaHei"/>
              </a:rPr>
              <a:t>驱动的数据引擎,业务人员可以通过自然语言随时调用所需数据。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31431" y="1888108"/>
            <a:ext cx="1570990" cy="30848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使用部门</a:t>
            </a:r>
            <a:endParaRPr sz="2000">
              <a:latin typeface="Microsoft YaHei"/>
              <a:cs typeface="Microsoft YaHei"/>
            </a:endParaRPr>
          </a:p>
          <a:p>
            <a:pPr marL="353060">
              <a:lnSpc>
                <a:spcPct val="100000"/>
              </a:lnSpc>
              <a:spcBef>
                <a:spcPts val="1640"/>
              </a:spcBef>
            </a:pPr>
            <a:r>
              <a:rPr sz="1200" spc="-10" dirty="0">
                <a:latin typeface="Microsoft YaHei"/>
                <a:cs typeface="Microsoft YaHei"/>
              </a:rPr>
              <a:t>SR</a:t>
            </a:r>
            <a:r>
              <a:rPr sz="1200" spc="-15" dirty="0">
                <a:latin typeface="Microsoft YaHei"/>
                <a:cs typeface="Microsoft YaHei"/>
              </a:rPr>
              <a:t>(智慧零售)部门</a:t>
            </a:r>
            <a:endParaRPr sz="1200">
              <a:latin typeface="Microsoft YaHei"/>
              <a:cs typeface="Microsoft YaHei"/>
            </a:endParaRPr>
          </a:p>
          <a:p>
            <a:pPr marL="353060">
              <a:lnSpc>
                <a:spcPct val="100000"/>
              </a:lnSpc>
              <a:spcBef>
                <a:spcPts val="1215"/>
              </a:spcBef>
            </a:pPr>
            <a:r>
              <a:rPr sz="1200" spc="-10" dirty="0">
                <a:latin typeface="Microsoft YaHei"/>
                <a:cs typeface="Microsoft YaHei"/>
              </a:rPr>
              <a:t>C2B</a:t>
            </a:r>
            <a:r>
              <a:rPr sz="1200" spc="-25" dirty="0">
                <a:latin typeface="Microsoft YaHei"/>
                <a:cs typeface="Microsoft YaHei"/>
              </a:rPr>
              <a:t>部门</a:t>
            </a:r>
            <a:endParaRPr sz="1200">
              <a:latin typeface="Microsoft YaHei"/>
              <a:cs typeface="Microsoft YaHei"/>
            </a:endParaRPr>
          </a:p>
          <a:p>
            <a:pPr marL="353060">
              <a:lnSpc>
                <a:spcPct val="100000"/>
              </a:lnSpc>
              <a:spcBef>
                <a:spcPts val="1210"/>
              </a:spcBef>
            </a:pPr>
            <a:r>
              <a:rPr sz="1200" spc="-10" dirty="0">
                <a:latin typeface="Microsoft YaHei"/>
                <a:cs typeface="Microsoft YaHei"/>
              </a:rPr>
              <a:t>B2B</a:t>
            </a:r>
            <a:r>
              <a:rPr sz="1200" spc="-30" dirty="0">
                <a:latin typeface="Microsoft YaHei"/>
                <a:cs typeface="Microsoft YaHei"/>
              </a:rPr>
              <a:t>部门</a:t>
            </a:r>
            <a:endParaRPr sz="1200">
              <a:latin typeface="Microsoft YaHei"/>
              <a:cs typeface="Microsoft YaHei"/>
            </a:endParaRPr>
          </a:p>
          <a:p>
            <a:pPr marL="353060">
              <a:lnSpc>
                <a:spcPct val="100000"/>
              </a:lnSpc>
              <a:spcBef>
                <a:spcPts val="1215"/>
              </a:spcBef>
            </a:pPr>
            <a:r>
              <a:rPr sz="1200" dirty="0">
                <a:latin typeface="Microsoft YaHei"/>
                <a:cs typeface="Microsoft YaHei"/>
              </a:rPr>
              <a:t>管理层</a:t>
            </a:r>
            <a:r>
              <a:rPr sz="1200" spc="-10" dirty="0">
                <a:latin typeface="Microsoft YaHei"/>
                <a:cs typeface="Microsoft YaHei"/>
              </a:rPr>
              <a:t>（CXO）</a:t>
            </a:r>
            <a:endParaRPr sz="1200">
              <a:latin typeface="Microsoft YaHei"/>
              <a:cs typeface="Microsoft YaHei"/>
            </a:endParaRPr>
          </a:p>
          <a:p>
            <a:pPr marL="353060">
              <a:lnSpc>
                <a:spcPct val="100000"/>
              </a:lnSpc>
              <a:spcBef>
                <a:spcPts val="1215"/>
              </a:spcBef>
            </a:pPr>
            <a:r>
              <a:rPr sz="1200" spc="-15" dirty="0">
                <a:latin typeface="Microsoft YaHei"/>
                <a:cs typeface="Microsoft YaHei"/>
              </a:rPr>
              <a:t>运营部门</a:t>
            </a:r>
            <a:endParaRPr sz="1200">
              <a:latin typeface="Microsoft YaHei"/>
              <a:cs typeface="Microsoft YaHei"/>
            </a:endParaRPr>
          </a:p>
          <a:p>
            <a:pPr marL="353060" marR="294005">
              <a:lnSpc>
                <a:spcPct val="184200"/>
              </a:lnSpc>
            </a:pPr>
            <a:r>
              <a:rPr sz="1200" spc="-10" dirty="0">
                <a:latin typeface="Microsoft YaHei"/>
                <a:cs typeface="Microsoft YaHei"/>
              </a:rPr>
              <a:t>各门店店长</a:t>
            </a:r>
            <a:r>
              <a:rPr sz="1200" spc="-50" dirty="0">
                <a:latin typeface="Microsoft YaHei"/>
                <a:cs typeface="Microsoft YaHei"/>
              </a:rPr>
              <a:t> </a:t>
            </a:r>
            <a:r>
              <a:rPr sz="1200" spc="-10" dirty="0">
                <a:latin typeface="Microsoft YaHei"/>
                <a:cs typeface="Microsoft YaHei"/>
              </a:rPr>
              <a:t>一线业务人员</a:t>
            </a:r>
            <a:r>
              <a:rPr sz="1200" spc="-15" dirty="0">
                <a:latin typeface="Microsoft YaHei"/>
                <a:cs typeface="Microsoft YaHei"/>
              </a:rPr>
              <a:t>财务部门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105650" y="4429125"/>
            <a:ext cx="228600" cy="581025"/>
            <a:chOff x="7105650" y="4429125"/>
            <a:chExt cx="228600" cy="581025"/>
          </a:xfrm>
        </p:grpSpPr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05650" y="4429125"/>
              <a:ext cx="209550" cy="2190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15175" y="4791075"/>
              <a:ext cx="219075" cy="21907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937125" y="1881124"/>
            <a:ext cx="1873885" cy="1249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30"/>
              </a:spcBef>
            </a:pPr>
            <a:r>
              <a:rPr sz="2000" b="1" spc="-30" dirty="0">
                <a:solidFill>
                  <a:srgbClr val="3623C5"/>
                </a:solidFill>
                <a:latin typeface="Microsoft YaHei"/>
                <a:cs typeface="Microsoft YaHei"/>
              </a:rPr>
              <a:t>使用场景</a:t>
            </a:r>
            <a:endParaRPr sz="2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公司财务损益情况分析</a:t>
            </a:r>
            <a:endParaRPr sz="1200">
              <a:latin typeface="Microsoft YaHei"/>
              <a:cs typeface="Microsoft YaHei"/>
            </a:endParaRPr>
          </a:p>
          <a:p>
            <a:pPr marL="12700" marR="5080" algn="just">
              <a:lnSpc>
                <a:spcPct val="108000"/>
              </a:lnSpc>
              <a:spcBef>
                <a:spcPts val="55"/>
              </a:spcBef>
            </a:pPr>
            <a:r>
              <a:rPr sz="1100" spc="-25" dirty="0">
                <a:latin typeface="Microsoft YaHei"/>
                <a:cs typeface="Microsoft YaHei"/>
              </a:rPr>
              <a:t>针对财务</a:t>
            </a:r>
            <a:r>
              <a:rPr sz="1100" spc="-10" dirty="0">
                <a:latin typeface="Microsoft YaHei"/>
                <a:cs typeface="Microsoft YaHei"/>
              </a:rPr>
              <a:t>63</a:t>
            </a:r>
            <a:r>
              <a:rPr sz="1100" spc="-30" dirty="0">
                <a:latin typeface="Microsoft YaHei"/>
                <a:cs typeface="Microsoft YaHei"/>
              </a:rPr>
              <a:t>个科目，搭配任意</a:t>
            </a:r>
            <a:r>
              <a:rPr sz="1100" spc="-40" dirty="0">
                <a:latin typeface="Microsoft YaHei"/>
                <a:cs typeface="Microsoft YaHei"/>
              </a:rPr>
              <a:t>维度，对上月损益情况进行分</a:t>
            </a:r>
            <a:r>
              <a:rPr sz="1100" spc="-35" dirty="0">
                <a:latin typeface="Microsoft YaHei"/>
                <a:cs typeface="Microsoft YaHei"/>
              </a:rPr>
              <a:t>析，并比较环期、同期值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37125" y="3411725"/>
            <a:ext cx="1746250" cy="7778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销售分析</a:t>
            </a:r>
            <a:endParaRPr sz="1200">
              <a:latin typeface="Microsoft YaHei"/>
              <a:cs typeface="Microsoft YaHei"/>
            </a:endParaRPr>
          </a:p>
          <a:p>
            <a:pPr marL="12700" marR="5080">
              <a:lnSpc>
                <a:spcPct val="108100"/>
              </a:lnSpc>
              <a:spcBef>
                <a:spcPts val="55"/>
              </a:spcBef>
            </a:pPr>
            <a:r>
              <a:rPr sz="1100" spc="-10" dirty="0">
                <a:latin typeface="Microsoft YaHei"/>
                <a:cs typeface="Microsoft YaHei"/>
              </a:rPr>
              <a:t>对销售额、</a:t>
            </a:r>
            <a:r>
              <a:rPr sz="1100" spc="-5" dirty="0">
                <a:latin typeface="Microsoft YaHei"/>
                <a:cs typeface="Microsoft YaHei"/>
              </a:rPr>
              <a:t>PSD、成长率(自</a:t>
            </a:r>
            <a:r>
              <a:rPr sz="1100" spc="-20" dirty="0">
                <a:latin typeface="Microsoft YaHei"/>
                <a:cs typeface="Microsoft YaHei"/>
              </a:rPr>
              <a:t>定义预测逻辑)、铺货率、呆品率等指标做分析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37125" y="4470212"/>
            <a:ext cx="1702435" cy="59753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200" b="1" spc="-20" dirty="0">
                <a:solidFill>
                  <a:srgbClr val="404040"/>
                </a:solidFill>
                <a:latin typeface="Microsoft YaHei"/>
                <a:cs typeface="Microsoft YaHei"/>
              </a:rPr>
              <a:t>销售预测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100" spc="-40" dirty="0">
                <a:latin typeface="Microsoft YaHei"/>
                <a:cs typeface="Microsoft YaHei"/>
              </a:rPr>
              <a:t>预测某时间段业绩按当前进</a:t>
            </a:r>
            <a:endParaRPr sz="11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35" dirty="0">
                <a:latin typeface="Microsoft YaHei"/>
                <a:cs typeface="Microsoft YaHei"/>
              </a:rPr>
              <a:t>度到月底的任务达成率</a:t>
            </a:r>
            <a:endParaRPr sz="1100">
              <a:latin typeface="Microsoft YaHei"/>
              <a:cs typeface="Microsoft YaHe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39225" y="1133475"/>
            <a:ext cx="2476500" cy="131445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466828" y="2875829"/>
            <a:ext cx="1585894" cy="577583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6395084" y="1235074"/>
            <a:ext cx="72199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4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How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381375" y="1143000"/>
            <a:ext cx="2714625" cy="600075"/>
          </a:xfrm>
          <a:custGeom>
            <a:avLst/>
            <a:gdLst/>
            <a:ahLst/>
            <a:cxnLst/>
            <a:rect l="l" t="t" r="r" b="b"/>
            <a:pathLst>
              <a:path w="2714625" h="600075">
                <a:moveTo>
                  <a:pt x="2714625" y="0"/>
                </a:moveTo>
                <a:lnTo>
                  <a:pt x="0" y="0"/>
                </a:lnTo>
                <a:lnTo>
                  <a:pt x="0" y="600075"/>
                </a:lnTo>
                <a:lnTo>
                  <a:pt x="2714625" y="600075"/>
                </a:lnTo>
                <a:lnTo>
                  <a:pt x="2714625" y="0"/>
                </a:lnTo>
                <a:close/>
              </a:path>
            </a:pathLst>
          </a:custGeom>
          <a:solidFill>
            <a:srgbClr val="362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562096" y="1238186"/>
            <a:ext cx="711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Why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27569" y="1177861"/>
            <a:ext cx="1623060" cy="531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>
              <a:lnSpc>
                <a:spcPct val="99700"/>
              </a:lnSpc>
              <a:spcBef>
                <a:spcPts val="130"/>
              </a:spcBef>
            </a:pPr>
            <a:r>
              <a:rPr sz="1100" spc="-30" dirty="0">
                <a:solidFill>
                  <a:srgbClr val="FFFFFF"/>
                </a:solidFill>
                <a:latin typeface="Microsoft YaHei"/>
                <a:cs typeface="Microsoft YaHei"/>
              </a:rPr>
              <a:t>客户对接微软提供的</a:t>
            </a:r>
            <a:r>
              <a:rPr sz="1100" spc="-20" dirty="0">
                <a:solidFill>
                  <a:srgbClr val="FFFFFF"/>
                </a:solidFill>
                <a:latin typeface="Microsoft YaHei"/>
                <a:cs typeface="Microsoft YaHei"/>
              </a:rPr>
              <a:t>GPT4</a:t>
            </a:r>
            <a:r>
              <a:rPr sz="1100" spc="-35" dirty="0">
                <a:solidFill>
                  <a:srgbClr val="FFFFFF"/>
                </a:solidFill>
                <a:latin typeface="Microsoft YaHei"/>
                <a:cs typeface="Microsoft YaHei"/>
              </a:rPr>
              <a:t>接口，结合数据给予决策</a:t>
            </a:r>
            <a:r>
              <a:rPr sz="1100" spc="-25" dirty="0">
                <a:solidFill>
                  <a:srgbClr val="FFFFFF"/>
                </a:solidFill>
                <a:latin typeface="Microsoft YaHei"/>
                <a:cs typeface="Microsoft YaHei"/>
              </a:rPr>
              <a:t>指导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550790" y="1352296"/>
            <a:ext cx="1412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100" spc="-35" dirty="0">
                <a:solidFill>
                  <a:srgbClr val="FFFFFF"/>
                </a:solidFill>
                <a:latin typeface="Microsoft YaHei"/>
                <a:cs typeface="Microsoft YaHei"/>
              </a:rPr>
              <a:t>通过问答得知当前现状</a:t>
            </a:r>
            <a:endParaRPr sz="11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2144" y="2026270"/>
            <a:ext cx="3202940" cy="179705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6000" spc="-45" dirty="0">
                <a:solidFill>
                  <a:srgbClr val="000000"/>
                </a:solidFill>
              </a:rPr>
              <a:t>PART</a:t>
            </a:r>
            <a:r>
              <a:rPr sz="6000" spc="-375" dirty="0">
                <a:solidFill>
                  <a:srgbClr val="000000"/>
                </a:solidFill>
              </a:rPr>
              <a:t> </a:t>
            </a:r>
            <a:r>
              <a:rPr sz="6000" spc="-25" dirty="0">
                <a:solidFill>
                  <a:srgbClr val="FD7B77"/>
                </a:solidFill>
              </a:rPr>
              <a:t>02</a:t>
            </a:r>
            <a:endParaRPr sz="6000"/>
          </a:p>
          <a:p>
            <a:pPr marL="74295">
              <a:lnSpc>
                <a:spcPct val="100000"/>
              </a:lnSpc>
              <a:spcBef>
                <a:spcPts val="815"/>
              </a:spcBef>
            </a:pPr>
            <a:r>
              <a:rPr sz="3950" dirty="0">
                <a:solidFill>
                  <a:srgbClr val="3623C5"/>
                </a:solidFill>
              </a:rPr>
              <a:t>产品和服务</a:t>
            </a:r>
            <a:endParaRPr sz="3950"/>
          </a:p>
        </p:txBody>
      </p:sp>
      <p:grpSp>
        <p:nvGrpSpPr>
          <p:cNvPr id="5" name="object 5"/>
          <p:cNvGrpSpPr/>
          <p:nvPr/>
        </p:nvGrpSpPr>
        <p:grpSpPr>
          <a:xfrm>
            <a:off x="6562725" y="-6350"/>
            <a:ext cx="5629275" cy="6870700"/>
            <a:chOff x="6562725" y="-6350"/>
            <a:chExt cx="5629275" cy="6870700"/>
          </a:xfrm>
        </p:grpSpPr>
        <p:sp>
          <p:nvSpPr>
            <p:cNvPr id="6" name="object 6"/>
            <p:cNvSpPr/>
            <p:nvPr/>
          </p:nvSpPr>
          <p:spPr>
            <a:xfrm>
              <a:off x="6562725" y="0"/>
              <a:ext cx="5629275" cy="6858000"/>
            </a:xfrm>
            <a:custGeom>
              <a:avLst/>
              <a:gdLst/>
              <a:ahLst/>
              <a:cxnLst/>
              <a:rect l="l" t="t" r="r" b="b"/>
              <a:pathLst>
                <a:path w="5629275" h="6858000">
                  <a:moveTo>
                    <a:pt x="5629275" y="0"/>
                  </a:moveTo>
                  <a:lnTo>
                    <a:pt x="1224922" y="0"/>
                  </a:lnTo>
                  <a:lnTo>
                    <a:pt x="1196611" y="39570"/>
                  </a:lnTo>
                  <a:lnTo>
                    <a:pt x="1167779" y="80528"/>
                  </a:lnTo>
                  <a:lnTo>
                    <a:pt x="1139256" y="121716"/>
                  </a:lnTo>
                  <a:lnTo>
                    <a:pt x="1111042" y="163134"/>
                  </a:lnTo>
                  <a:lnTo>
                    <a:pt x="1083140" y="204779"/>
                  </a:lnTo>
                  <a:lnTo>
                    <a:pt x="1055551" y="246650"/>
                  </a:lnTo>
                  <a:lnTo>
                    <a:pt x="1028276" y="288746"/>
                  </a:lnTo>
                  <a:lnTo>
                    <a:pt x="1001318" y="331064"/>
                  </a:lnTo>
                  <a:lnTo>
                    <a:pt x="974678" y="373603"/>
                  </a:lnTo>
                  <a:lnTo>
                    <a:pt x="948357" y="416362"/>
                  </a:lnTo>
                  <a:lnTo>
                    <a:pt x="922358" y="459337"/>
                  </a:lnTo>
                  <a:lnTo>
                    <a:pt x="896682" y="502529"/>
                  </a:lnTo>
                  <a:lnTo>
                    <a:pt x="871330" y="545935"/>
                  </a:lnTo>
                  <a:lnTo>
                    <a:pt x="846305" y="589554"/>
                  </a:lnTo>
                  <a:lnTo>
                    <a:pt x="821608" y="633383"/>
                  </a:lnTo>
                  <a:lnTo>
                    <a:pt x="797241" y="677422"/>
                  </a:lnTo>
                  <a:lnTo>
                    <a:pt x="773205" y="721668"/>
                  </a:lnTo>
                  <a:lnTo>
                    <a:pt x="749503" y="766120"/>
                  </a:lnTo>
                  <a:lnTo>
                    <a:pt x="726135" y="810776"/>
                  </a:lnTo>
                  <a:lnTo>
                    <a:pt x="703103" y="855635"/>
                  </a:lnTo>
                  <a:lnTo>
                    <a:pt x="680410" y="900694"/>
                  </a:lnTo>
                  <a:lnTo>
                    <a:pt x="658056" y="945953"/>
                  </a:lnTo>
                  <a:lnTo>
                    <a:pt x="636044" y="991409"/>
                  </a:lnTo>
                  <a:lnTo>
                    <a:pt x="614375" y="1037061"/>
                  </a:lnTo>
                  <a:lnTo>
                    <a:pt x="593051" y="1082907"/>
                  </a:lnTo>
                  <a:lnTo>
                    <a:pt x="572073" y="1128946"/>
                  </a:lnTo>
                  <a:lnTo>
                    <a:pt x="551444" y="1175175"/>
                  </a:lnTo>
                  <a:lnTo>
                    <a:pt x="531164" y="1221594"/>
                  </a:lnTo>
                  <a:lnTo>
                    <a:pt x="511236" y="1268200"/>
                  </a:lnTo>
                  <a:lnTo>
                    <a:pt x="491661" y="1314991"/>
                  </a:lnTo>
                  <a:lnTo>
                    <a:pt x="472441" y="1361967"/>
                  </a:lnTo>
                  <a:lnTo>
                    <a:pt x="453577" y="1409125"/>
                  </a:lnTo>
                  <a:lnTo>
                    <a:pt x="435072" y="1456464"/>
                  </a:lnTo>
                  <a:lnTo>
                    <a:pt x="416926" y="1503982"/>
                  </a:lnTo>
                  <a:lnTo>
                    <a:pt x="399142" y="1551677"/>
                  </a:lnTo>
                  <a:lnTo>
                    <a:pt x="381722" y="1599548"/>
                  </a:lnTo>
                  <a:lnTo>
                    <a:pt x="364666" y="1647594"/>
                  </a:lnTo>
                  <a:lnTo>
                    <a:pt x="347976" y="1695811"/>
                  </a:lnTo>
                  <a:lnTo>
                    <a:pt x="331655" y="1744199"/>
                  </a:lnTo>
                  <a:lnTo>
                    <a:pt x="315704" y="1792756"/>
                  </a:lnTo>
                  <a:lnTo>
                    <a:pt x="300125" y="1841481"/>
                  </a:lnTo>
                  <a:lnTo>
                    <a:pt x="284919" y="1890371"/>
                  </a:lnTo>
                  <a:lnTo>
                    <a:pt x="270087" y="1939425"/>
                  </a:lnTo>
                  <a:lnTo>
                    <a:pt x="255633" y="1988642"/>
                  </a:lnTo>
                  <a:lnTo>
                    <a:pt x="241556" y="2038019"/>
                  </a:lnTo>
                  <a:lnTo>
                    <a:pt x="227860" y="2087555"/>
                  </a:lnTo>
                  <a:lnTo>
                    <a:pt x="214545" y="2137249"/>
                  </a:lnTo>
                  <a:lnTo>
                    <a:pt x="201614" y="2187098"/>
                  </a:lnTo>
                  <a:lnTo>
                    <a:pt x="189067" y="2237101"/>
                  </a:lnTo>
                  <a:lnTo>
                    <a:pt x="176907" y="2287256"/>
                  </a:lnTo>
                  <a:lnTo>
                    <a:pt x="165136" y="2337562"/>
                  </a:lnTo>
                  <a:lnTo>
                    <a:pt x="153755" y="2388017"/>
                  </a:lnTo>
                  <a:lnTo>
                    <a:pt x="142765" y="2438619"/>
                  </a:lnTo>
                  <a:lnTo>
                    <a:pt x="132169" y="2489366"/>
                  </a:lnTo>
                  <a:lnTo>
                    <a:pt x="121967" y="2540258"/>
                  </a:lnTo>
                  <a:lnTo>
                    <a:pt x="112163" y="2591292"/>
                  </a:lnTo>
                  <a:lnTo>
                    <a:pt x="102756" y="2642466"/>
                  </a:lnTo>
                  <a:lnTo>
                    <a:pt x="93750" y="2693779"/>
                  </a:lnTo>
                  <a:lnTo>
                    <a:pt x="85146" y="2745230"/>
                  </a:lnTo>
                  <a:lnTo>
                    <a:pt x="76945" y="2796816"/>
                  </a:lnTo>
                  <a:lnTo>
                    <a:pt x="69149" y="2848536"/>
                  </a:lnTo>
                  <a:lnTo>
                    <a:pt x="61760" y="2900388"/>
                  </a:lnTo>
                  <a:lnTo>
                    <a:pt x="54779" y="2952370"/>
                  </a:lnTo>
                  <a:lnTo>
                    <a:pt x="48208" y="3004482"/>
                  </a:lnTo>
                  <a:lnTo>
                    <a:pt x="42049" y="3056720"/>
                  </a:lnTo>
                  <a:lnTo>
                    <a:pt x="36304" y="3109084"/>
                  </a:lnTo>
                  <a:lnTo>
                    <a:pt x="30974" y="3161572"/>
                  </a:lnTo>
                  <a:lnTo>
                    <a:pt x="26060" y="3214182"/>
                  </a:lnTo>
                  <a:lnTo>
                    <a:pt x="21565" y="3266913"/>
                  </a:lnTo>
                  <a:lnTo>
                    <a:pt x="17490" y="3319762"/>
                  </a:lnTo>
                  <a:lnTo>
                    <a:pt x="13837" y="3372728"/>
                  </a:lnTo>
                  <a:lnTo>
                    <a:pt x="10608" y="3425810"/>
                  </a:lnTo>
                  <a:lnTo>
                    <a:pt x="7803" y="3479006"/>
                  </a:lnTo>
                  <a:lnTo>
                    <a:pt x="5426" y="3532313"/>
                  </a:lnTo>
                  <a:lnTo>
                    <a:pt x="3477" y="3585731"/>
                  </a:lnTo>
                  <a:lnTo>
                    <a:pt x="1958" y="3639258"/>
                  </a:lnTo>
                  <a:lnTo>
                    <a:pt x="871" y="3692892"/>
                  </a:lnTo>
                  <a:lnTo>
                    <a:pt x="218" y="3746631"/>
                  </a:lnTo>
                  <a:lnTo>
                    <a:pt x="0" y="3800475"/>
                  </a:lnTo>
                  <a:lnTo>
                    <a:pt x="218" y="3854317"/>
                  </a:lnTo>
                  <a:lnTo>
                    <a:pt x="871" y="3908056"/>
                  </a:lnTo>
                  <a:lnTo>
                    <a:pt x="1958" y="3961690"/>
                  </a:lnTo>
                  <a:lnTo>
                    <a:pt x="3477" y="4015216"/>
                  </a:lnTo>
                  <a:lnTo>
                    <a:pt x="5426" y="4068634"/>
                  </a:lnTo>
                  <a:lnTo>
                    <a:pt x="7803" y="4121941"/>
                  </a:lnTo>
                  <a:lnTo>
                    <a:pt x="10608" y="4175137"/>
                  </a:lnTo>
                  <a:lnTo>
                    <a:pt x="13837" y="4228218"/>
                  </a:lnTo>
                  <a:lnTo>
                    <a:pt x="17490" y="4281184"/>
                  </a:lnTo>
                  <a:lnTo>
                    <a:pt x="21565" y="4334033"/>
                  </a:lnTo>
                  <a:lnTo>
                    <a:pt x="26060" y="4386763"/>
                  </a:lnTo>
                  <a:lnTo>
                    <a:pt x="30974" y="4439373"/>
                  </a:lnTo>
                  <a:lnTo>
                    <a:pt x="36304" y="4491860"/>
                  </a:lnTo>
                  <a:lnTo>
                    <a:pt x="42049" y="4544224"/>
                  </a:lnTo>
                  <a:lnTo>
                    <a:pt x="48208" y="4596462"/>
                  </a:lnTo>
                  <a:lnTo>
                    <a:pt x="54779" y="4648574"/>
                  </a:lnTo>
                  <a:lnTo>
                    <a:pt x="61760" y="4700556"/>
                  </a:lnTo>
                  <a:lnTo>
                    <a:pt x="69149" y="4752408"/>
                  </a:lnTo>
                  <a:lnTo>
                    <a:pt x="76945" y="4804127"/>
                  </a:lnTo>
                  <a:lnTo>
                    <a:pt x="85146" y="4855713"/>
                  </a:lnTo>
                  <a:lnTo>
                    <a:pt x="93750" y="4907163"/>
                  </a:lnTo>
                  <a:lnTo>
                    <a:pt x="102756" y="4958476"/>
                  </a:lnTo>
                  <a:lnTo>
                    <a:pt x="112163" y="5009650"/>
                  </a:lnTo>
                  <a:lnTo>
                    <a:pt x="121967" y="5060684"/>
                  </a:lnTo>
                  <a:lnTo>
                    <a:pt x="132169" y="5111575"/>
                  </a:lnTo>
                  <a:lnTo>
                    <a:pt x="142765" y="5162323"/>
                  </a:lnTo>
                  <a:lnTo>
                    <a:pt x="153755" y="5212925"/>
                  </a:lnTo>
                  <a:lnTo>
                    <a:pt x="165136" y="5263379"/>
                  </a:lnTo>
                  <a:lnTo>
                    <a:pt x="176907" y="5313685"/>
                  </a:lnTo>
                  <a:lnTo>
                    <a:pt x="189067" y="5363840"/>
                  </a:lnTo>
                  <a:lnTo>
                    <a:pt x="201614" y="5413843"/>
                  </a:lnTo>
                  <a:lnTo>
                    <a:pt x="214545" y="5463692"/>
                  </a:lnTo>
                  <a:lnTo>
                    <a:pt x="227860" y="5513385"/>
                  </a:lnTo>
                  <a:lnTo>
                    <a:pt x="241556" y="5562921"/>
                  </a:lnTo>
                  <a:lnTo>
                    <a:pt x="255633" y="5612298"/>
                  </a:lnTo>
                  <a:lnTo>
                    <a:pt x="270087" y="5661514"/>
                  </a:lnTo>
                  <a:lnTo>
                    <a:pt x="284919" y="5710569"/>
                  </a:lnTo>
                  <a:lnTo>
                    <a:pt x="300125" y="5759459"/>
                  </a:lnTo>
                  <a:lnTo>
                    <a:pt x="315704" y="5808183"/>
                  </a:lnTo>
                  <a:lnTo>
                    <a:pt x="331655" y="5856740"/>
                  </a:lnTo>
                  <a:lnTo>
                    <a:pt x="347976" y="5905128"/>
                  </a:lnTo>
                  <a:lnTo>
                    <a:pt x="364666" y="5953345"/>
                  </a:lnTo>
                  <a:lnTo>
                    <a:pt x="381722" y="6001390"/>
                  </a:lnTo>
                  <a:lnTo>
                    <a:pt x="399142" y="6049261"/>
                  </a:lnTo>
                  <a:lnTo>
                    <a:pt x="416926" y="6096957"/>
                  </a:lnTo>
                  <a:lnTo>
                    <a:pt x="435072" y="6144475"/>
                  </a:lnTo>
                  <a:lnTo>
                    <a:pt x="453577" y="6191813"/>
                  </a:lnTo>
                  <a:lnTo>
                    <a:pt x="472441" y="6238971"/>
                  </a:lnTo>
                  <a:lnTo>
                    <a:pt x="491661" y="6285947"/>
                  </a:lnTo>
                  <a:lnTo>
                    <a:pt x="511236" y="6332739"/>
                  </a:lnTo>
                  <a:lnTo>
                    <a:pt x="531164" y="6379344"/>
                  </a:lnTo>
                  <a:lnTo>
                    <a:pt x="551444" y="6425763"/>
                  </a:lnTo>
                  <a:lnTo>
                    <a:pt x="572073" y="6471992"/>
                  </a:lnTo>
                  <a:lnTo>
                    <a:pt x="593051" y="6518031"/>
                  </a:lnTo>
                  <a:lnTo>
                    <a:pt x="614375" y="6563877"/>
                  </a:lnTo>
                  <a:lnTo>
                    <a:pt x="636044" y="6609529"/>
                  </a:lnTo>
                  <a:lnTo>
                    <a:pt x="658056" y="6654985"/>
                  </a:lnTo>
                  <a:lnTo>
                    <a:pt x="680410" y="6700243"/>
                  </a:lnTo>
                  <a:lnTo>
                    <a:pt x="703103" y="6745303"/>
                  </a:lnTo>
                  <a:lnTo>
                    <a:pt x="726135" y="6790162"/>
                  </a:lnTo>
                  <a:lnTo>
                    <a:pt x="749503" y="6834818"/>
                  </a:lnTo>
                  <a:lnTo>
                    <a:pt x="761864" y="6858000"/>
                  </a:lnTo>
                  <a:lnTo>
                    <a:pt x="5629275" y="6858000"/>
                  </a:lnTo>
                  <a:lnTo>
                    <a:pt x="5629275" y="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3751" y="0"/>
              <a:ext cx="5548630" cy="6858000"/>
            </a:xfrm>
            <a:custGeom>
              <a:avLst/>
              <a:gdLst/>
              <a:ahLst/>
              <a:cxnLst/>
              <a:rect l="l" t="t" r="r" b="b"/>
              <a:pathLst>
                <a:path w="5548630" h="6858000">
                  <a:moveTo>
                    <a:pt x="5548249" y="0"/>
                  </a:moveTo>
                  <a:lnTo>
                    <a:pt x="1229269" y="0"/>
                  </a:lnTo>
                  <a:lnTo>
                    <a:pt x="1226649" y="3599"/>
                  </a:lnTo>
                  <a:lnTo>
                    <a:pt x="1197490" y="44324"/>
                  </a:lnTo>
                  <a:lnTo>
                    <a:pt x="1168638" y="85282"/>
                  </a:lnTo>
                  <a:lnTo>
                    <a:pt x="1140094" y="126471"/>
                  </a:lnTo>
                  <a:lnTo>
                    <a:pt x="1111859" y="167889"/>
                  </a:lnTo>
                  <a:lnTo>
                    <a:pt x="1083937" y="209534"/>
                  </a:lnTo>
                  <a:lnTo>
                    <a:pt x="1056327" y="251405"/>
                  </a:lnTo>
                  <a:lnTo>
                    <a:pt x="1029033" y="293501"/>
                  </a:lnTo>
                  <a:lnTo>
                    <a:pt x="1002055" y="335819"/>
                  </a:lnTo>
                  <a:lnTo>
                    <a:pt x="975395" y="378359"/>
                  </a:lnTo>
                  <a:lnTo>
                    <a:pt x="949055" y="421117"/>
                  </a:lnTo>
                  <a:lnTo>
                    <a:pt x="923037" y="464093"/>
                  </a:lnTo>
                  <a:lnTo>
                    <a:pt x="897342" y="507285"/>
                  </a:lnTo>
                  <a:lnTo>
                    <a:pt x="871972" y="550691"/>
                  </a:lnTo>
                  <a:lnTo>
                    <a:pt x="846928" y="594309"/>
                  </a:lnTo>
                  <a:lnTo>
                    <a:pt x="822213" y="638139"/>
                  </a:lnTo>
                  <a:lnTo>
                    <a:pt x="797828" y="682177"/>
                  </a:lnTo>
                  <a:lnTo>
                    <a:pt x="773775" y="726423"/>
                  </a:lnTo>
                  <a:lnTo>
                    <a:pt x="750055" y="770875"/>
                  </a:lnTo>
                  <a:lnTo>
                    <a:pt x="726670" y="815531"/>
                  </a:lnTo>
                  <a:lnTo>
                    <a:pt x="703621" y="860390"/>
                  </a:lnTo>
                  <a:lnTo>
                    <a:pt x="680911" y="905449"/>
                  </a:lnTo>
                  <a:lnTo>
                    <a:pt x="658541" y="950708"/>
                  </a:lnTo>
                  <a:lnTo>
                    <a:pt x="636513" y="996164"/>
                  </a:lnTo>
                  <a:lnTo>
                    <a:pt x="614828" y="1041815"/>
                  </a:lnTo>
                  <a:lnTo>
                    <a:pt x="593488" y="1087661"/>
                  </a:lnTo>
                  <a:lnTo>
                    <a:pt x="572495" y="1133700"/>
                  </a:lnTo>
                  <a:lnTo>
                    <a:pt x="551850" y="1179929"/>
                  </a:lnTo>
                  <a:lnTo>
                    <a:pt x="531556" y="1226347"/>
                  </a:lnTo>
                  <a:lnTo>
                    <a:pt x="511613" y="1272952"/>
                  </a:lnTo>
                  <a:lnTo>
                    <a:pt x="492024" y="1319744"/>
                  </a:lnTo>
                  <a:lnTo>
                    <a:pt x="472789" y="1366719"/>
                  </a:lnTo>
                  <a:lnTo>
                    <a:pt x="453912" y="1413877"/>
                  </a:lnTo>
                  <a:lnTo>
                    <a:pt x="435393" y="1461215"/>
                  </a:lnTo>
                  <a:lnTo>
                    <a:pt x="417234" y="1508733"/>
                  </a:lnTo>
                  <a:lnTo>
                    <a:pt x="399437" y="1556427"/>
                  </a:lnTo>
                  <a:lnTo>
                    <a:pt x="382003" y="1604298"/>
                  </a:lnTo>
                  <a:lnTo>
                    <a:pt x="364935" y="1652343"/>
                  </a:lnTo>
                  <a:lnTo>
                    <a:pt x="348233" y="1700559"/>
                  </a:lnTo>
                  <a:lnTo>
                    <a:pt x="331900" y="1748947"/>
                  </a:lnTo>
                  <a:lnTo>
                    <a:pt x="315937" y="1797504"/>
                  </a:lnTo>
                  <a:lnTo>
                    <a:pt x="300346" y="1846227"/>
                  </a:lnTo>
                  <a:lnTo>
                    <a:pt x="285129" y="1895117"/>
                  </a:lnTo>
                  <a:lnTo>
                    <a:pt x="270287" y="1944170"/>
                  </a:lnTo>
                  <a:lnTo>
                    <a:pt x="255821" y="1993386"/>
                  </a:lnTo>
                  <a:lnTo>
                    <a:pt x="241735" y="2042763"/>
                  </a:lnTo>
                  <a:lnTo>
                    <a:pt x="228028" y="2092298"/>
                  </a:lnTo>
                  <a:lnTo>
                    <a:pt x="214704" y="2141991"/>
                  </a:lnTo>
                  <a:lnTo>
                    <a:pt x="201763" y="2191839"/>
                  </a:lnTo>
                  <a:lnTo>
                    <a:pt x="189207" y="2241841"/>
                  </a:lnTo>
                  <a:lnTo>
                    <a:pt x="177038" y="2291995"/>
                  </a:lnTo>
                  <a:lnTo>
                    <a:pt x="165258" y="2342300"/>
                  </a:lnTo>
                  <a:lnTo>
                    <a:pt x="153868" y="2392754"/>
                  </a:lnTo>
                  <a:lnTo>
                    <a:pt x="142870" y="2443355"/>
                  </a:lnTo>
                  <a:lnTo>
                    <a:pt x="132266" y="2494102"/>
                  </a:lnTo>
                  <a:lnTo>
                    <a:pt x="122057" y="2544992"/>
                  </a:lnTo>
                  <a:lnTo>
                    <a:pt x="112246" y="2596025"/>
                  </a:lnTo>
                  <a:lnTo>
                    <a:pt x="102832" y="2647198"/>
                  </a:lnTo>
                  <a:lnTo>
                    <a:pt x="93820" y="2698510"/>
                  </a:lnTo>
                  <a:lnTo>
                    <a:pt x="85209" y="2749960"/>
                  </a:lnTo>
                  <a:lnTo>
                    <a:pt x="77002" y="2801544"/>
                  </a:lnTo>
                  <a:lnTo>
                    <a:pt x="69200" y="2853263"/>
                  </a:lnTo>
                  <a:lnTo>
                    <a:pt x="61805" y="2905114"/>
                  </a:lnTo>
                  <a:lnTo>
                    <a:pt x="54819" y="2957095"/>
                  </a:lnTo>
                  <a:lnTo>
                    <a:pt x="48244" y="3009205"/>
                  </a:lnTo>
                  <a:lnTo>
                    <a:pt x="42080" y="3061442"/>
                  </a:lnTo>
                  <a:lnTo>
                    <a:pt x="36331" y="3113805"/>
                  </a:lnTo>
                  <a:lnTo>
                    <a:pt x="30997" y="3166291"/>
                  </a:lnTo>
                  <a:lnTo>
                    <a:pt x="26079" y="3218900"/>
                  </a:lnTo>
                  <a:lnTo>
                    <a:pt x="21581" y="3271629"/>
                  </a:lnTo>
                  <a:lnTo>
                    <a:pt x="17503" y="3324476"/>
                  </a:lnTo>
                  <a:lnTo>
                    <a:pt x="13847" y="3377441"/>
                  </a:lnTo>
                  <a:lnTo>
                    <a:pt x="10616" y="3430521"/>
                  </a:lnTo>
                  <a:lnTo>
                    <a:pt x="7809" y="3483715"/>
                  </a:lnTo>
                  <a:lnTo>
                    <a:pt x="5430" y="3537021"/>
                  </a:lnTo>
                  <a:lnTo>
                    <a:pt x="3479" y="3590438"/>
                  </a:lnTo>
                  <a:lnTo>
                    <a:pt x="1959" y="3643963"/>
                  </a:lnTo>
                  <a:lnTo>
                    <a:pt x="872" y="3697595"/>
                  </a:lnTo>
                  <a:lnTo>
                    <a:pt x="218" y="3751332"/>
                  </a:lnTo>
                  <a:lnTo>
                    <a:pt x="0" y="3805174"/>
                  </a:lnTo>
                  <a:lnTo>
                    <a:pt x="218" y="3859017"/>
                  </a:lnTo>
                  <a:lnTo>
                    <a:pt x="872" y="3912757"/>
                  </a:lnTo>
                  <a:lnTo>
                    <a:pt x="1959" y="3966391"/>
                  </a:lnTo>
                  <a:lnTo>
                    <a:pt x="3479" y="4019919"/>
                  </a:lnTo>
                  <a:lnTo>
                    <a:pt x="5430" y="4073337"/>
                  </a:lnTo>
                  <a:lnTo>
                    <a:pt x="7809" y="4126646"/>
                  </a:lnTo>
                  <a:lnTo>
                    <a:pt x="10616" y="4179842"/>
                  </a:lnTo>
                  <a:lnTo>
                    <a:pt x="13847" y="4232924"/>
                  </a:lnTo>
                  <a:lnTo>
                    <a:pt x="17503" y="4285891"/>
                  </a:lnTo>
                  <a:lnTo>
                    <a:pt x="21581" y="4338741"/>
                  </a:lnTo>
                  <a:lnTo>
                    <a:pt x="26079" y="4391472"/>
                  </a:lnTo>
                  <a:lnTo>
                    <a:pt x="30997" y="4444082"/>
                  </a:lnTo>
                  <a:lnTo>
                    <a:pt x="36331" y="4496570"/>
                  </a:lnTo>
                  <a:lnTo>
                    <a:pt x="42080" y="4548935"/>
                  </a:lnTo>
                  <a:lnTo>
                    <a:pt x="48244" y="4601174"/>
                  </a:lnTo>
                  <a:lnTo>
                    <a:pt x="54819" y="4653285"/>
                  </a:lnTo>
                  <a:lnTo>
                    <a:pt x="61805" y="4705268"/>
                  </a:lnTo>
                  <a:lnTo>
                    <a:pt x="69200" y="4757121"/>
                  </a:lnTo>
                  <a:lnTo>
                    <a:pt x="77002" y="4808841"/>
                  </a:lnTo>
                  <a:lnTo>
                    <a:pt x="85209" y="4860427"/>
                  </a:lnTo>
                  <a:lnTo>
                    <a:pt x="93820" y="4911878"/>
                  </a:lnTo>
                  <a:lnTo>
                    <a:pt x="102832" y="4963192"/>
                  </a:lnTo>
                  <a:lnTo>
                    <a:pt x="112246" y="5014366"/>
                  </a:lnTo>
                  <a:lnTo>
                    <a:pt x="122057" y="5065401"/>
                  </a:lnTo>
                  <a:lnTo>
                    <a:pt x="132266" y="5116293"/>
                  </a:lnTo>
                  <a:lnTo>
                    <a:pt x="142870" y="5167040"/>
                  </a:lnTo>
                  <a:lnTo>
                    <a:pt x="153868" y="5217643"/>
                  </a:lnTo>
                  <a:lnTo>
                    <a:pt x="165258" y="5268098"/>
                  </a:lnTo>
                  <a:lnTo>
                    <a:pt x="177038" y="5318404"/>
                  </a:lnTo>
                  <a:lnTo>
                    <a:pt x="189207" y="5368560"/>
                  </a:lnTo>
                  <a:lnTo>
                    <a:pt x="201763" y="5418563"/>
                  </a:lnTo>
                  <a:lnTo>
                    <a:pt x="214704" y="5468412"/>
                  </a:lnTo>
                  <a:lnTo>
                    <a:pt x="228028" y="5518106"/>
                  </a:lnTo>
                  <a:lnTo>
                    <a:pt x="241735" y="5567642"/>
                  </a:lnTo>
                  <a:lnTo>
                    <a:pt x="255821" y="5617020"/>
                  </a:lnTo>
                  <a:lnTo>
                    <a:pt x="270287" y="5666237"/>
                  </a:lnTo>
                  <a:lnTo>
                    <a:pt x="285129" y="5715291"/>
                  </a:lnTo>
                  <a:lnTo>
                    <a:pt x="300346" y="5764181"/>
                  </a:lnTo>
                  <a:lnTo>
                    <a:pt x="315937" y="5812906"/>
                  </a:lnTo>
                  <a:lnTo>
                    <a:pt x="331900" y="5861463"/>
                  </a:lnTo>
                  <a:lnTo>
                    <a:pt x="348233" y="5909852"/>
                  </a:lnTo>
                  <a:lnTo>
                    <a:pt x="364935" y="5958069"/>
                  </a:lnTo>
                  <a:lnTo>
                    <a:pt x="382003" y="6006115"/>
                  </a:lnTo>
                  <a:lnTo>
                    <a:pt x="399437" y="6053986"/>
                  </a:lnTo>
                  <a:lnTo>
                    <a:pt x="417234" y="6101681"/>
                  </a:lnTo>
                  <a:lnTo>
                    <a:pt x="435393" y="6149199"/>
                  </a:lnTo>
                  <a:lnTo>
                    <a:pt x="453912" y="6196539"/>
                  </a:lnTo>
                  <a:lnTo>
                    <a:pt x="472789" y="6243697"/>
                  </a:lnTo>
                  <a:lnTo>
                    <a:pt x="492024" y="6290673"/>
                  </a:lnTo>
                  <a:lnTo>
                    <a:pt x="511613" y="6337464"/>
                  </a:lnTo>
                  <a:lnTo>
                    <a:pt x="531556" y="6384070"/>
                  </a:lnTo>
                  <a:lnTo>
                    <a:pt x="551850" y="6430489"/>
                  </a:lnTo>
                  <a:lnTo>
                    <a:pt x="572495" y="6476718"/>
                  </a:lnTo>
                  <a:lnTo>
                    <a:pt x="593488" y="6522757"/>
                  </a:lnTo>
                  <a:lnTo>
                    <a:pt x="614828" y="6568603"/>
                  </a:lnTo>
                  <a:lnTo>
                    <a:pt x="636513" y="6614255"/>
                  </a:lnTo>
                  <a:lnTo>
                    <a:pt x="658541" y="6659711"/>
                  </a:lnTo>
                  <a:lnTo>
                    <a:pt x="680911" y="6704970"/>
                  </a:lnTo>
                  <a:lnTo>
                    <a:pt x="703621" y="6750030"/>
                  </a:lnTo>
                  <a:lnTo>
                    <a:pt x="726670" y="6794889"/>
                  </a:lnTo>
                  <a:lnTo>
                    <a:pt x="750055" y="6839545"/>
                  </a:lnTo>
                  <a:lnTo>
                    <a:pt x="759902" y="6858000"/>
                  </a:lnTo>
                  <a:lnTo>
                    <a:pt x="5548249" y="6858000"/>
                  </a:lnTo>
                  <a:lnTo>
                    <a:pt x="5548249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3751" y="0"/>
              <a:ext cx="1229360" cy="6858000"/>
            </a:xfrm>
            <a:custGeom>
              <a:avLst/>
              <a:gdLst/>
              <a:ahLst/>
              <a:cxnLst/>
              <a:rect l="l" t="t" r="r" b="b"/>
              <a:pathLst>
                <a:path w="1229359" h="6858000">
                  <a:moveTo>
                    <a:pt x="759902" y="6858000"/>
                  </a:moveTo>
                  <a:lnTo>
                    <a:pt x="726670" y="6794889"/>
                  </a:lnTo>
                  <a:lnTo>
                    <a:pt x="703621" y="6750030"/>
                  </a:lnTo>
                  <a:lnTo>
                    <a:pt x="680911" y="6704970"/>
                  </a:lnTo>
                  <a:lnTo>
                    <a:pt x="658541" y="6659711"/>
                  </a:lnTo>
                  <a:lnTo>
                    <a:pt x="636513" y="6614255"/>
                  </a:lnTo>
                  <a:lnTo>
                    <a:pt x="614828" y="6568603"/>
                  </a:lnTo>
                  <a:lnTo>
                    <a:pt x="593488" y="6522757"/>
                  </a:lnTo>
                  <a:lnTo>
                    <a:pt x="572495" y="6476718"/>
                  </a:lnTo>
                  <a:lnTo>
                    <a:pt x="551850" y="6430489"/>
                  </a:lnTo>
                  <a:lnTo>
                    <a:pt x="531556" y="6384070"/>
                  </a:lnTo>
                  <a:lnTo>
                    <a:pt x="511613" y="6337464"/>
                  </a:lnTo>
                  <a:lnTo>
                    <a:pt x="492024" y="6290673"/>
                  </a:lnTo>
                  <a:lnTo>
                    <a:pt x="472789" y="6243697"/>
                  </a:lnTo>
                  <a:lnTo>
                    <a:pt x="453912" y="6196539"/>
                  </a:lnTo>
                  <a:lnTo>
                    <a:pt x="435393" y="6149199"/>
                  </a:lnTo>
                  <a:lnTo>
                    <a:pt x="417234" y="6101681"/>
                  </a:lnTo>
                  <a:lnTo>
                    <a:pt x="399437" y="6053986"/>
                  </a:lnTo>
                  <a:lnTo>
                    <a:pt x="382003" y="6006115"/>
                  </a:lnTo>
                  <a:lnTo>
                    <a:pt x="364935" y="5958069"/>
                  </a:lnTo>
                  <a:lnTo>
                    <a:pt x="348233" y="5909852"/>
                  </a:lnTo>
                  <a:lnTo>
                    <a:pt x="331900" y="5861463"/>
                  </a:lnTo>
                  <a:lnTo>
                    <a:pt x="315937" y="5812906"/>
                  </a:lnTo>
                  <a:lnTo>
                    <a:pt x="300346" y="5764181"/>
                  </a:lnTo>
                  <a:lnTo>
                    <a:pt x="285129" y="5715291"/>
                  </a:lnTo>
                  <a:lnTo>
                    <a:pt x="270287" y="5666237"/>
                  </a:lnTo>
                  <a:lnTo>
                    <a:pt x="255821" y="5617020"/>
                  </a:lnTo>
                  <a:lnTo>
                    <a:pt x="241735" y="5567642"/>
                  </a:lnTo>
                  <a:lnTo>
                    <a:pt x="228028" y="5518106"/>
                  </a:lnTo>
                  <a:lnTo>
                    <a:pt x="214704" y="5468412"/>
                  </a:lnTo>
                  <a:lnTo>
                    <a:pt x="201763" y="5418563"/>
                  </a:lnTo>
                  <a:lnTo>
                    <a:pt x="189207" y="5368560"/>
                  </a:lnTo>
                  <a:lnTo>
                    <a:pt x="177038" y="5318404"/>
                  </a:lnTo>
                  <a:lnTo>
                    <a:pt x="165258" y="5268098"/>
                  </a:lnTo>
                  <a:lnTo>
                    <a:pt x="153868" y="5217643"/>
                  </a:lnTo>
                  <a:lnTo>
                    <a:pt x="142870" y="5167040"/>
                  </a:lnTo>
                  <a:lnTo>
                    <a:pt x="132266" y="5116293"/>
                  </a:lnTo>
                  <a:lnTo>
                    <a:pt x="122057" y="5065401"/>
                  </a:lnTo>
                  <a:lnTo>
                    <a:pt x="112246" y="5014366"/>
                  </a:lnTo>
                  <a:lnTo>
                    <a:pt x="102832" y="4963192"/>
                  </a:lnTo>
                  <a:lnTo>
                    <a:pt x="93820" y="4911878"/>
                  </a:lnTo>
                  <a:lnTo>
                    <a:pt x="85209" y="4860427"/>
                  </a:lnTo>
                  <a:lnTo>
                    <a:pt x="77002" y="4808841"/>
                  </a:lnTo>
                  <a:lnTo>
                    <a:pt x="69200" y="4757121"/>
                  </a:lnTo>
                  <a:lnTo>
                    <a:pt x="61805" y="4705268"/>
                  </a:lnTo>
                  <a:lnTo>
                    <a:pt x="54819" y="4653285"/>
                  </a:lnTo>
                  <a:lnTo>
                    <a:pt x="48244" y="4601174"/>
                  </a:lnTo>
                  <a:lnTo>
                    <a:pt x="42080" y="4548935"/>
                  </a:lnTo>
                  <a:lnTo>
                    <a:pt x="36331" y="4496570"/>
                  </a:lnTo>
                  <a:lnTo>
                    <a:pt x="30997" y="4444082"/>
                  </a:lnTo>
                  <a:lnTo>
                    <a:pt x="26079" y="4391472"/>
                  </a:lnTo>
                  <a:lnTo>
                    <a:pt x="21581" y="4338741"/>
                  </a:lnTo>
                  <a:lnTo>
                    <a:pt x="17503" y="4285891"/>
                  </a:lnTo>
                  <a:lnTo>
                    <a:pt x="13847" y="4232924"/>
                  </a:lnTo>
                  <a:lnTo>
                    <a:pt x="10616" y="4179842"/>
                  </a:lnTo>
                  <a:lnTo>
                    <a:pt x="7809" y="4126646"/>
                  </a:lnTo>
                  <a:lnTo>
                    <a:pt x="5430" y="4073337"/>
                  </a:lnTo>
                  <a:lnTo>
                    <a:pt x="3479" y="4019919"/>
                  </a:lnTo>
                  <a:lnTo>
                    <a:pt x="1959" y="3966391"/>
                  </a:lnTo>
                  <a:lnTo>
                    <a:pt x="872" y="3912757"/>
                  </a:lnTo>
                  <a:lnTo>
                    <a:pt x="218" y="3859017"/>
                  </a:lnTo>
                  <a:lnTo>
                    <a:pt x="0" y="3805174"/>
                  </a:lnTo>
                  <a:lnTo>
                    <a:pt x="218" y="3751332"/>
                  </a:lnTo>
                  <a:lnTo>
                    <a:pt x="872" y="3697595"/>
                  </a:lnTo>
                  <a:lnTo>
                    <a:pt x="1959" y="3643963"/>
                  </a:lnTo>
                  <a:lnTo>
                    <a:pt x="3479" y="3590438"/>
                  </a:lnTo>
                  <a:lnTo>
                    <a:pt x="5430" y="3537021"/>
                  </a:lnTo>
                  <a:lnTo>
                    <a:pt x="7809" y="3483715"/>
                  </a:lnTo>
                  <a:lnTo>
                    <a:pt x="10616" y="3430521"/>
                  </a:lnTo>
                  <a:lnTo>
                    <a:pt x="13847" y="3377441"/>
                  </a:lnTo>
                  <a:lnTo>
                    <a:pt x="17503" y="3324476"/>
                  </a:lnTo>
                  <a:lnTo>
                    <a:pt x="21581" y="3271629"/>
                  </a:lnTo>
                  <a:lnTo>
                    <a:pt x="26079" y="3218900"/>
                  </a:lnTo>
                  <a:lnTo>
                    <a:pt x="30997" y="3166291"/>
                  </a:lnTo>
                  <a:lnTo>
                    <a:pt x="36331" y="3113805"/>
                  </a:lnTo>
                  <a:lnTo>
                    <a:pt x="42080" y="3061442"/>
                  </a:lnTo>
                  <a:lnTo>
                    <a:pt x="48244" y="3009205"/>
                  </a:lnTo>
                  <a:lnTo>
                    <a:pt x="54819" y="2957095"/>
                  </a:lnTo>
                  <a:lnTo>
                    <a:pt x="61805" y="2905114"/>
                  </a:lnTo>
                  <a:lnTo>
                    <a:pt x="69200" y="2853263"/>
                  </a:lnTo>
                  <a:lnTo>
                    <a:pt x="77002" y="2801544"/>
                  </a:lnTo>
                  <a:lnTo>
                    <a:pt x="85209" y="2749960"/>
                  </a:lnTo>
                  <a:lnTo>
                    <a:pt x="93820" y="2698510"/>
                  </a:lnTo>
                  <a:lnTo>
                    <a:pt x="102832" y="2647198"/>
                  </a:lnTo>
                  <a:lnTo>
                    <a:pt x="112246" y="2596025"/>
                  </a:lnTo>
                  <a:lnTo>
                    <a:pt x="122057" y="2544992"/>
                  </a:lnTo>
                  <a:lnTo>
                    <a:pt x="132266" y="2494102"/>
                  </a:lnTo>
                  <a:lnTo>
                    <a:pt x="142870" y="2443355"/>
                  </a:lnTo>
                  <a:lnTo>
                    <a:pt x="153868" y="2392754"/>
                  </a:lnTo>
                  <a:lnTo>
                    <a:pt x="165258" y="2342300"/>
                  </a:lnTo>
                  <a:lnTo>
                    <a:pt x="177038" y="2291995"/>
                  </a:lnTo>
                  <a:lnTo>
                    <a:pt x="189207" y="2241841"/>
                  </a:lnTo>
                  <a:lnTo>
                    <a:pt x="201763" y="2191839"/>
                  </a:lnTo>
                  <a:lnTo>
                    <a:pt x="214704" y="2141991"/>
                  </a:lnTo>
                  <a:lnTo>
                    <a:pt x="228028" y="2092298"/>
                  </a:lnTo>
                  <a:lnTo>
                    <a:pt x="241735" y="2042763"/>
                  </a:lnTo>
                  <a:lnTo>
                    <a:pt x="255821" y="1993386"/>
                  </a:lnTo>
                  <a:lnTo>
                    <a:pt x="270287" y="1944170"/>
                  </a:lnTo>
                  <a:lnTo>
                    <a:pt x="285129" y="1895117"/>
                  </a:lnTo>
                  <a:lnTo>
                    <a:pt x="300346" y="1846227"/>
                  </a:lnTo>
                  <a:lnTo>
                    <a:pt x="315937" y="1797504"/>
                  </a:lnTo>
                  <a:lnTo>
                    <a:pt x="331900" y="1748947"/>
                  </a:lnTo>
                  <a:lnTo>
                    <a:pt x="348233" y="1700559"/>
                  </a:lnTo>
                  <a:lnTo>
                    <a:pt x="364935" y="1652343"/>
                  </a:lnTo>
                  <a:lnTo>
                    <a:pt x="382003" y="1604298"/>
                  </a:lnTo>
                  <a:lnTo>
                    <a:pt x="399437" y="1556427"/>
                  </a:lnTo>
                  <a:lnTo>
                    <a:pt x="417234" y="1508733"/>
                  </a:lnTo>
                  <a:lnTo>
                    <a:pt x="435393" y="1461215"/>
                  </a:lnTo>
                  <a:lnTo>
                    <a:pt x="453912" y="1413877"/>
                  </a:lnTo>
                  <a:lnTo>
                    <a:pt x="472789" y="1366719"/>
                  </a:lnTo>
                  <a:lnTo>
                    <a:pt x="492024" y="1319744"/>
                  </a:lnTo>
                  <a:lnTo>
                    <a:pt x="511613" y="1272952"/>
                  </a:lnTo>
                  <a:lnTo>
                    <a:pt x="531556" y="1226347"/>
                  </a:lnTo>
                  <a:lnTo>
                    <a:pt x="551850" y="1179929"/>
                  </a:lnTo>
                  <a:lnTo>
                    <a:pt x="572495" y="1133700"/>
                  </a:lnTo>
                  <a:lnTo>
                    <a:pt x="593488" y="1087661"/>
                  </a:lnTo>
                  <a:lnTo>
                    <a:pt x="614828" y="1041815"/>
                  </a:lnTo>
                  <a:lnTo>
                    <a:pt x="636513" y="996164"/>
                  </a:lnTo>
                  <a:lnTo>
                    <a:pt x="658541" y="950708"/>
                  </a:lnTo>
                  <a:lnTo>
                    <a:pt x="680911" y="905449"/>
                  </a:lnTo>
                  <a:lnTo>
                    <a:pt x="703621" y="860390"/>
                  </a:lnTo>
                  <a:lnTo>
                    <a:pt x="726670" y="815531"/>
                  </a:lnTo>
                  <a:lnTo>
                    <a:pt x="750055" y="770875"/>
                  </a:lnTo>
                  <a:lnTo>
                    <a:pt x="773775" y="726423"/>
                  </a:lnTo>
                  <a:lnTo>
                    <a:pt x="797828" y="682177"/>
                  </a:lnTo>
                  <a:lnTo>
                    <a:pt x="822213" y="638139"/>
                  </a:lnTo>
                  <a:lnTo>
                    <a:pt x="846928" y="594309"/>
                  </a:lnTo>
                  <a:lnTo>
                    <a:pt x="871972" y="550691"/>
                  </a:lnTo>
                  <a:lnTo>
                    <a:pt x="897342" y="507285"/>
                  </a:lnTo>
                  <a:lnTo>
                    <a:pt x="923037" y="464093"/>
                  </a:lnTo>
                  <a:lnTo>
                    <a:pt x="949055" y="421117"/>
                  </a:lnTo>
                  <a:lnTo>
                    <a:pt x="975395" y="378359"/>
                  </a:lnTo>
                  <a:lnTo>
                    <a:pt x="1002055" y="335819"/>
                  </a:lnTo>
                  <a:lnTo>
                    <a:pt x="1029033" y="293501"/>
                  </a:lnTo>
                  <a:lnTo>
                    <a:pt x="1056327" y="251405"/>
                  </a:lnTo>
                  <a:lnTo>
                    <a:pt x="1083937" y="209534"/>
                  </a:lnTo>
                  <a:lnTo>
                    <a:pt x="1111859" y="167889"/>
                  </a:lnTo>
                  <a:lnTo>
                    <a:pt x="1140094" y="126471"/>
                  </a:lnTo>
                  <a:lnTo>
                    <a:pt x="1168638" y="85282"/>
                  </a:lnTo>
                  <a:lnTo>
                    <a:pt x="1197490" y="44324"/>
                  </a:lnTo>
                  <a:lnTo>
                    <a:pt x="1226649" y="3599"/>
                  </a:lnTo>
                  <a:lnTo>
                    <a:pt x="1229269" y="0"/>
                  </a:lnTo>
                </a:path>
              </a:pathLst>
            </a:custGeom>
            <a:ln w="12699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825" y="0"/>
              <a:ext cx="5210175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515725" cy="6686550"/>
            <a:chOff x="0" y="0"/>
            <a:chExt cx="11515725" cy="6686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5" y="895350"/>
              <a:ext cx="10839450" cy="57912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1779" y="324802"/>
            <a:ext cx="4530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ChatBI-用自然语言对话数据</a:t>
            </a:r>
            <a:endParaRPr spc="-10" dirty="0"/>
          </a:p>
        </p:txBody>
      </p:sp>
      <p:sp>
        <p:nvSpPr>
          <p:cNvPr id="7" name="object 7"/>
          <p:cNvSpPr/>
          <p:nvPr/>
        </p:nvSpPr>
        <p:spPr>
          <a:xfrm>
            <a:off x="0" y="304800"/>
            <a:ext cx="104775" cy="447675"/>
          </a:xfrm>
          <a:custGeom>
            <a:avLst/>
            <a:gdLst/>
            <a:ahLst/>
            <a:cxnLst/>
            <a:rect l="l" t="t" r="r" b="b"/>
            <a:pathLst>
              <a:path w="104775" h="447675">
                <a:moveTo>
                  <a:pt x="104775" y="0"/>
                </a:moveTo>
                <a:lnTo>
                  <a:pt x="0" y="0"/>
                </a:lnTo>
                <a:lnTo>
                  <a:pt x="0" y="447675"/>
                </a:lnTo>
                <a:lnTo>
                  <a:pt x="104775" y="447675"/>
                </a:lnTo>
                <a:lnTo>
                  <a:pt x="104775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0995" y="324802"/>
            <a:ext cx="8357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合理性：为什么</a:t>
            </a:r>
            <a:r>
              <a:rPr spc="-10" dirty="0"/>
              <a:t>ChatBI</a:t>
            </a:r>
            <a:r>
              <a:rPr spc="-15" dirty="0"/>
              <a:t>的问答式交互能够满足数据分析需要？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4504055" cy="5904230"/>
            <a:chOff x="0" y="304800"/>
            <a:chExt cx="4504055" cy="5904230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52400" cy="447675"/>
            </a:xfrm>
            <a:custGeom>
              <a:avLst/>
              <a:gdLst/>
              <a:ahLst/>
              <a:cxnLst/>
              <a:rect l="l" t="t" r="r" b="b"/>
              <a:pathLst>
                <a:path w="152400" h="447675">
                  <a:moveTo>
                    <a:pt x="1524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52400" y="44767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8501" y="2062162"/>
              <a:ext cx="1762125" cy="4143375"/>
            </a:xfrm>
            <a:custGeom>
              <a:avLst/>
              <a:gdLst/>
              <a:ahLst/>
              <a:cxnLst/>
              <a:rect l="l" t="t" r="r" b="b"/>
              <a:pathLst>
                <a:path w="1762125" h="4143375">
                  <a:moveTo>
                    <a:pt x="1762125" y="0"/>
                  </a:moveTo>
                  <a:lnTo>
                    <a:pt x="0" y="0"/>
                  </a:lnTo>
                  <a:lnTo>
                    <a:pt x="0" y="4143375"/>
                  </a:lnTo>
                  <a:lnTo>
                    <a:pt x="1762125" y="4143375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38501" y="2062162"/>
              <a:ext cx="1762125" cy="4143375"/>
            </a:xfrm>
            <a:custGeom>
              <a:avLst/>
              <a:gdLst/>
              <a:ahLst/>
              <a:cxnLst/>
              <a:rect l="l" t="t" r="r" b="b"/>
              <a:pathLst>
                <a:path w="1762125" h="4143375">
                  <a:moveTo>
                    <a:pt x="0" y="4143375"/>
                  </a:moveTo>
                  <a:lnTo>
                    <a:pt x="1762125" y="4143375"/>
                  </a:lnTo>
                  <a:lnTo>
                    <a:pt x="1762125" y="0"/>
                  </a:lnTo>
                  <a:lnTo>
                    <a:pt x="0" y="0"/>
                  </a:lnTo>
                  <a:lnTo>
                    <a:pt x="0" y="414337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3412" y="2062162"/>
              <a:ext cx="1771650" cy="4143375"/>
            </a:xfrm>
            <a:custGeom>
              <a:avLst/>
              <a:gdLst/>
              <a:ahLst/>
              <a:cxnLst/>
              <a:rect l="l" t="t" r="r" b="b"/>
              <a:pathLst>
                <a:path w="1771650" h="4143375">
                  <a:moveTo>
                    <a:pt x="1771650" y="0"/>
                  </a:moveTo>
                  <a:lnTo>
                    <a:pt x="0" y="0"/>
                  </a:lnTo>
                  <a:lnTo>
                    <a:pt x="0" y="4143375"/>
                  </a:lnTo>
                  <a:lnTo>
                    <a:pt x="1771650" y="4143375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412" y="2062162"/>
              <a:ext cx="1771650" cy="4143375"/>
            </a:xfrm>
            <a:custGeom>
              <a:avLst/>
              <a:gdLst/>
              <a:ahLst/>
              <a:cxnLst/>
              <a:rect l="l" t="t" r="r" b="b"/>
              <a:pathLst>
                <a:path w="1771650" h="4143375">
                  <a:moveTo>
                    <a:pt x="0" y="4143375"/>
                  </a:moveTo>
                  <a:lnTo>
                    <a:pt x="1771650" y="4143375"/>
                  </a:lnTo>
                  <a:lnTo>
                    <a:pt x="1771650" y="0"/>
                  </a:lnTo>
                  <a:lnTo>
                    <a:pt x="0" y="0"/>
                  </a:lnTo>
                  <a:lnTo>
                    <a:pt x="0" y="414337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1517" y="941006"/>
            <a:ext cx="9738360" cy="9683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latin typeface="Microsoft YaHei"/>
                <a:cs typeface="Microsoft YaHei"/>
              </a:rPr>
              <a:t>一个典型的数据问答：</a:t>
            </a: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24年12</a:t>
            </a:r>
            <a:r>
              <a:rPr sz="155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月安徽工厂各产品线的产能及良品率情况是怎样？</a:t>
            </a:r>
            <a:endParaRPr sz="1550">
              <a:latin typeface="Microsoft YaHei"/>
              <a:cs typeface="Microsoft YaHei"/>
            </a:endParaRPr>
          </a:p>
          <a:p>
            <a:pPr marL="12700" marR="5080">
              <a:lnSpc>
                <a:spcPts val="2790"/>
              </a:lnSpc>
              <a:spcBef>
                <a:spcPts val="55"/>
              </a:spcBef>
            </a:pPr>
            <a:r>
              <a:rPr sz="1400" spc="-40" dirty="0">
                <a:latin typeface="Microsoft YaHei"/>
                <a:cs typeface="Microsoft YaHei"/>
              </a:rPr>
              <a:t>维度</a:t>
            </a:r>
            <a:r>
              <a:rPr sz="1400" dirty="0">
                <a:latin typeface="Microsoft YaHei"/>
                <a:cs typeface="Microsoft YaHei"/>
              </a:rPr>
              <a:t>（</a:t>
            </a:r>
            <a:r>
              <a:rPr sz="1400" spc="-45" dirty="0">
                <a:latin typeface="Microsoft YaHei"/>
                <a:cs typeface="Microsoft YaHei"/>
              </a:rPr>
              <a:t>时间、空间、对象、条件</a:t>
            </a:r>
            <a:r>
              <a:rPr sz="1400" dirty="0">
                <a:latin typeface="Microsoft YaHei"/>
                <a:cs typeface="Microsoft YaHei"/>
              </a:rPr>
              <a:t>）</a:t>
            </a:r>
            <a:r>
              <a:rPr sz="1400" spc="30" dirty="0">
                <a:latin typeface="Microsoft YaHei"/>
                <a:cs typeface="Microsoft YaHei"/>
              </a:rPr>
              <a:t> + 指标</a:t>
            </a:r>
            <a:r>
              <a:rPr sz="1400" dirty="0">
                <a:latin typeface="Microsoft YaHei"/>
                <a:cs typeface="Microsoft YaHei"/>
              </a:rPr>
              <a:t>（</a:t>
            </a:r>
            <a:r>
              <a:rPr sz="1400" spc="-35" dirty="0">
                <a:latin typeface="Microsoft YaHei"/>
                <a:cs typeface="Microsoft YaHei"/>
              </a:rPr>
              <a:t>原子、复合</a:t>
            </a:r>
            <a:r>
              <a:rPr sz="1400" dirty="0">
                <a:latin typeface="Microsoft YaHei"/>
                <a:cs typeface="Microsoft YaHei"/>
              </a:rPr>
              <a:t>）</a:t>
            </a:r>
            <a:r>
              <a:rPr sz="1400" spc="140" dirty="0">
                <a:latin typeface="Microsoft YaHei"/>
                <a:cs typeface="Microsoft YaHei"/>
              </a:rPr>
              <a:t> </a:t>
            </a:r>
            <a:r>
              <a:rPr sz="1400" dirty="0">
                <a:latin typeface="Microsoft YaHei"/>
                <a:cs typeface="Microsoft YaHei"/>
              </a:rPr>
              <a:t>X 对比方法</a:t>
            </a:r>
            <a:r>
              <a:rPr sz="1400" spc="-75" dirty="0">
                <a:latin typeface="Microsoft YaHei"/>
                <a:cs typeface="Microsoft YaHei"/>
              </a:rPr>
              <a:t>（</a:t>
            </a:r>
            <a:r>
              <a:rPr sz="1400" spc="-55" dirty="0">
                <a:latin typeface="Microsoft YaHei"/>
                <a:cs typeface="Microsoft YaHei"/>
              </a:rPr>
              <a:t>如相对比较、同比、环比、基准比较、范围占比等</a:t>
            </a:r>
            <a:r>
              <a:rPr sz="1400" spc="-50" dirty="0">
                <a:latin typeface="Microsoft YaHei"/>
                <a:cs typeface="Microsoft YaHei"/>
              </a:rPr>
              <a:t>）</a:t>
            </a:r>
            <a:r>
              <a:rPr sz="1400" spc="-30" dirty="0">
                <a:solidFill>
                  <a:srgbClr val="1C4AE6"/>
                </a:solidFill>
                <a:latin typeface="Microsoft YaHei"/>
                <a:cs typeface="Microsoft YaHei"/>
              </a:rPr>
              <a:t>我想看</a:t>
            </a:r>
            <a:r>
              <a:rPr sz="1400" spc="-10" dirty="0">
                <a:solidFill>
                  <a:srgbClr val="1C4AE6"/>
                </a:solidFill>
                <a:latin typeface="Microsoft YaHei"/>
                <a:cs typeface="Microsoft YaHei"/>
              </a:rPr>
              <a:t>**</a:t>
            </a:r>
            <a:r>
              <a:rPr sz="1400" spc="-20" dirty="0">
                <a:solidFill>
                  <a:srgbClr val="1C4AE6"/>
                </a:solidFill>
                <a:latin typeface="Microsoft YaHei"/>
                <a:cs typeface="Microsoft YaHei"/>
              </a:rPr>
              <a:t>[时间]</a:t>
            </a:r>
            <a:r>
              <a:rPr sz="1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在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[空间范围]</a:t>
            </a:r>
            <a:r>
              <a:rPr sz="1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的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[对象分类]</a:t>
            </a:r>
            <a:r>
              <a:rPr sz="1400" b="1" spc="-20" dirty="0">
                <a:solidFill>
                  <a:srgbClr val="1C4AE6"/>
                </a:solidFill>
                <a:latin typeface="Microsoft YaHei"/>
                <a:cs typeface="Microsoft YaHei"/>
              </a:rPr>
              <a:t>的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[基础数据]</a:t>
            </a:r>
            <a:r>
              <a:rPr sz="1400" b="1" spc="-30" dirty="0">
                <a:solidFill>
                  <a:srgbClr val="1C4AE6"/>
                </a:solidFill>
                <a:latin typeface="Microsoft YaHei"/>
                <a:cs typeface="Microsoft YaHei"/>
              </a:rPr>
              <a:t>，特别是</a:t>
            </a:r>
            <a:r>
              <a:rPr sz="1400" spc="-30" dirty="0">
                <a:solidFill>
                  <a:srgbClr val="1C4AE6"/>
                </a:solidFill>
                <a:latin typeface="Microsoft YaHei"/>
                <a:cs typeface="Microsoft YaHei"/>
              </a:rPr>
              <a:t>[计算得出的指标]</a:t>
            </a:r>
            <a:r>
              <a:rPr sz="1400" b="1" spc="-30" dirty="0">
                <a:solidFill>
                  <a:srgbClr val="1C4AE6"/>
                </a:solidFill>
                <a:latin typeface="Microsoft YaHei"/>
                <a:cs typeface="Microsoft YaHei"/>
              </a:rPr>
              <a:t>，需要和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[对比对象]</a:t>
            </a:r>
            <a:r>
              <a:rPr sz="1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做</a:t>
            </a:r>
            <a:r>
              <a:rPr sz="1400" spc="-30" dirty="0">
                <a:solidFill>
                  <a:srgbClr val="1C4AE6"/>
                </a:solidFill>
                <a:latin typeface="Microsoft YaHei"/>
                <a:cs typeface="Microsoft YaHei"/>
              </a:rPr>
              <a:t>[对比方式]</a:t>
            </a:r>
            <a:r>
              <a:rPr sz="1400" spc="-10" dirty="0">
                <a:solidFill>
                  <a:srgbClr val="1C4AE6"/>
                </a:solidFill>
                <a:latin typeface="Microsoft YaHei"/>
                <a:cs typeface="Microsoft YaHei"/>
              </a:rPr>
              <a:t>**</a:t>
            </a:r>
            <a:r>
              <a:rPr sz="1400" spc="-25" dirty="0">
                <a:solidFill>
                  <a:srgbClr val="1C4AE6"/>
                </a:solidFill>
                <a:latin typeface="Microsoft YaHei"/>
                <a:cs typeface="Microsoft YaHei"/>
              </a:rPr>
              <a:t>分析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9150" y="2257425"/>
            <a:ext cx="144780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271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73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时间维度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150" y="3238500"/>
            <a:ext cx="144780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080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71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空间维度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9150" y="4219575"/>
            <a:ext cx="1447800" cy="390525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8953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70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对象维度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9150" y="5191125"/>
            <a:ext cx="144780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715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76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条件维度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219" y="2661348"/>
            <a:ext cx="1400175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sz="1200" spc="-10" dirty="0">
                <a:latin typeface="Microsoft YaHei"/>
                <a:cs typeface="Microsoft YaHei"/>
              </a:rPr>
              <a:t>年、季度、月、周、前</a:t>
            </a:r>
            <a:r>
              <a:rPr sz="1200" dirty="0">
                <a:latin typeface="Microsoft YaHei"/>
                <a:cs typeface="Microsoft YaHei"/>
              </a:rPr>
              <a:t>X</a:t>
            </a:r>
            <a:r>
              <a:rPr sz="1200" spc="-50" dirty="0">
                <a:latin typeface="Microsoft YaHei"/>
                <a:cs typeface="Microsoft YaHei"/>
              </a:rPr>
              <a:t>月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1219" y="3663950"/>
            <a:ext cx="1400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国家、区域、城市、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1219" y="3854132"/>
            <a:ext cx="330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Microsoft YaHei"/>
                <a:cs typeface="Microsoft YaHei"/>
              </a:rPr>
              <a:t>地区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350" y="4645977"/>
            <a:ext cx="140017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产品、客户、品类、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latin typeface="Microsoft YaHei"/>
                <a:cs typeface="Microsoft YaHei"/>
              </a:rPr>
              <a:t>员工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0275" y="5628322"/>
            <a:ext cx="1247140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满足特定条件子集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latin typeface="Microsoft YaHei"/>
                <a:cs typeface="Microsoft YaHei"/>
              </a:rPr>
              <a:t>（</a:t>
            </a:r>
            <a:r>
              <a:rPr sz="1200" spc="-5" dirty="0">
                <a:latin typeface="Microsoft YaHei"/>
                <a:cs typeface="Microsoft YaHei"/>
              </a:rPr>
              <a:t>如：</a:t>
            </a:r>
            <a:r>
              <a:rPr sz="1200" spc="-10" dirty="0">
                <a:latin typeface="Microsoft YaHei"/>
                <a:cs typeface="Microsoft YaHei"/>
              </a:rPr>
              <a:t>VIP）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6075" y="2257425"/>
            <a:ext cx="144780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1440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72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原子指标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6075" y="4219575"/>
            <a:ext cx="1447800" cy="390525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89535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705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复合指标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68625" y="2645917"/>
            <a:ext cx="1247140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业务发生时就记录的原始数据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spc="-25" dirty="0">
                <a:latin typeface="Microsoft YaHei"/>
                <a:cs typeface="Microsoft YaHei"/>
              </a:rPr>
              <a:t>如：</a:t>
            </a:r>
            <a:endParaRPr sz="1200">
              <a:latin typeface="Microsoft YaHei"/>
              <a:cs typeface="Microsoft YaHei"/>
            </a:endParaRPr>
          </a:p>
          <a:p>
            <a:pPr marL="12700" marR="5080">
              <a:lnSpc>
                <a:spcPct val="151200"/>
              </a:lnSpc>
            </a:pPr>
            <a:r>
              <a:rPr sz="1200" spc="-10" dirty="0">
                <a:latin typeface="Microsoft YaHei"/>
                <a:cs typeface="Microsoft YaHei"/>
              </a:rPr>
              <a:t>订单数、访问量、</a:t>
            </a:r>
            <a:r>
              <a:rPr sz="1200" spc="-20" dirty="0">
                <a:latin typeface="Microsoft YaHei"/>
                <a:cs typeface="Microsoft YaHei"/>
              </a:rPr>
              <a:t>库存量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82595" y="4650422"/>
            <a:ext cx="1244600" cy="139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000"/>
              </a:lnSpc>
              <a:spcBef>
                <a:spcPts val="100"/>
              </a:spcBef>
            </a:pPr>
            <a:r>
              <a:rPr sz="1200" spc="-20" dirty="0">
                <a:latin typeface="Microsoft YaHei"/>
                <a:cs typeface="Microsoft YaHei"/>
              </a:rPr>
              <a:t>需要计算得出的业</a:t>
            </a:r>
            <a:r>
              <a:rPr sz="1200" spc="-25" dirty="0">
                <a:latin typeface="Microsoft YaHei"/>
                <a:cs typeface="Microsoft YaHei"/>
              </a:rPr>
              <a:t>务度量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spc="-25" dirty="0">
                <a:latin typeface="Microsoft YaHei"/>
                <a:cs typeface="Microsoft YaHei"/>
              </a:rPr>
              <a:t>如：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spc="-10" dirty="0">
                <a:latin typeface="Microsoft YaHei"/>
                <a:cs typeface="Microsoft YaHei"/>
              </a:rPr>
              <a:t>ROI</a:t>
            </a:r>
            <a:r>
              <a:rPr sz="1200" spc="-15" dirty="0">
                <a:latin typeface="Microsoft YaHei"/>
                <a:cs typeface="Microsoft YaHei"/>
              </a:rPr>
              <a:t>=收入/成本，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spc="-15" dirty="0">
                <a:latin typeface="Microsoft YaHei"/>
                <a:cs typeface="Microsoft YaHei"/>
              </a:rPr>
              <a:t>毛利=销售-成本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24476" y="2062162"/>
            <a:ext cx="3362325" cy="4143375"/>
          </a:xfrm>
          <a:custGeom>
            <a:avLst/>
            <a:gdLst/>
            <a:ahLst/>
            <a:cxnLst/>
            <a:rect l="l" t="t" r="r" b="b"/>
            <a:pathLst>
              <a:path w="3362325" h="4143375">
                <a:moveTo>
                  <a:pt x="0" y="4143375"/>
                </a:moveTo>
                <a:lnTo>
                  <a:pt x="3362325" y="4143375"/>
                </a:lnTo>
                <a:lnTo>
                  <a:pt x="3362325" y="0"/>
                </a:lnTo>
                <a:lnTo>
                  <a:pt x="0" y="0"/>
                </a:lnTo>
                <a:lnTo>
                  <a:pt x="0" y="4143375"/>
                </a:lnTo>
                <a:close/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000625" y="2209800"/>
            <a:ext cx="3000375" cy="390525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86360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680"/>
              </a:spcBef>
            </a:pPr>
            <a:r>
              <a:rPr sz="14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横向对比-找差距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0625" y="3267075"/>
            <a:ext cx="3000375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3345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735"/>
              </a:spcBef>
            </a:pPr>
            <a:r>
              <a:rPr sz="14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纵向对比-看趋势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0625" y="4305300"/>
            <a:ext cx="3000375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2075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725"/>
              </a:spcBef>
            </a:pPr>
            <a:r>
              <a:rPr sz="14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基准对比-验健康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00625" y="5286375"/>
            <a:ext cx="3000375" cy="390525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0170" rIns="0" bIns="0" rtlCol="0">
            <a:spAutoFit/>
          </a:bodyPr>
          <a:lstStyle/>
          <a:p>
            <a:pPr marL="844550">
              <a:lnSpc>
                <a:spcPct val="100000"/>
              </a:lnSpc>
              <a:spcBef>
                <a:spcPts val="710"/>
              </a:spcBef>
            </a:pPr>
            <a:r>
              <a:rPr sz="14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结构对比-看构成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61203" y="2693415"/>
            <a:ext cx="261747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Microsoft YaHei"/>
                <a:cs typeface="Microsoft YaHei"/>
              </a:rPr>
              <a:t>方法定义</a:t>
            </a:r>
            <a:r>
              <a:rPr sz="1200" spc="-5" dirty="0">
                <a:latin typeface="Microsoft YaHei"/>
                <a:cs typeface="Microsoft YaHei"/>
              </a:rPr>
              <a:t>：同一时间截面的多对象对比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b="1" spc="-5" dirty="0">
                <a:latin typeface="Microsoft YaHei"/>
                <a:cs typeface="Microsoft YaHei"/>
              </a:rPr>
              <a:t>业务意义</a:t>
            </a:r>
            <a:r>
              <a:rPr sz="1200" spc="-15" dirty="0">
                <a:latin typeface="Microsoft YaHei"/>
                <a:cs typeface="Microsoft YaHei"/>
              </a:rPr>
              <a:t>：资源分配决策、优劣诊断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61203" y="3718242"/>
            <a:ext cx="2465070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40"/>
              </a:spcBef>
            </a:pPr>
            <a:r>
              <a:rPr sz="1200" b="1" spc="-5" dirty="0">
                <a:latin typeface="Microsoft YaHei"/>
                <a:cs typeface="Microsoft YaHei"/>
              </a:rPr>
              <a:t>方法定义</a:t>
            </a:r>
            <a:r>
              <a:rPr sz="1200" spc="-15" dirty="0">
                <a:latin typeface="Microsoft YaHei"/>
                <a:cs typeface="Microsoft YaHei"/>
              </a:rPr>
              <a:t>：同对象的不同时段和空间</a:t>
            </a:r>
            <a:r>
              <a:rPr sz="1200" b="1" spc="-5" dirty="0">
                <a:latin typeface="Microsoft YaHei"/>
                <a:cs typeface="Microsoft YaHei"/>
              </a:rPr>
              <a:t>业务意义</a:t>
            </a:r>
            <a:r>
              <a:rPr sz="1200" spc="-15" dirty="0">
                <a:latin typeface="Microsoft YaHei"/>
                <a:cs typeface="Microsoft YaHei"/>
              </a:rPr>
              <a:t>：进度监控、异常波动预警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61203" y="4782820"/>
            <a:ext cx="266192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Microsoft YaHei"/>
                <a:cs typeface="Microsoft YaHei"/>
              </a:rPr>
              <a:t>方法定义</a:t>
            </a:r>
            <a:r>
              <a:rPr sz="1200" spc="-5" dirty="0">
                <a:latin typeface="Microsoft YaHei"/>
                <a:cs typeface="Microsoft YaHei"/>
              </a:rPr>
              <a:t>：比</a:t>
            </a:r>
            <a:r>
              <a:rPr sz="1200" spc="-10" dirty="0">
                <a:latin typeface="Microsoft YaHei"/>
                <a:cs typeface="Microsoft YaHei"/>
              </a:rPr>
              <a:t>XX</a:t>
            </a:r>
            <a:r>
              <a:rPr sz="1200" spc="-5" dirty="0">
                <a:latin typeface="Microsoft YaHei"/>
                <a:cs typeface="Microsoft YaHei"/>
              </a:rPr>
              <a:t>高、与预设标准值对比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b="1" spc="-5" dirty="0">
                <a:latin typeface="Microsoft YaHei"/>
                <a:cs typeface="Microsoft YaHei"/>
              </a:rPr>
              <a:t>业务意义</a:t>
            </a:r>
            <a:r>
              <a:rPr sz="1200" spc="-15" dirty="0">
                <a:latin typeface="Microsoft YaHei"/>
                <a:cs typeface="Microsoft YaHei"/>
              </a:rPr>
              <a:t>：目标管理、竞争力评估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61203" y="5778500"/>
            <a:ext cx="2614930" cy="3994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35"/>
              </a:spcBef>
            </a:pPr>
            <a:r>
              <a:rPr sz="1200" b="1" spc="-5" dirty="0">
                <a:latin typeface="Microsoft YaHei"/>
                <a:cs typeface="Microsoft YaHei"/>
              </a:rPr>
              <a:t>方法定义</a:t>
            </a:r>
            <a:r>
              <a:rPr sz="1200" dirty="0">
                <a:latin typeface="Microsoft YaHei"/>
                <a:cs typeface="Microsoft YaHei"/>
              </a:rPr>
              <a:t>：子集</a:t>
            </a:r>
            <a:r>
              <a:rPr sz="1200" spc="-10" dirty="0">
                <a:latin typeface="Microsoft YaHei"/>
                <a:cs typeface="Microsoft YaHei"/>
              </a:rPr>
              <a:t>vs范围的比例关系分析</a:t>
            </a:r>
            <a:r>
              <a:rPr sz="1200" b="1" spc="-5" dirty="0">
                <a:latin typeface="Microsoft YaHei"/>
                <a:cs typeface="Microsoft YaHei"/>
              </a:rPr>
              <a:t>业务意义</a:t>
            </a:r>
            <a:r>
              <a:rPr sz="1200" spc="-5" dirty="0">
                <a:latin typeface="Microsoft YaHei"/>
                <a:cs typeface="Microsoft YaHei"/>
              </a:rPr>
              <a:t>：资源优化、战略聚焦</a:t>
            </a:r>
            <a:endParaRPr sz="1200">
              <a:latin typeface="Microsoft YaHei"/>
              <a:cs typeface="Microsoft YaHe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6076" y="2097151"/>
            <a:ext cx="2730500" cy="4064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8653526" y="2071687"/>
            <a:ext cx="2905125" cy="414337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1550" b="1" spc="5" dirty="0">
                <a:solidFill>
                  <a:srgbClr val="FD7B77"/>
                </a:solidFill>
                <a:latin typeface="Microsoft YaHei"/>
                <a:cs typeface="Microsoft YaHei"/>
              </a:rPr>
              <a:t>典型问题</a:t>
            </a:r>
            <a:endParaRPr sz="1550">
              <a:latin typeface="Microsoft YaHei"/>
              <a:cs typeface="Microsoft YaHei"/>
            </a:endParaRPr>
          </a:p>
          <a:p>
            <a:pPr marL="702310">
              <a:lnSpc>
                <a:spcPct val="100000"/>
              </a:lnSpc>
              <a:spcBef>
                <a:spcPts val="1390"/>
              </a:spcBef>
            </a:pP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某产品的销售额、销量</a:t>
            </a:r>
            <a:endParaRPr sz="1200">
              <a:latin typeface="Microsoft YaHei"/>
              <a:cs typeface="Microsoft YaHei"/>
            </a:endParaRPr>
          </a:p>
          <a:p>
            <a:pPr marL="550545" marR="518795" indent="113030">
              <a:lnSpc>
                <a:spcPts val="2180"/>
              </a:lnSpc>
              <a:spcBef>
                <a:spcPts val="114"/>
              </a:spcBef>
            </a:pP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某店铺的</a:t>
            </a:r>
            <a:r>
              <a:rPr sz="1200" b="1" spc="-20" dirty="0">
                <a:solidFill>
                  <a:srgbClr val="404040"/>
                </a:solidFill>
                <a:latin typeface="Microsoft YaHei"/>
                <a:cs typeface="Microsoft YaHei"/>
              </a:rPr>
              <a:t>GMV、曝光量</a:t>
            </a: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某机构的贷款额、营业收入</a:t>
            </a:r>
            <a:endParaRPr sz="1200">
              <a:latin typeface="Microsoft YaHei"/>
              <a:cs typeface="Microsoft YaHei"/>
            </a:endParaRPr>
          </a:p>
          <a:p>
            <a:pPr marL="640715">
              <a:lnSpc>
                <a:spcPct val="100000"/>
              </a:lnSpc>
              <a:spcBef>
                <a:spcPts val="1545"/>
              </a:spcBef>
            </a:pPr>
            <a:r>
              <a:rPr sz="1200" b="1" spc="-15" dirty="0">
                <a:solidFill>
                  <a:srgbClr val="404040"/>
                </a:solidFill>
                <a:latin typeface="Microsoft YaHei"/>
                <a:cs typeface="Microsoft YaHei"/>
              </a:rPr>
              <a:t>北京门店本月销售额环比</a:t>
            </a:r>
            <a:endParaRPr sz="1200">
              <a:latin typeface="Microsoft YaHei"/>
              <a:cs typeface="Microsoft YaHei"/>
            </a:endParaRPr>
          </a:p>
          <a:p>
            <a:pPr marL="625475">
              <a:lnSpc>
                <a:spcPct val="100000"/>
              </a:lnSpc>
              <a:spcBef>
                <a:spcPts val="665"/>
              </a:spcBef>
            </a:pP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25</a:t>
            </a:r>
            <a:r>
              <a:rPr sz="1200" b="1" dirty="0">
                <a:solidFill>
                  <a:srgbClr val="404040"/>
                </a:solidFill>
                <a:latin typeface="Microsoft YaHei"/>
                <a:cs typeface="Microsoft YaHei"/>
              </a:rPr>
              <a:t>年</a:t>
            </a: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1.1-1.3</a:t>
            </a:r>
            <a:r>
              <a:rPr sz="1200" b="1" dirty="0">
                <a:solidFill>
                  <a:srgbClr val="404040"/>
                </a:solidFill>
                <a:latin typeface="Microsoft YaHei"/>
                <a:cs typeface="Microsoft YaHei"/>
              </a:rPr>
              <a:t>各店铺</a:t>
            </a:r>
            <a:r>
              <a:rPr sz="1200" b="1" spc="-25" dirty="0">
                <a:solidFill>
                  <a:srgbClr val="404040"/>
                </a:solidFill>
                <a:latin typeface="Microsoft YaHei"/>
                <a:cs typeface="Microsoft YaHei"/>
              </a:rPr>
              <a:t>GMV</a:t>
            </a:r>
            <a:endParaRPr sz="1200">
              <a:latin typeface="Microsoft YaHei"/>
              <a:cs typeface="Microsoft YaHei"/>
            </a:endParaRPr>
          </a:p>
          <a:p>
            <a:pPr marL="52705" algn="ctr">
              <a:lnSpc>
                <a:spcPct val="100000"/>
              </a:lnSpc>
              <a:spcBef>
                <a:spcPts val="735"/>
              </a:spcBef>
            </a:pPr>
            <a:r>
              <a:rPr sz="1200" b="1" dirty="0">
                <a:solidFill>
                  <a:srgbClr val="404040"/>
                </a:solidFill>
                <a:latin typeface="Microsoft YaHei"/>
                <a:cs typeface="Microsoft YaHei"/>
              </a:rPr>
              <a:t>近6</a:t>
            </a: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个月的成本变化</a:t>
            </a:r>
            <a:endParaRPr sz="12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Microsoft YaHei"/>
              <a:cs typeface="Microsoft YaHei"/>
            </a:endParaRPr>
          </a:p>
          <a:p>
            <a:pPr marL="13335" algn="ctr">
              <a:lnSpc>
                <a:spcPct val="100000"/>
              </a:lnSpc>
            </a:pP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24</a:t>
            </a: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年各店铺的销售额达成率</a:t>
            </a:r>
            <a:endParaRPr sz="1200">
              <a:latin typeface="Microsoft YaHei"/>
              <a:cs typeface="Microsoft YaHei"/>
            </a:endParaRPr>
          </a:p>
          <a:p>
            <a:pPr marL="14604" algn="ctr">
              <a:lnSpc>
                <a:spcPct val="100000"/>
              </a:lnSpc>
              <a:spcBef>
                <a:spcPts val="660"/>
              </a:spcBef>
            </a:pP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各大区销售额比华南大区销售额做的好</a:t>
            </a:r>
            <a:endParaRPr sz="1200">
              <a:latin typeface="Microsoft YaHei"/>
              <a:cs typeface="Microsoft YaHei"/>
            </a:endParaRPr>
          </a:p>
          <a:p>
            <a:pPr marL="11430" algn="ctr">
              <a:lnSpc>
                <a:spcPct val="100000"/>
              </a:lnSpc>
              <a:spcBef>
                <a:spcPts val="740"/>
              </a:spcBef>
            </a:pPr>
            <a:r>
              <a:rPr sz="1200" b="1" spc="-50" dirty="0">
                <a:solidFill>
                  <a:srgbClr val="404040"/>
                </a:solidFill>
                <a:latin typeface="Microsoft YaHei"/>
                <a:cs typeface="Microsoft YaHei"/>
              </a:rPr>
              <a:t>的</a:t>
            </a:r>
            <a:endParaRPr sz="1200">
              <a:latin typeface="Microsoft YaHei"/>
              <a:cs typeface="Microsoft YaHei"/>
            </a:endParaRPr>
          </a:p>
          <a:p>
            <a:pPr marL="55244" algn="ctr">
              <a:lnSpc>
                <a:spcPct val="100000"/>
              </a:lnSpc>
              <a:spcBef>
                <a:spcPts val="1325"/>
              </a:spcBef>
            </a:pP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女装产品的销售额占比</a:t>
            </a:r>
            <a:endParaRPr sz="1200">
              <a:latin typeface="Microsoft YaHei"/>
              <a:cs typeface="Microsoft YaHei"/>
            </a:endParaRPr>
          </a:p>
          <a:p>
            <a:pPr marL="52069" algn="ctr">
              <a:lnSpc>
                <a:spcPct val="100000"/>
              </a:lnSpc>
              <a:spcBef>
                <a:spcPts val="665"/>
              </a:spcBef>
            </a:pPr>
            <a:r>
              <a:rPr sz="1200" b="1" spc="-5" dirty="0">
                <a:solidFill>
                  <a:srgbClr val="404040"/>
                </a:solidFill>
                <a:latin typeface="Microsoft YaHei"/>
                <a:cs typeface="Microsoft YaHei"/>
              </a:rPr>
              <a:t>上海分公司成本在华东区占比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57425" y="3743959"/>
            <a:ext cx="2682875" cy="618490"/>
          </a:xfrm>
          <a:custGeom>
            <a:avLst/>
            <a:gdLst/>
            <a:ahLst/>
            <a:cxnLst/>
            <a:rect l="l" t="t" r="r" b="b"/>
            <a:pathLst>
              <a:path w="2682875" h="618489">
                <a:moveTo>
                  <a:pt x="609600" y="237490"/>
                </a:moveTo>
                <a:lnTo>
                  <a:pt x="371475" y="237490"/>
                </a:lnTo>
                <a:lnTo>
                  <a:pt x="371475" y="0"/>
                </a:lnTo>
                <a:lnTo>
                  <a:pt x="238125" y="0"/>
                </a:lnTo>
                <a:lnTo>
                  <a:pt x="238125" y="237490"/>
                </a:lnTo>
                <a:lnTo>
                  <a:pt x="0" y="237490"/>
                </a:lnTo>
                <a:lnTo>
                  <a:pt x="0" y="381000"/>
                </a:lnTo>
                <a:lnTo>
                  <a:pt x="238125" y="381000"/>
                </a:lnTo>
                <a:lnTo>
                  <a:pt x="238125" y="618490"/>
                </a:lnTo>
                <a:lnTo>
                  <a:pt x="371475" y="618490"/>
                </a:lnTo>
                <a:lnTo>
                  <a:pt x="371475" y="381000"/>
                </a:lnTo>
                <a:lnTo>
                  <a:pt x="609600" y="381000"/>
                </a:lnTo>
                <a:lnTo>
                  <a:pt x="609600" y="237490"/>
                </a:lnTo>
                <a:close/>
              </a:path>
              <a:path w="2682875" h="618489">
                <a:moveTo>
                  <a:pt x="2682748" y="169926"/>
                </a:moveTo>
                <a:lnTo>
                  <a:pt x="2588133" y="74676"/>
                </a:lnTo>
                <a:lnTo>
                  <a:pt x="2418080" y="243713"/>
                </a:lnTo>
                <a:lnTo>
                  <a:pt x="2249043" y="73787"/>
                </a:lnTo>
                <a:lnTo>
                  <a:pt x="2151126" y="171069"/>
                </a:lnTo>
                <a:lnTo>
                  <a:pt x="2320163" y="341122"/>
                </a:lnTo>
                <a:lnTo>
                  <a:pt x="2150237" y="510032"/>
                </a:lnTo>
                <a:lnTo>
                  <a:pt x="2244852" y="605282"/>
                </a:lnTo>
                <a:lnTo>
                  <a:pt x="2414778" y="436245"/>
                </a:lnTo>
                <a:lnTo>
                  <a:pt x="2583815" y="606171"/>
                </a:lnTo>
                <a:lnTo>
                  <a:pt x="2681732" y="508889"/>
                </a:lnTo>
                <a:lnTo>
                  <a:pt x="2512695" y="338836"/>
                </a:lnTo>
                <a:lnTo>
                  <a:pt x="2682748" y="169926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24850" y="3371850"/>
            <a:ext cx="180975" cy="1752600"/>
          </a:xfrm>
          <a:custGeom>
            <a:avLst/>
            <a:gdLst/>
            <a:ahLst/>
            <a:cxnLst/>
            <a:rect l="l" t="t" r="r" b="b"/>
            <a:pathLst>
              <a:path w="180975" h="1752600">
                <a:moveTo>
                  <a:pt x="0" y="0"/>
                </a:moveTo>
                <a:lnTo>
                  <a:pt x="0" y="1752600"/>
                </a:lnTo>
                <a:lnTo>
                  <a:pt x="180975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2107" y="324802"/>
            <a:ext cx="8263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必要性：为什么问答式交互能够更好的完成数据探索和洞察？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8590280" cy="6123305"/>
            <a:chOff x="0" y="304800"/>
            <a:chExt cx="8590280" cy="6123305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61925" cy="447675"/>
            </a:xfrm>
            <a:custGeom>
              <a:avLst/>
              <a:gdLst/>
              <a:ahLst/>
              <a:cxnLst/>
              <a:rect l="l" t="t" r="r" b="b"/>
              <a:pathLst>
                <a:path w="161925" h="447675">
                  <a:moveTo>
                    <a:pt x="1619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61925" y="4476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91201" y="1738312"/>
              <a:ext cx="3295650" cy="4686300"/>
            </a:xfrm>
            <a:custGeom>
              <a:avLst/>
              <a:gdLst/>
              <a:ahLst/>
              <a:cxnLst/>
              <a:rect l="l" t="t" r="r" b="b"/>
              <a:pathLst>
                <a:path w="3295650" h="4686300">
                  <a:moveTo>
                    <a:pt x="0" y="4686300"/>
                  </a:moveTo>
                  <a:lnTo>
                    <a:pt x="3295650" y="4686300"/>
                  </a:lnTo>
                  <a:lnTo>
                    <a:pt x="3295650" y="0"/>
                  </a:lnTo>
                  <a:lnTo>
                    <a:pt x="0" y="0"/>
                  </a:lnTo>
                  <a:lnTo>
                    <a:pt x="0" y="4686300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8612" y="1914525"/>
              <a:ext cx="4667250" cy="4500880"/>
            </a:xfrm>
            <a:custGeom>
              <a:avLst/>
              <a:gdLst/>
              <a:ahLst/>
              <a:cxnLst/>
              <a:rect l="l" t="t" r="r" b="b"/>
              <a:pathLst>
                <a:path w="4667250" h="4500880">
                  <a:moveTo>
                    <a:pt x="0" y="4500562"/>
                  </a:moveTo>
                  <a:lnTo>
                    <a:pt x="4667250" y="4500562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45005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612" y="1728787"/>
              <a:ext cx="4667250" cy="4686300"/>
            </a:xfrm>
            <a:custGeom>
              <a:avLst/>
              <a:gdLst/>
              <a:ahLst/>
              <a:cxnLst/>
              <a:rect l="l" t="t" r="r" b="b"/>
              <a:pathLst>
                <a:path w="4667250" h="4686300">
                  <a:moveTo>
                    <a:pt x="0" y="4686300"/>
                  </a:moveTo>
                  <a:lnTo>
                    <a:pt x="4667250" y="4686300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4686300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4591050"/>
              <a:ext cx="2609850" cy="1762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100" y="3581400"/>
              <a:ext cx="2781300" cy="1866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6450" y="2705100"/>
              <a:ext cx="2800350" cy="1866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1175" y="2790825"/>
              <a:ext cx="2828925" cy="3209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3850" y="19050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9525"/>
                  </a:moveTo>
                  <a:lnTo>
                    <a:pt x="4667250" y="9525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886825" y="1754187"/>
            <a:ext cx="3027680" cy="4692650"/>
            <a:chOff x="8886825" y="1754187"/>
            <a:chExt cx="3027680" cy="4692650"/>
          </a:xfrm>
        </p:grpSpPr>
        <p:sp>
          <p:nvSpPr>
            <p:cNvPr id="16" name="object 16"/>
            <p:cNvSpPr/>
            <p:nvPr/>
          </p:nvSpPr>
          <p:spPr>
            <a:xfrm>
              <a:off x="8891650" y="1757362"/>
              <a:ext cx="3019425" cy="4686300"/>
            </a:xfrm>
            <a:custGeom>
              <a:avLst/>
              <a:gdLst/>
              <a:ahLst/>
              <a:cxnLst/>
              <a:rect l="l" t="t" r="r" b="b"/>
              <a:pathLst>
                <a:path w="3019425" h="4686300">
                  <a:moveTo>
                    <a:pt x="0" y="4686300"/>
                  </a:moveTo>
                  <a:lnTo>
                    <a:pt x="3019425" y="4686300"/>
                  </a:lnTo>
                  <a:lnTo>
                    <a:pt x="3019425" y="0"/>
                  </a:lnTo>
                  <a:lnTo>
                    <a:pt x="0" y="0"/>
                  </a:lnTo>
                  <a:lnTo>
                    <a:pt x="0" y="4686300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82075" y="2695575"/>
              <a:ext cx="2800350" cy="19145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82075" y="4705350"/>
              <a:ext cx="2800350" cy="15430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886825" y="190500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9525"/>
                  </a:moveTo>
                  <a:lnTo>
                    <a:pt x="3019425" y="9525"/>
                  </a:lnTo>
                  <a:lnTo>
                    <a:pt x="3019425" y="0"/>
                  </a:lnTo>
                  <a:lnTo>
                    <a:pt x="0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3850" y="1466850"/>
            <a:ext cx="4667250" cy="438150"/>
          </a:xfrm>
          <a:prstGeom prst="rect">
            <a:avLst/>
          </a:prstGeom>
          <a:solidFill>
            <a:srgbClr val="1B4AE6"/>
          </a:solidFill>
        </p:spPr>
        <p:txBody>
          <a:bodyPr vert="horz" wrap="square" lIns="0" tIns="8953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705"/>
              </a:spcBef>
            </a:pPr>
            <a:r>
              <a:rPr sz="18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BI</a:t>
            </a:r>
            <a:r>
              <a:rPr sz="1800" b="1" spc="-15" dirty="0">
                <a:solidFill>
                  <a:srgbClr val="FFFFFF"/>
                </a:solidFill>
                <a:latin typeface="Microsoft YaHei"/>
                <a:cs typeface="Microsoft YaHei"/>
              </a:rPr>
              <a:t>：通过固定分析或探索找到问题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95900" y="1905000"/>
            <a:ext cx="3276600" cy="9525"/>
          </a:xfrm>
          <a:custGeom>
            <a:avLst/>
            <a:gdLst/>
            <a:ahLst/>
            <a:cxnLst/>
            <a:rect l="l" t="t" r="r" b="b"/>
            <a:pathLst>
              <a:path w="3276600" h="9525">
                <a:moveTo>
                  <a:pt x="0" y="9525"/>
                </a:moveTo>
                <a:lnTo>
                  <a:pt x="3276600" y="9525"/>
                </a:lnTo>
                <a:lnTo>
                  <a:pt x="3276600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FD7B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95900" y="1466850"/>
            <a:ext cx="3276600" cy="438150"/>
          </a:xfrm>
          <a:prstGeom prst="rect">
            <a:avLst/>
          </a:prstGeom>
          <a:solidFill>
            <a:srgbClr val="1B4AE6"/>
          </a:solidFill>
        </p:spPr>
        <p:txBody>
          <a:bodyPr vert="horz" wrap="square" lIns="0" tIns="75565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595"/>
              </a:spcBef>
            </a:pPr>
            <a:r>
              <a:rPr sz="18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BI</a:t>
            </a:r>
            <a:r>
              <a:rPr sz="1800" b="1" spc="-15" dirty="0">
                <a:solidFill>
                  <a:srgbClr val="FFFFFF"/>
                </a:solidFill>
                <a:latin typeface="Microsoft YaHei"/>
                <a:cs typeface="Microsoft YaHei"/>
              </a:rPr>
              <a:t>：进一步定位异常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86825" y="1466850"/>
            <a:ext cx="3019425" cy="438150"/>
          </a:xfrm>
          <a:prstGeom prst="rect">
            <a:avLst/>
          </a:prstGeom>
          <a:solidFill>
            <a:srgbClr val="1B4AE6"/>
          </a:solidFill>
        </p:spPr>
        <p:txBody>
          <a:bodyPr vert="horz" wrap="square" lIns="0" tIns="75565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595"/>
              </a:spcBef>
            </a:pPr>
            <a:r>
              <a:rPr sz="1800" b="1" spc="-10" dirty="0">
                <a:solidFill>
                  <a:srgbClr val="FFFFFF"/>
                </a:solidFill>
                <a:latin typeface="Microsoft YaHei"/>
                <a:cs typeface="Microsoft YaHei"/>
              </a:rPr>
              <a:t>AI：灵活问答探究更多可能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1787" y="2000948"/>
            <a:ext cx="4660900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1、发现24年11月环比异常</a:t>
            </a:r>
            <a:endParaRPr sz="1200">
              <a:latin typeface="Microsoft YaHei"/>
              <a:cs typeface="Microsoft YaHei"/>
            </a:endParaRPr>
          </a:p>
          <a:p>
            <a:pPr marL="227965">
              <a:lnSpc>
                <a:spcPts val="1435"/>
              </a:lnSpc>
              <a:spcBef>
                <a:spcPts val="65"/>
              </a:spcBef>
            </a:pPr>
            <a:r>
              <a:rPr sz="1200" spc="-10" dirty="0">
                <a:latin typeface="Microsoft YaHei"/>
                <a:cs typeface="Microsoft YaHei"/>
              </a:rPr>
              <a:t>2</a:t>
            </a:r>
            <a:r>
              <a:rPr sz="1200" spc="-5" dirty="0">
                <a:latin typeface="Microsoft YaHei"/>
                <a:cs typeface="Microsoft YaHei"/>
              </a:rPr>
              <a:t>、下钻发现西南地区环比异常最高</a:t>
            </a:r>
            <a:endParaRPr sz="1200">
              <a:latin typeface="Microsoft YaHei"/>
              <a:cs typeface="Microsoft YaHei"/>
            </a:endParaRPr>
          </a:p>
          <a:p>
            <a:pPr marL="227965">
              <a:lnSpc>
                <a:spcPts val="1435"/>
              </a:lnSpc>
            </a:pPr>
            <a:r>
              <a:rPr sz="1200" spc="-10" dirty="0">
                <a:latin typeface="Microsoft YaHei"/>
                <a:cs typeface="Microsoft YaHei"/>
              </a:rPr>
              <a:t>3</a:t>
            </a:r>
            <a:r>
              <a:rPr sz="1200" spc="-5" dirty="0">
                <a:latin typeface="Microsoft YaHei"/>
                <a:cs typeface="Microsoft YaHei"/>
              </a:rPr>
              <a:t>、探索发现童装环比异常值最高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94376" y="1998662"/>
            <a:ext cx="328930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4</a:t>
            </a:r>
            <a:r>
              <a:rPr sz="1200" spc="-15" dirty="0">
                <a:latin typeface="Microsoft YaHei"/>
                <a:cs typeface="Microsoft YaHei"/>
              </a:rPr>
              <a:t>、童装产品只有一款，已经确定了影响</a:t>
            </a:r>
            <a:endParaRPr sz="1200">
              <a:latin typeface="Microsoft YaHei"/>
              <a:cs typeface="Microsoft YaHei"/>
            </a:endParaRPr>
          </a:p>
          <a:p>
            <a:pPr marL="130810">
              <a:lnSpc>
                <a:spcPct val="100000"/>
              </a:lnSpc>
              <a:spcBef>
                <a:spcPts val="65"/>
              </a:spcBef>
            </a:pPr>
            <a:r>
              <a:rPr sz="1200" spc="-10" dirty="0">
                <a:latin typeface="Microsoft YaHei"/>
                <a:cs typeface="Microsoft YaHei"/>
              </a:rPr>
              <a:t>5</a:t>
            </a:r>
            <a:r>
              <a:rPr sz="1200" spc="-5" dirty="0">
                <a:latin typeface="Microsoft YaHei"/>
                <a:cs typeface="Microsoft YaHei"/>
              </a:rPr>
              <a:t>、进一步探索异常值第二的女装各产品情况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94216" y="1993201"/>
            <a:ext cx="2609215" cy="5810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 algn="just">
              <a:lnSpc>
                <a:spcPct val="101699"/>
              </a:lnSpc>
              <a:spcBef>
                <a:spcPts val="75"/>
              </a:spcBef>
            </a:pPr>
            <a:r>
              <a:rPr sz="120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打破固有分析思路，探索看各产品销售占比情况，发现：其实男装中衬衫销售占比连续低迷，同样应当关注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58376" y="4040504"/>
            <a:ext cx="2205355" cy="1987550"/>
            <a:chOff x="9358376" y="4040504"/>
            <a:chExt cx="2205355" cy="1987550"/>
          </a:xfrm>
        </p:grpSpPr>
        <p:sp>
          <p:nvSpPr>
            <p:cNvPr id="28" name="object 28"/>
            <p:cNvSpPr/>
            <p:nvPr/>
          </p:nvSpPr>
          <p:spPr>
            <a:xfrm>
              <a:off x="9358376" y="4040504"/>
              <a:ext cx="1138555" cy="1968500"/>
            </a:xfrm>
            <a:custGeom>
              <a:avLst/>
              <a:gdLst/>
              <a:ahLst/>
              <a:cxnLst/>
              <a:rect l="l" t="t" r="r" b="b"/>
              <a:pathLst>
                <a:path w="1138554" h="1968500">
                  <a:moveTo>
                    <a:pt x="347472" y="1710702"/>
                  </a:moveTo>
                  <a:lnTo>
                    <a:pt x="327660" y="1685899"/>
                  </a:lnTo>
                  <a:lnTo>
                    <a:pt x="74320" y="1888337"/>
                  </a:lnTo>
                  <a:lnTo>
                    <a:pt x="74320" y="1908670"/>
                  </a:lnTo>
                  <a:lnTo>
                    <a:pt x="84201" y="1921065"/>
                  </a:lnTo>
                  <a:lnTo>
                    <a:pt x="74282" y="1908670"/>
                  </a:lnTo>
                  <a:lnTo>
                    <a:pt x="74320" y="1888337"/>
                  </a:lnTo>
                  <a:lnTo>
                    <a:pt x="74422" y="1807006"/>
                  </a:lnTo>
                  <a:lnTo>
                    <a:pt x="0" y="1968131"/>
                  </a:lnTo>
                  <a:lnTo>
                    <a:pt x="173482" y="1931022"/>
                  </a:lnTo>
                  <a:lnTo>
                    <a:pt x="129311" y="1921065"/>
                  </a:lnTo>
                  <a:lnTo>
                    <a:pt x="94119" y="1913140"/>
                  </a:lnTo>
                  <a:lnTo>
                    <a:pt x="347472" y="1710702"/>
                  </a:lnTo>
                  <a:close/>
                </a:path>
                <a:path w="1138554" h="1968500">
                  <a:moveTo>
                    <a:pt x="1138047" y="24765"/>
                  </a:moveTo>
                  <a:lnTo>
                    <a:pt x="1118235" y="0"/>
                  </a:lnTo>
                  <a:lnTo>
                    <a:pt x="864895" y="202387"/>
                  </a:lnTo>
                  <a:lnTo>
                    <a:pt x="864997" y="121031"/>
                  </a:lnTo>
                  <a:lnTo>
                    <a:pt x="790575" y="282194"/>
                  </a:lnTo>
                  <a:lnTo>
                    <a:pt x="964057" y="245110"/>
                  </a:lnTo>
                  <a:lnTo>
                    <a:pt x="919530" y="235077"/>
                  </a:lnTo>
                  <a:lnTo>
                    <a:pt x="884618" y="227215"/>
                  </a:lnTo>
                  <a:lnTo>
                    <a:pt x="1138047" y="2476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91776" y="4040504"/>
              <a:ext cx="1138555" cy="1987550"/>
            </a:xfrm>
            <a:custGeom>
              <a:avLst/>
              <a:gdLst/>
              <a:ahLst/>
              <a:cxnLst/>
              <a:rect l="l" t="t" r="r" b="b"/>
              <a:pathLst>
                <a:path w="1138554" h="1987550">
                  <a:moveTo>
                    <a:pt x="347472" y="1729752"/>
                  </a:moveTo>
                  <a:lnTo>
                    <a:pt x="327660" y="1704949"/>
                  </a:lnTo>
                  <a:lnTo>
                    <a:pt x="74320" y="1907387"/>
                  </a:lnTo>
                  <a:lnTo>
                    <a:pt x="74320" y="1927720"/>
                  </a:lnTo>
                  <a:lnTo>
                    <a:pt x="84201" y="1940115"/>
                  </a:lnTo>
                  <a:lnTo>
                    <a:pt x="74282" y="1927720"/>
                  </a:lnTo>
                  <a:lnTo>
                    <a:pt x="74320" y="1907387"/>
                  </a:lnTo>
                  <a:lnTo>
                    <a:pt x="74422" y="1826056"/>
                  </a:lnTo>
                  <a:lnTo>
                    <a:pt x="0" y="1987181"/>
                  </a:lnTo>
                  <a:lnTo>
                    <a:pt x="173482" y="1950072"/>
                  </a:lnTo>
                  <a:lnTo>
                    <a:pt x="129311" y="1940115"/>
                  </a:lnTo>
                  <a:lnTo>
                    <a:pt x="94119" y="1932190"/>
                  </a:lnTo>
                  <a:lnTo>
                    <a:pt x="347472" y="1729752"/>
                  </a:lnTo>
                  <a:close/>
                </a:path>
                <a:path w="1138554" h="1987550">
                  <a:moveTo>
                    <a:pt x="1138047" y="24765"/>
                  </a:moveTo>
                  <a:lnTo>
                    <a:pt x="1118235" y="0"/>
                  </a:lnTo>
                  <a:lnTo>
                    <a:pt x="864895" y="202387"/>
                  </a:lnTo>
                  <a:lnTo>
                    <a:pt x="864997" y="121031"/>
                  </a:lnTo>
                  <a:lnTo>
                    <a:pt x="790575" y="282194"/>
                  </a:lnTo>
                  <a:lnTo>
                    <a:pt x="964057" y="245110"/>
                  </a:lnTo>
                  <a:lnTo>
                    <a:pt x="919530" y="235077"/>
                  </a:lnTo>
                  <a:lnTo>
                    <a:pt x="884618" y="227215"/>
                  </a:lnTo>
                  <a:lnTo>
                    <a:pt x="1138047" y="247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15751" y="4040504"/>
              <a:ext cx="347980" cy="1987550"/>
            </a:xfrm>
            <a:custGeom>
              <a:avLst/>
              <a:gdLst/>
              <a:ahLst/>
              <a:cxnLst/>
              <a:rect l="l" t="t" r="r" b="b"/>
              <a:pathLst>
                <a:path w="347979" h="1987550">
                  <a:moveTo>
                    <a:pt x="347472" y="1729752"/>
                  </a:moveTo>
                  <a:lnTo>
                    <a:pt x="327660" y="1704949"/>
                  </a:lnTo>
                  <a:lnTo>
                    <a:pt x="74320" y="1907387"/>
                  </a:lnTo>
                  <a:lnTo>
                    <a:pt x="74320" y="1927720"/>
                  </a:lnTo>
                  <a:lnTo>
                    <a:pt x="84201" y="1940115"/>
                  </a:lnTo>
                  <a:lnTo>
                    <a:pt x="74282" y="1927720"/>
                  </a:lnTo>
                  <a:lnTo>
                    <a:pt x="74320" y="1907387"/>
                  </a:lnTo>
                  <a:lnTo>
                    <a:pt x="74422" y="1826056"/>
                  </a:lnTo>
                  <a:lnTo>
                    <a:pt x="0" y="1987181"/>
                  </a:lnTo>
                  <a:lnTo>
                    <a:pt x="173482" y="1950072"/>
                  </a:lnTo>
                  <a:lnTo>
                    <a:pt x="129311" y="1940115"/>
                  </a:lnTo>
                  <a:lnTo>
                    <a:pt x="94119" y="1932190"/>
                  </a:lnTo>
                  <a:lnTo>
                    <a:pt x="347472" y="1729752"/>
                  </a:lnTo>
                  <a:close/>
                </a:path>
                <a:path w="347979" h="1987550">
                  <a:moveTo>
                    <a:pt x="347472" y="24765"/>
                  </a:moveTo>
                  <a:lnTo>
                    <a:pt x="327660" y="0"/>
                  </a:lnTo>
                  <a:lnTo>
                    <a:pt x="74320" y="202387"/>
                  </a:lnTo>
                  <a:lnTo>
                    <a:pt x="74422" y="121031"/>
                  </a:lnTo>
                  <a:lnTo>
                    <a:pt x="0" y="282194"/>
                  </a:lnTo>
                  <a:lnTo>
                    <a:pt x="173482" y="245110"/>
                  </a:lnTo>
                  <a:lnTo>
                    <a:pt x="128955" y="235077"/>
                  </a:lnTo>
                  <a:lnTo>
                    <a:pt x="94043" y="227215"/>
                  </a:lnTo>
                  <a:lnTo>
                    <a:pt x="347472" y="24765"/>
                  </a:lnTo>
                  <a:close/>
                </a:path>
              </a:pathLst>
            </a:custGeom>
            <a:solidFill>
              <a:srgbClr val="FF7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06840" y="2879661"/>
            <a:ext cx="6483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Microsoft YaHei"/>
                <a:cs typeface="Microsoft YaHei"/>
              </a:rPr>
              <a:t>11</a:t>
            </a:r>
            <a:r>
              <a:rPr sz="1200" spc="-25" dirty="0">
                <a:solidFill>
                  <a:srgbClr val="FF0000"/>
                </a:solidFill>
                <a:latin typeface="Microsoft YaHei"/>
                <a:cs typeface="Microsoft YaHei"/>
              </a:rPr>
              <a:t>月数据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26779" y="4671631"/>
            <a:ext cx="6483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Microsoft YaHei"/>
                <a:cs typeface="Microsoft YaHei"/>
              </a:rPr>
              <a:t>10</a:t>
            </a:r>
            <a:r>
              <a:rPr sz="1200" spc="-25" dirty="0">
                <a:solidFill>
                  <a:srgbClr val="FF0000"/>
                </a:solidFill>
                <a:latin typeface="Microsoft YaHei"/>
                <a:cs typeface="Microsoft YaHei"/>
              </a:rPr>
              <a:t>月数据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773301" y="3431285"/>
            <a:ext cx="4048125" cy="2901315"/>
            <a:chOff x="1773301" y="3431285"/>
            <a:chExt cx="4048125" cy="2901315"/>
          </a:xfrm>
        </p:grpSpPr>
        <p:sp>
          <p:nvSpPr>
            <p:cNvPr id="34" name="object 34"/>
            <p:cNvSpPr/>
            <p:nvPr/>
          </p:nvSpPr>
          <p:spPr>
            <a:xfrm>
              <a:off x="5048250" y="4391024"/>
              <a:ext cx="180975" cy="1743075"/>
            </a:xfrm>
            <a:custGeom>
              <a:avLst/>
              <a:gdLst/>
              <a:ahLst/>
              <a:cxnLst/>
              <a:rect l="l" t="t" r="r" b="b"/>
              <a:pathLst>
                <a:path w="180975" h="1743075">
                  <a:moveTo>
                    <a:pt x="0" y="0"/>
                  </a:moveTo>
                  <a:lnTo>
                    <a:pt x="0" y="1743075"/>
                  </a:lnTo>
                  <a:lnTo>
                    <a:pt x="180975" y="871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86001" y="5053075"/>
              <a:ext cx="1733550" cy="1266825"/>
            </a:xfrm>
            <a:custGeom>
              <a:avLst/>
              <a:gdLst/>
              <a:ahLst/>
              <a:cxnLst/>
              <a:rect l="l" t="t" r="r" b="b"/>
              <a:pathLst>
                <a:path w="1733550" h="1266825">
                  <a:moveTo>
                    <a:pt x="0" y="1266761"/>
                  </a:moveTo>
                  <a:lnTo>
                    <a:pt x="438150" y="1266761"/>
                  </a:lnTo>
                  <a:lnTo>
                    <a:pt x="438150" y="857186"/>
                  </a:lnTo>
                  <a:lnTo>
                    <a:pt x="0" y="857186"/>
                  </a:lnTo>
                  <a:lnTo>
                    <a:pt x="0" y="1266761"/>
                  </a:lnTo>
                  <a:close/>
                </a:path>
                <a:path w="1733550" h="1266825">
                  <a:moveTo>
                    <a:pt x="1295400" y="400050"/>
                  </a:moveTo>
                  <a:lnTo>
                    <a:pt x="1733550" y="400050"/>
                  </a:lnTo>
                  <a:lnTo>
                    <a:pt x="1733550" y="0"/>
                  </a:lnTo>
                  <a:lnTo>
                    <a:pt x="1295400" y="0"/>
                  </a:lnTo>
                  <a:lnTo>
                    <a:pt x="1295400" y="40005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53308" y="3431285"/>
              <a:ext cx="2468245" cy="1595120"/>
            </a:xfrm>
            <a:custGeom>
              <a:avLst/>
              <a:gdLst/>
              <a:ahLst/>
              <a:cxnLst/>
              <a:rect l="l" t="t" r="r" b="b"/>
              <a:pathLst>
                <a:path w="2468245" h="1595120">
                  <a:moveTo>
                    <a:pt x="2463673" y="2540"/>
                  </a:moveTo>
                  <a:lnTo>
                    <a:pt x="2286254" y="0"/>
                  </a:lnTo>
                  <a:lnTo>
                    <a:pt x="2359571" y="35090"/>
                  </a:lnTo>
                  <a:lnTo>
                    <a:pt x="711708" y="829945"/>
                  </a:lnTo>
                  <a:lnTo>
                    <a:pt x="725551" y="858520"/>
                  </a:lnTo>
                  <a:lnTo>
                    <a:pt x="2373274" y="63728"/>
                  </a:lnTo>
                  <a:lnTo>
                    <a:pt x="2377821" y="43815"/>
                  </a:lnTo>
                  <a:lnTo>
                    <a:pt x="2370963" y="29591"/>
                  </a:lnTo>
                  <a:lnTo>
                    <a:pt x="2377846" y="43815"/>
                  </a:lnTo>
                  <a:lnTo>
                    <a:pt x="2373274" y="63728"/>
                  </a:lnTo>
                  <a:lnTo>
                    <a:pt x="2355215" y="142875"/>
                  </a:lnTo>
                  <a:lnTo>
                    <a:pt x="2442756" y="29591"/>
                  </a:lnTo>
                  <a:lnTo>
                    <a:pt x="2463673" y="2540"/>
                  </a:lnTo>
                  <a:close/>
                </a:path>
                <a:path w="2468245" h="1595120">
                  <a:moveTo>
                    <a:pt x="2467991" y="1561465"/>
                  </a:moveTo>
                  <a:lnTo>
                    <a:pt x="2456396" y="1550924"/>
                  </a:lnTo>
                  <a:lnTo>
                    <a:pt x="2336673" y="1442085"/>
                  </a:lnTo>
                  <a:lnTo>
                    <a:pt x="2368321" y="1516875"/>
                  </a:lnTo>
                  <a:lnTo>
                    <a:pt x="2376271" y="1535684"/>
                  </a:lnTo>
                  <a:lnTo>
                    <a:pt x="2368321" y="1516875"/>
                  </a:lnTo>
                  <a:lnTo>
                    <a:pt x="8509" y="853948"/>
                  </a:lnTo>
                  <a:lnTo>
                    <a:pt x="0" y="884555"/>
                  </a:lnTo>
                  <a:lnTo>
                    <a:pt x="2359799" y="1547507"/>
                  </a:lnTo>
                  <a:lnTo>
                    <a:pt x="2293747" y="1594866"/>
                  </a:lnTo>
                  <a:lnTo>
                    <a:pt x="2467991" y="156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8658225" y="1971675"/>
            <a:ext cx="180975" cy="1743075"/>
          </a:xfrm>
          <a:custGeom>
            <a:avLst/>
            <a:gdLst/>
            <a:ahLst/>
            <a:cxnLst/>
            <a:rect l="l" t="t" r="r" b="b"/>
            <a:pathLst>
              <a:path w="180975" h="1743075">
                <a:moveTo>
                  <a:pt x="0" y="0"/>
                </a:moveTo>
                <a:lnTo>
                  <a:pt x="0" y="1743075"/>
                </a:lnTo>
                <a:lnTo>
                  <a:pt x="180975" y="871474"/>
                </a:lnTo>
                <a:lnTo>
                  <a:pt x="0" y="0"/>
                </a:lnTo>
                <a:close/>
              </a:path>
            </a:pathLst>
          </a:custGeom>
          <a:solidFill>
            <a:srgbClr val="FF78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88657" y="933767"/>
            <a:ext cx="108527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Microsoft YaHei"/>
                <a:cs typeface="Microsoft YaHei"/>
              </a:rPr>
              <a:t>从</a:t>
            </a:r>
            <a:r>
              <a:rPr sz="1550" b="1" spc="15" dirty="0">
                <a:latin typeface="Microsoft YaHei"/>
                <a:cs typeface="Microsoft YaHei"/>
              </a:rPr>
              <a:t>被动看数</a:t>
            </a:r>
            <a:r>
              <a:rPr sz="1550" spc="30" dirty="0">
                <a:latin typeface="Microsoft YaHei"/>
                <a:cs typeface="Microsoft YaHei"/>
              </a:rPr>
              <a:t>，到</a:t>
            </a: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【AI</a:t>
            </a: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驱动的主动问答】</a:t>
            </a:r>
            <a:r>
              <a:rPr sz="1550" spc="30" dirty="0">
                <a:latin typeface="Microsoft YaHei"/>
                <a:cs typeface="Microsoft YaHei"/>
              </a:rPr>
              <a:t>，从</a:t>
            </a:r>
            <a:r>
              <a:rPr sz="1550" b="1" spc="15" dirty="0">
                <a:latin typeface="Microsoft YaHei"/>
                <a:cs typeface="Microsoft YaHei"/>
              </a:rPr>
              <a:t>固定分析</a:t>
            </a:r>
            <a:r>
              <a:rPr sz="1550" dirty="0">
                <a:latin typeface="Microsoft YaHei"/>
                <a:cs typeface="Microsoft YaHei"/>
              </a:rPr>
              <a:t>到</a:t>
            </a: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【AI</a:t>
            </a: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驱动的自由洞察】</a:t>
            </a:r>
            <a:r>
              <a:rPr sz="1550" spc="30" dirty="0">
                <a:latin typeface="Microsoft YaHei"/>
                <a:cs typeface="Microsoft YaHei"/>
              </a:rPr>
              <a:t>，从</a:t>
            </a:r>
            <a:r>
              <a:rPr sz="1550" b="1" spc="15" dirty="0">
                <a:latin typeface="Microsoft YaHei"/>
                <a:cs typeface="Microsoft YaHei"/>
              </a:rPr>
              <a:t>自助拖拽</a:t>
            </a:r>
            <a:r>
              <a:rPr sz="1550" dirty="0">
                <a:latin typeface="Microsoft YaHei"/>
                <a:cs typeface="Microsoft YaHei"/>
              </a:rPr>
              <a:t>到</a:t>
            </a: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【AI</a:t>
            </a: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驱动的自然语言交互】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6813" y="766408"/>
            <a:ext cx="8382491" cy="58896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712" y="330898"/>
            <a:ext cx="34817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ChatBI产品功能全景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0" y="304800"/>
            <a:ext cx="161925" cy="447675"/>
          </a:xfrm>
          <a:custGeom>
            <a:avLst/>
            <a:gdLst/>
            <a:ahLst/>
            <a:cxnLst/>
            <a:rect l="l" t="t" r="r" b="b"/>
            <a:pathLst>
              <a:path w="161925" h="447675">
                <a:moveTo>
                  <a:pt x="161925" y="0"/>
                </a:moveTo>
                <a:lnTo>
                  <a:pt x="0" y="0"/>
                </a:lnTo>
                <a:lnTo>
                  <a:pt x="0" y="447675"/>
                </a:lnTo>
                <a:lnTo>
                  <a:pt x="161925" y="447675"/>
                </a:lnTo>
                <a:lnTo>
                  <a:pt x="161925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712" y="330898"/>
            <a:ext cx="34817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ChatBI产品优势概述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11525250" cy="5762625"/>
            <a:chOff x="0" y="304800"/>
            <a:chExt cx="11525250" cy="5762625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61925" cy="447675"/>
            </a:xfrm>
            <a:custGeom>
              <a:avLst/>
              <a:gdLst/>
              <a:ahLst/>
              <a:cxnLst/>
              <a:rect l="l" t="t" r="r" b="b"/>
              <a:pathLst>
                <a:path w="161925" h="447675">
                  <a:moveTo>
                    <a:pt x="1619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61925" y="4476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900" y="3943350"/>
              <a:ext cx="5181600" cy="2124075"/>
            </a:xfrm>
            <a:custGeom>
              <a:avLst/>
              <a:gdLst/>
              <a:ahLst/>
              <a:cxnLst/>
              <a:rect l="l" t="t" r="r" b="b"/>
              <a:pathLst>
                <a:path w="5181600" h="2124075">
                  <a:moveTo>
                    <a:pt x="5181600" y="0"/>
                  </a:moveTo>
                  <a:lnTo>
                    <a:pt x="0" y="0"/>
                  </a:lnTo>
                  <a:lnTo>
                    <a:pt x="0" y="1770049"/>
                  </a:lnTo>
                  <a:lnTo>
                    <a:pt x="3230" y="1818090"/>
                  </a:lnTo>
                  <a:lnTo>
                    <a:pt x="12639" y="1864165"/>
                  </a:lnTo>
                  <a:lnTo>
                    <a:pt x="27806" y="1907855"/>
                  </a:lnTo>
                  <a:lnTo>
                    <a:pt x="48309" y="1948735"/>
                  </a:lnTo>
                  <a:lnTo>
                    <a:pt x="73727" y="1986386"/>
                  </a:lnTo>
                  <a:lnTo>
                    <a:pt x="103638" y="2020385"/>
                  </a:lnTo>
                  <a:lnTo>
                    <a:pt x="137620" y="2050311"/>
                  </a:lnTo>
                  <a:lnTo>
                    <a:pt x="175252" y="2075741"/>
                  </a:lnTo>
                  <a:lnTo>
                    <a:pt x="216112" y="2096254"/>
                  </a:lnTo>
                  <a:lnTo>
                    <a:pt x="259779" y="2111429"/>
                  </a:lnTo>
                  <a:lnTo>
                    <a:pt x="305831" y="2120843"/>
                  </a:lnTo>
                  <a:lnTo>
                    <a:pt x="353847" y="2124075"/>
                  </a:lnTo>
                  <a:lnTo>
                    <a:pt x="5181600" y="2124075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A3B7F5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43650" y="3943350"/>
              <a:ext cx="5181600" cy="2124075"/>
            </a:xfrm>
            <a:custGeom>
              <a:avLst/>
              <a:gdLst/>
              <a:ahLst/>
              <a:cxnLst/>
              <a:rect l="l" t="t" r="r" b="b"/>
              <a:pathLst>
                <a:path w="5181600" h="2124075">
                  <a:moveTo>
                    <a:pt x="5181600" y="0"/>
                  </a:moveTo>
                  <a:lnTo>
                    <a:pt x="0" y="0"/>
                  </a:lnTo>
                  <a:lnTo>
                    <a:pt x="0" y="2124075"/>
                  </a:lnTo>
                  <a:lnTo>
                    <a:pt x="4827778" y="2124075"/>
                  </a:lnTo>
                  <a:lnTo>
                    <a:pt x="4875798" y="2120843"/>
                  </a:lnTo>
                  <a:lnTo>
                    <a:pt x="4921852" y="2111429"/>
                  </a:lnTo>
                  <a:lnTo>
                    <a:pt x="4965519" y="2096254"/>
                  </a:lnTo>
                  <a:lnTo>
                    <a:pt x="5006377" y="2075741"/>
                  </a:lnTo>
                  <a:lnTo>
                    <a:pt x="5044006" y="2050311"/>
                  </a:lnTo>
                  <a:lnTo>
                    <a:pt x="5077983" y="2020385"/>
                  </a:lnTo>
                  <a:lnTo>
                    <a:pt x="5107889" y="1986386"/>
                  </a:lnTo>
                  <a:lnTo>
                    <a:pt x="5133302" y="1948735"/>
                  </a:lnTo>
                  <a:lnTo>
                    <a:pt x="5153800" y="1907855"/>
                  </a:lnTo>
                  <a:lnTo>
                    <a:pt x="5168964" y="1864165"/>
                  </a:lnTo>
                  <a:lnTo>
                    <a:pt x="5178370" y="1818090"/>
                  </a:lnTo>
                  <a:lnTo>
                    <a:pt x="5181600" y="1770049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B6CEFC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900" y="1466850"/>
              <a:ext cx="5181600" cy="2124075"/>
            </a:xfrm>
            <a:custGeom>
              <a:avLst/>
              <a:gdLst/>
              <a:ahLst/>
              <a:cxnLst/>
              <a:rect l="l" t="t" r="r" b="b"/>
              <a:pathLst>
                <a:path w="5181600" h="2124075">
                  <a:moveTo>
                    <a:pt x="5181600" y="0"/>
                  </a:moveTo>
                  <a:lnTo>
                    <a:pt x="354025" y="0"/>
                  </a:lnTo>
                  <a:lnTo>
                    <a:pt x="305984" y="3231"/>
                  </a:lnTo>
                  <a:lnTo>
                    <a:pt x="259909" y="12645"/>
                  </a:lnTo>
                  <a:lnTo>
                    <a:pt x="216219" y="27820"/>
                  </a:lnTo>
                  <a:lnTo>
                    <a:pt x="175339" y="48335"/>
                  </a:lnTo>
                  <a:lnTo>
                    <a:pt x="137688" y="73767"/>
                  </a:lnTo>
                  <a:lnTo>
                    <a:pt x="103689" y="103695"/>
                  </a:lnTo>
                  <a:lnTo>
                    <a:pt x="73763" y="137698"/>
                  </a:lnTo>
                  <a:lnTo>
                    <a:pt x="48333" y="175354"/>
                  </a:lnTo>
                  <a:lnTo>
                    <a:pt x="27820" y="216241"/>
                  </a:lnTo>
                  <a:lnTo>
                    <a:pt x="12645" y="259938"/>
                  </a:lnTo>
                  <a:lnTo>
                    <a:pt x="3231" y="306023"/>
                  </a:lnTo>
                  <a:lnTo>
                    <a:pt x="0" y="354075"/>
                  </a:lnTo>
                  <a:lnTo>
                    <a:pt x="0" y="2124075"/>
                  </a:lnTo>
                  <a:lnTo>
                    <a:pt x="5181600" y="2124075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A3B7F5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3650" y="1466850"/>
              <a:ext cx="5181600" cy="2124075"/>
            </a:xfrm>
            <a:custGeom>
              <a:avLst/>
              <a:gdLst/>
              <a:ahLst/>
              <a:cxnLst/>
              <a:rect l="l" t="t" r="r" b="b"/>
              <a:pathLst>
                <a:path w="5181600" h="2124075">
                  <a:moveTo>
                    <a:pt x="4827524" y="0"/>
                  </a:moveTo>
                  <a:lnTo>
                    <a:pt x="0" y="0"/>
                  </a:lnTo>
                  <a:lnTo>
                    <a:pt x="0" y="2124075"/>
                  </a:lnTo>
                  <a:lnTo>
                    <a:pt x="5181600" y="2124075"/>
                  </a:lnTo>
                  <a:lnTo>
                    <a:pt x="5181600" y="354075"/>
                  </a:lnTo>
                  <a:lnTo>
                    <a:pt x="5178368" y="306023"/>
                  </a:lnTo>
                  <a:lnTo>
                    <a:pt x="5168954" y="259938"/>
                  </a:lnTo>
                  <a:lnTo>
                    <a:pt x="5153779" y="216241"/>
                  </a:lnTo>
                  <a:lnTo>
                    <a:pt x="5133264" y="175354"/>
                  </a:lnTo>
                  <a:lnTo>
                    <a:pt x="5107832" y="137698"/>
                  </a:lnTo>
                  <a:lnTo>
                    <a:pt x="5077904" y="103695"/>
                  </a:lnTo>
                  <a:lnTo>
                    <a:pt x="5043901" y="73767"/>
                  </a:lnTo>
                  <a:lnTo>
                    <a:pt x="5006245" y="48335"/>
                  </a:lnTo>
                  <a:lnTo>
                    <a:pt x="4965358" y="27820"/>
                  </a:lnTo>
                  <a:lnTo>
                    <a:pt x="4921661" y="12645"/>
                  </a:lnTo>
                  <a:lnTo>
                    <a:pt x="4875576" y="3231"/>
                  </a:lnTo>
                  <a:lnTo>
                    <a:pt x="4827524" y="0"/>
                  </a:lnTo>
                  <a:close/>
                </a:path>
              </a:pathLst>
            </a:custGeom>
            <a:solidFill>
              <a:srgbClr val="B6CEFC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10125" y="2447925"/>
              <a:ext cx="2638425" cy="2638425"/>
            </a:xfrm>
            <a:custGeom>
              <a:avLst/>
              <a:gdLst/>
              <a:ahLst/>
              <a:cxnLst/>
              <a:rect l="l" t="t" r="r" b="b"/>
              <a:pathLst>
                <a:path w="2638425" h="2638425">
                  <a:moveTo>
                    <a:pt x="1926081" y="0"/>
                  </a:moveTo>
                  <a:lnTo>
                    <a:pt x="712342" y="0"/>
                  </a:lnTo>
                  <a:lnTo>
                    <a:pt x="663568" y="1643"/>
                  </a:lnTo>
                  <a:lnTo>
                    <a:pt x="615676" y="6502"/>
                  </a:lnTo>
                  <a:lnTo>
                    <a:pt x="568772" y="14471"/>
                  </a:lnTo>
                  <a:lnTo>
                    <a:pt x="522963" y="25443"/>
                  </a:lnTo>
                  <a:lnTo>
                    <a:pt x="478355" y="39313"/>
                  </a:lnTo>
                  <a:lnTo>
                    <a:pt x="435054" y="55975"/>
                  </a:lnTo>
                  <a:lnTo>
                    <a:pt x="393166" y="75322"/>
                  </a:lnTo>
                  <a:lnTo>
                    <a:pt x="352796" y="97249"/>
                  </a:lnTo>
                  <a:lnTo>
                    <a:pt x="314052" y="121649"/>
                  </a:lnTo>
                  <a:lnTo>
                    <a:pt x="277038" y="148416"/>
                  </a:lnTo>
                  <a:lnTo>
                    <a:pt x="241862" y="177445"/>
                  </a:lnTo>
                  <a:lnTo>
                    <a:pt x="208629" y="208629"/>
                  </a:lnTo>
                  <a:lnTo>
                    <a:pt x="177445" y="241862"/>
                  </a:lnTo>
                  <a:lnTo>
                    <a:pt x="148416" y="277038"/>
                  </a:lnTo>
                  <a:lnTo>
                    <a:pt x="121649" y="314052"/>
                  </a:lnTo>
                  <a:lnTo>
                    <a:pt x="97249" y="352796"/>
                  </a:lnTo>
                  <a:lnTo>
                    <a:pt x="75322" y="393166"/>
                  </a:lnTo>
                  <a:lnTo>
                    <a:pt x="55975" y="435054"/>
                  </a:lnTo>
                  <a:lnTo>
                    <a:pt x="39313" y="478355"/>
                  </a:lnTo>
                  <a:lnTo>
                    <a:pt x="25443" y="522963"/>
                  </a:lnTo>
                  <a:lnTo>
                    <a:pt x="14471" y="568772"/>
                  </a:lnTo>
                  <a:lnTo>
                    <a:pt x="6502" y="615676"/>
                  </a:lnTo>
                  <a:lnTo>
                    <a:pt x="1643" y="663568"/>
                  </a:lnTo>
                  <a:lnTo>
                    <a:pt x="0" y="712342"/>
                  </a:lnTo>
                  <a:lnTo>
                    <a:pt x="0" y="1926082"/>
                  </a:lnTo>
                  <a:lnTo>
                    <a:pt x="1643" y="1974856"/>
                  </a:lnTo>
                  <a:lnTo>
                    <a:pt x="6502" y="2022748"/>
                  </a:lnTo>
                  <a:lnTo>
                    <a:pt x="14471" y="2069652"/>
                  </a:lnTo>
                  <a:lnTo>
                    <a:pt x="25443" y="2115461"/>
                  </a:lnTo>
                  <a:lnTo>
                    <a:pt x="39313" y="2160069"/>
                  </a:lnTo>
                  <a:lnTo>
                    <a:pt x="55975" y="2203370"/>
                  </a:lnTo>
                  <a:lnTo>
                    <a:pt x="75322" y="2245258"/>
                  </a:lnTo>
                  <a:lnTo>
                    <a:pt x="97249" y="2285628"/>
                  </a:lnTo>
                  <a:lnTo>
                    <a:pt x="121649" y="2324372"/>
                  </a:lnTo>
                  <a:lnTo>
                    <a:pt x="148416" y="2361386"/>
                  </a:lnTo>
                  <a:lnTo>
                    <a:pt x="177445" y="2396562"/>
                  </a:lnTo>
                  <a:lnTo>
                    <a:pt x="208629" y="2429795"/>
                  </a:lnTo>
                  <a:lnTo>
                    <a:pt x="241862" y="2460979"/>
                  </a:lnTo>
                  <a:lnTo>
                    <a:pt x="277038" y="2490008"/>
                  </a:lnTo>
                  <a:lnTo>
                    <a:pt x="314052" y="2516775"/>
                  </a:lnTo>
                  <a:lnTo>
                    <a:pt x="352796" y="2541175"/>
                  </a:lnTo>
                  <a:lnTo>
                    <a:pt x="393166" y="2563102"/>
                  </a:lnTo>
                  <a:lnTo>
                    <a:pt x="435054" y="2582449"/>
                  </a:lnTo>
                  <a:lnTo>
                    <a:pt x="478355" y="2599111"/>
                  </a:lnTo>
                  <a:lnTo>
                    <a:pt x="522963" y="2612981"/>
                  </a:lnTo>
                  <a:lnTo>
                    <a:pt x="568772" y="2623953"/>
                  </a:lnTo>
                  <a:lnTo>
                    <a:pt x="615676" y="2631922"/>
                  </a:lnTo>
                  <a:lnTo>
                    <a:pt x="663568" y="2636781"/>
                  </a:lnTo>
                  <a:lnTo>
                    <a:pt x="712342" y="2638425"/>
                  </a:lnTo>
                  <a:lnTo>
                    <a:pt x="1926081" y="2638425"/>
                  </a:lnTo>
                  <a:lnTo>
                    <a:pt x="1974856" y="2636781"/>
                  </a:lnTo>
                  <a:lnTo>
                    <a:pt x="2022748" y="2631922"/>
                  </a:lnTo>
                  <a:lnTo>
                    <a:pt x="2069652" y="2623953"/>
                  </a:lnTo>
                  <a:lnTo>
                    <a:pt x="2115461" y="2612981"/>
                  </a:lnTo>
                  <a:lnTo>
                    <a:pt x="2160069" y="2599111"/>
                  </a:lnTo>
                  <a:lnTo>
                    <a:pt x="2203370" y="2582449"/>
                  </a:lnTo>
                  <a:lnTo>
                    <a:pt x="2245258" y="2563102"/>
                  </a:lnTo>
                  <a:lnTo>
                    <a:pt x="2285628" y="2541175"/>
                  </a:lnTo>
                  <a:lnTo>
                    <a:pt x="2324372" y="2516775"/>
                  </a:lnTo>
                  <a:lnTo>
                    <a:pt x="2361386" y="2490008"/>
                  </a:lnTo>
                  <a:lnTo>
                    <a:pt x="2396562" y="2460979"/>
                  </a:lnTo>
                  <a:lnTo>
                    <a:pt x="2429795" y="2429795"/>
                  </a:lnTo>
                  <a:lnTo>
                    <a:pt x="2460979" y="2396562"/>
                  </a:lnTo>
                  <a:lnTo>
                    <a:pt x="2490008" y="2361386"/>
                  </a:lnTo>
                  <a:lnTo>
                    <a:pt x="2516775" y="2324372"/>
                  </a:lnTo>
                  <a:lnTo>
                    <a:pt x="2541175" y="2285628"/>
                  </a:lnTo>
                  <a:lnTo>
                    <a:pt x="2563102" y="2245258"/>
                  </a:lnTo>
                  <a:lnTo>
                    <a:pt x="2582449" y="2203370"/>
                  </a:lnTo>
                  <a:lnTo>
                    <a:pt x="2599111" y="2160069"/>
                  </a:lnTo>
                  <a:lnTo>
                    <a:pt x="2612981" y="2115461"/>
                  </a:lnTo>
                  <a:lnTo>
                    <a:pt x="2623953" y="2069652"/>
                  </a:lnTo>
                  <a:lnTo>
                    <a:pt x="2631922" y="2022748"/>
                  </a:lnTo>
                  <a:lnTo>
                    <a:pt x="2636781" y="1974856"/>
                  </a:lnTo>
                  <a:lnTo>
                    <a:pt x="2638425" y="1926082"/>
                  </a:lnTo>
                  <a:lnTo>
                    <a:pt x="2638425" y="712342"/>
                  </a:lnTo>
                  <a:lnTo>
                    <a:pt x="2636781" y="663568"/>
                  </a:lnTo>
                  <a:lnTo>
                    <a:pt x="2631922" y="615676"/>
                  </a:lnTo>
                  <a:lnTo>
                    <a:pt x="2623953" y="568772"/>
                  </a:lnTo>
                  <a:lnTo>
                    <a:pt x="2612981" y="522963"/>
                  </a:lnTo>
                  <a:lnTo>
                    <a:pt x="2599111" y="478355"/>
                  </a:lnTo>
                  <a:lnTo>
                    <a:pt x="2582449" y="435054"/>
                  </a:lnTo>
                  <a:lnTo>
                    <a:pt x="2563102" y="393166"/>
                  </a:lnTo>
                  <a:lnTo>
                    <a:pt x="2541175" y="352796"/>
                  </a:lnTo>
                  <a:lnTo>
                    <a:pt x="2516775" y="314052"/>
                  </a:lnTo>
                  <a:lnTo>
                    <a:pt x="2490008" y="277038"/>
                  </a:lnTo>
                  <a:lnTo>
                    <a:pt x="2460979" y="241862"/>
                  </a:lnTo>
                  <a:lnTo>
                    <a:pt x="2429795" y="208629"/>
                  </a:lnTo>
                  <a:lnTo>
                    <a:pt x="2396562" y="177445"/>
                  </a:lnTo>
                  <a:lnTo>
                    <a:pt x="2361386" y="148416"/>
                  </a:lnTo>
                  <a:lnTo>
                    <a:pt x="2324372" y="121649"/>
                  </a:lnTo>
                  <a:lnTo>
                    <a:pt x="2285628" y="97249"/>
                  </a:lnTo>
                  <a:lnTo>
                    <a:pt x="2245258" y="75322"/>
                  </a:lnTo>
                  <a:lnTo>
                    <a:pt x="2203370" y="55975"/>
                  </a:lnTo>
                  <a:lnTo>
                    <a:pt x="2160069" y="39313"/>
                  </a:lnTo>
                  <a:lnTo>
                    <a:pt x="2115461" y="25443"/>
                  </a:lnTo>
                  <a:lnTo>
                    <a:pt x="2069652" y="14471"/>
                  </a:lnTo>
                  <a:lnTo>
                    <a:pt x="2022748" y="6502"/>
                  </a:lnTo>
                  <a:lnTo>
                    <a:pt x="1974856" y="1643"/>
                  </a:lnTo>
                  <a:lnTo>
                    <a:pt x="1926081" y="0"/>
                  </a:lnTo>
                  <a:close/>
                </a:path>
              </a:pathLst>
            </a:custGeom>
            <a:solidFill>
              <a:srgbClr val="1C4AE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5775" y="2143061"/>
              <a:ext cx="3662426" cy="36624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0150" y="3705161"/>
              <a:ext cx="2224151" cy="11287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91475" y="2138426"/>
              <a:ext cx="3275965" cy="3267075"/>
            </a:xfrm>
            <a:custGeom>
              <a:avLst/>
              <a:gdLst/>
              <a:ahLst/>
              <a:cxnLst/>
              <a:rect l="l" t="t" r="r" b="b"/>
              <a:pathLst>
                <a:path w="3275965" h="3267075">
                  <a:moveTo>
                    <a:pt x="1637925" y="0"/>
                  </a:moveTo>
                  <a:lnTo>
                    <a:pt x="1590912" y="1787"/>
                  </a:lnTo>
                  <a:lnTo>
                    <a:pt x="1544128" y="7148"/>
                  </a:lnTo>
                  <a:lnTo>
                    <a:pt x="1497796" y="16085"/>
                  </a:lnTo>
                  <a:lnTo>
                    <a:pt x="1452137" y="28598"/>
                  </a:lnTo>
                  <a:lnTo>
                    <a:pt x="1407372" y="44688"/>
                  </a:lnTo>
                  <a:lnTo>
                    <a:pt x="1363723" y="64355"/>
                  </a:lnTo>
                  <a:lnTo>
                    <a:pt x="1321413" y="87601"/>
                  </a:lnTo>
                  <a:lnTo>
                    <a:pt x="1280662" y="114425"/>
                  </a:lnTo>
                  <a:lnTo>
                    <a:pt x="1241693" y="144830"/>
                  </a:lnTo>
                  <a:lnTo>
                    <a:pt x="1204728" y="178815"/>
                  </a:lnTo>
                  <a:lnTo>
                    <a:pt x="178949" y="1201547"/>
                  </a:lnTo>
                  <a:lnTo>
                    <a:pt x="146412" y="1236596"/>
                  </a:lnTo>
                  <a:lnTo>
                    <a:pt x="117130" y="1273471"/>
                  </a:lnTo>
                  <a:lnTo>
                    <a:pt x="91101" y="1311980"/>
                  </a:lnTo>
                  <a:lnTo>
                    <a:pt x="68325" y="1351931"/>
                  </a:lnTo>
                  <a:lnTo>
                    <a:pt x="48804" y="1393131"/>
                  </a:lnTo>
                  <a:lnTo>
                    <a:pt x="32536" y="1435388"/>
                  </a:lnTo>
                  <a:lnTo>
                    <a:pt x="19521" y="1478510"/>
                  </a:lnTo>
                  <a:lnTo>
                    <a:pt x="9760" y="1522305"/>
                  </a:lnTo>
                  <a:lnTo>
                    <a:pt x="3253" y="1566580"/>
                  </a:lnTo>
                  <a:lnTo>
                    <a:pt x="0" y="1611144"/>
                  </a:lnTo>
                  <a:lnTo>
                    <a:pt x="0" y="1655803"/>
                  </a:lnTo>
                  <a:lnTo>
                    <a:pt x="3253" y="1700367"/>
                  </a:lnTo>
                  <a:lnTo>
                    <a:pt x="9760" y="1744642"/>
                  </a:lnTo>
                  <a:lnTo>
                    <a:pt x="19521" y="1788437"/>
                  </a:lnTo>
                  <a:lnTo>
                    <a:pt x="32536" y="1831559"/>
                  </a:lnTo>
                  <a:lnTo>
                    <a:pt x="48804" y="1873816"/>
                  </a:lnTo>
                  <a:lnTo>
                    <a:pt x="68325" y="1915016"/>
                  </a:lnTo>
                  <a:lnTo>
                    <a:pt x="91101" y="1954967"/>
                  </a:lnTo>
                  <a:lnTo>
                    <a:pt x="117130" y="1993476"/>
                  </a:lnTo>
                  <a:lnTo>
                    <a:pt x="146412" y="2030351"/>
                  </a:lnTo>
                  <a:lnTo>
                    <a:pt x="178949" y="2065401"/>
                  </a:lnTo>
                  <a:lnTo>
                    <a:pt x="1204728" y="3088132"/>
                  </a:lnTo>
                  <a:lnTo>
                    <a:pt x="1239887" y="3120581"/>
                  </a:lnTo>
                  <a:lnTo>
                    <a:pt x="1276873" y="3149786"/>
                  </a:lnTo>
                  <a:lnTo>
                    <a:pt x="1315495" y="3175746"/>
                  </a:lnTo>
                  <a:lnTo>
                    <a:pt x="1355559" y="3198461"/>
                  </a:lnTo>
                  <a:lnTo>
                    <a:pt x="1396874" y="3217931"/>
                  </a:lnTo>
                  <a:lnTo>
                    <a:pt x="1439247" y="3234156"/>
                  </a:lnTo>
                  <a:lnTo>
                    <a:pt x="1482486" y="3247136"/>
                  </a:lnTo>
                  <a:lnTo>
                    <a:pt x="1526398" y="3256870"/>
                  </a:lnTo>
                  <a:lnTo>
                    <a:pt x="1570791" y="3263360"/>
                  </a:lnTo>
                  <a:lnTo>
                    <a:pt x="1615472" y="3266605"/>
                  </a:lnTo>
                  <a:lnTo>
                    <a:pt x="1660250" y="3266605"/>
                  </a:lnTo>
                  <a:lnTo>
                    <a:pt x="1704931" y="3263360"/>
                  </a:lnTo>
                  <a:lnTo>
                    <a:pt x="1749324" y="3256870"/>
                  </a:lnTo>
                  <a:lnTo>
                    <a:pt x="1793236" y="3247136"/>
                  </a:lnTo>
                  <a:lnTo>
                    <a:pt x="1836475" y="3234156"/>
                  </a:lnTo>
                  <a:lnTo>
                    <a:pt x="1878848" y="3217931"/>
                  </a:lnTo>
                  <a:lnTo>
                    <a:pt x="1920163" y="3198461"/>
                  </a:lnTo>
                  <a:lnTo>
                    <a:pt x="1960227" y="3175746"/>
                  </a:lnTo>
                  <a:lnTo>
                    <a:pt x="1998849" y="3149786"/>
                  </a:lnTo>
                  <a:lnTo>
                    <a:pt x="2035836" y="3120581"/>
                  </a:lnTo>
                  <a:lnTo>
                    <a:pt x="2070995" y="3088132"/>
                  </a:lnTo>
                  <a:lnTo>
                    <a:pt x="3096774" y="2065401"/>
                  </a:lnTo>
                  <a:lnTo>
                    <a:pt x="3129310" y="2030351"/>
                  </a:lnTo>
                  <a:lnTo>
                    <a:pt x="3158592" y="1993476"/>
                  </a:lnTo>
                  <a:lnTo>
                    <a:pt x="3184621" y="1954967"/>
                  </a:lnTo>
                  <a:lnTo>
                    <a:pt x="3207397" y="1915016"/>
                  </a:lnTo>
                  <a:lnTo>
                    <a:pt x="3226918" y="1873816"/>
                  </a:lnTo>
                  <a:lnTo>
                    <a:pt x="3243186" y="1831559"/>
                  </a:lnTo>
                  <a:lnTo>
                    <a:pt x="3256201" y="1788437"/>
                  </a:lnTo>
                  <a:lnTo>
                    <a:pt x="3265962" y="1744642"/>
                  </a:lnTo>
                  <a:lnTo>
                    <a:pt x="3272469" y="1700367"/>
                  </a:lnTo>
                  <a:lnTo>
                    <a:pt x="3275723" y="1655803"/>
                  </a:lnTo>
                  <a:lnTo>
                    <a:pt x="3275723" y="1611144"/>
                  </a:lnTo>
                  <a:lnTo>
                    <a:pt x="3272469" y="1566580"/>
                  </a:lnTo>
                  <a:lnTo>
                    <a:pt x="3265962" y="1522305"/>
                  </a:lnTo>
                  <a:lnTo>
                    <a:pt x="3256201" y="1478510"/>
                  </a:lnTo>
                  <a:lnTo>
                    <a:pt x="3243186" y="1435388"/>
                  </a:lnTo>
                  <a:lnTo>
                    <a:pt x="3226918" y="1393131"/>
                  </a:lnTo>
                  <a:lnTo>
                    <a:pt x="3207397" y="1351931"/>
                  </a:lnTo>
                  <a:lnTo>
                    <a:pt x="3184621" y="1311980"/>
                  </a:lnTo>
                  <a:lnTo>
                    <a:pt x="3158592" y="1273471"/>
                  </a:lnTo>
                  <a:lnTo>
                    <a:pt x="3129310" y="1236596"/>
                  </a:lnTo>
                  <a:lnTo>
                    <a:pt x="3096774" y="1201547"/>
                  </a:lnTo>
                  <a:lnTo>
                    <a:pt x="2070995" y="178815"/>
                  </a:lnTo>
                  <a:lnTo>
                    <a:pt x="2034029" y="144830"/>
                  </a:lnTo>
                  <a:lnTo>
                    <a:pt x="1995061" y="114425"/>
                  </a:lnTo>
                  <a:lnTo>
                    <a:pt x="1954313" y="87601"/>
                  </a:lnTo>
                  <a:lnTo>
                    <a:pt x="1912007" y="64355"/>
                  </a:lnTo>
                  <a:lnTo>
                    <a:pt x="1868366" y="44688"/>
                  </a:lnTo>
                  <a:lnTo>
                    <a:pt x="1823613" y="28598"/>
                  </a:lnTo>
                  <a:lnTo>
                    <a:pt x="1777969" y="16085"/>
                  </a:lnTo>
                  <a:lnTo>
                    <a:pt x="1731659" y="7148"/>
                  </a:lnTo>
                  <a:lnTo>
                    <a:pt x="1684903" y="1787"/>
                  </a:lnTo>
                  <a:lnTo>
                    <a:pt x="1637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1475" y="2138426"/>
              <a:ext cx="3275965" cy="3267075"/>
            </a:xfrm>
            <a:custGeom>
              <a:avLst/>
              <a:gdLst/>
              <a:ahLst/>
              <a:cxnLst/>
              <a:rect l="l" t="t" r="r" b="b"/>
              <a:pathLst>
                <a:path w="3275965" h="3267075">
                  <a:moveTo>
                    <a:pt x="1637925" y="0"/>
                  </a:moveTo>
                  <a:lnTo>
                    <a:pt x="1684903" y="1787"/>
                  </a:lnTo>
                  <a:lnTo>
                    <a:pt x="1731659" y="7148"/>
                  </a:lnTo>
                  <a:lnTo>
                    <a:pt x="1777969" y="16085"/>
                  </a:lnTo>
                  <a:lnTo>
                    <a:pt x="1823613" y="28598"/>
                  </a:lnTo>
                  <a:lnTo>
                    <a:pt x="1868366" y="44688"/>
                  </a:lnTo>
                  <a:lnTo>
                    <a:pt x="1912007" y="64355"/>
                  </a:lnTo>
                  <a:lnTo>
                    <a:pt x="1954313" y="87601"/>
                  </a:lnTo>
                  <a:lnTo>
                    <a:pt x="1995061" y="114425"/>
                  </a:lnTo>
                  <a:lnTo>
                    <a:pt x="2034029" y="144830"/>
                  </a:lnTo>
                  <a:lnTo>
                    <a:pt x="2070995" y="178815"/>
                  </a:lnTo>
                  <a:lnTo>
                    <a:pt x="3096774" y="1201547"/>
                  </a:lnTo>
                  <a:lnTo>
                    <a:pt x="3129310" y="1236596"/>
                  </a:lnTo>
                  <a:lnTo>
                    <a:pt x="3158592" y="1273471"/>
                  </a:lnTo>
                  <a:lnTo>
                    <a:pt x="3184621" y="1311980"/>
                  </a:lnTo>
                  <a:lnTo>
                    <a:pt x="3207397" y="1351931"/>
                  </a:lnTo>
                  <a:lnTo>
                    <a:pt x="3226918" y="1393131"/>
                  </a:lnTo>
                  <a:lnTo>
                    <a:pt x="3243186" y="1435388"/>
                  </a:lnTo>
                  <a:lnTo>
                    <a:pt x="3256201" y="1478510"/>
                  </a:lnTo>
                  <a:lnTo>
                    <a:pt x="3265962" y="1522305"/>
                  </a:lnTo>
                  <a:lnTo>
                    <a:pt x="3272469" y="1566580"/>
                  </a:lnTo>
                  <a:lnTo>
                    <a:pt x="3275723" y="1611144"/>
                  </a:lnTo>
                  <a:lnTo>
                    <a:pt x="3275723" y="1655803"/>
                  </a:lnTo>
                  <a:lnTo>
                    <a:pt x="3272469" y="1700367"/>
                  </a:lnTo>
                  <a:lnTo>
                    <a:pt x="3265962" y="1744642"/>
                  </a:lnTo>
                  <a:lnTo>
                    <a:pt x="3256201" y="1788437"/>
                  </a:lnTo>
                  <a:lnTo>
                    <a:pt x="3243186" y="1831559"/>
                  </a:lnTo>
                  <a:lnTo>
                    <a:pt x="3226918" y="1873816"/>
                  </a:lnTo>
                  <a:lnTo>
                    <a:pt x="3207397" y="1915016"/>
                  </a:lnTo>
                  <a:lnTo>
                    <a:pt x="3184621" y="1954967"/>
                  </a:lnTo>
                  <a:lnTo>
                    <a:pt x="3158592" y="1993476"/>
                  </a:lnTo>
                  <a:lnTo>
                    <a:pt x="3129310" y="2030351"/>
                  </a:lnTo>
                  <a:lnTo>
                    <a:pt x="3096774" y="2065401"/>
                  </a:lnTo>
                  <a:lnTo>
                    <a:pt x="2070995" y="3088132"/>
                  </a:lnTo>
                  <a:lnTo>
                    <a:pt x="2035836" y="3120581"/>
                  </a:lnTo>
                  <a:lnTo>
                    <a:pt x="1998849" y="3149786"/>
                  </a:lnTo>
                  <a:lnTo>
                    <a:pt x="1960227" y="3175746"/>
                  </a:lnTo>
                  <a:lnTo>
                    <a:pt x="1920163" y="3198461"/>
                  </a:lnTo>
                  <a:lnTo>
                    <a:pt x="1878848" y="3217931"/>
                  </a:lnTo>
                  <a:lnTo>
                    <a:pt x="1836475" y="3234156"/>
                  </a:lnTo>
                  <a:lnTo>
                    <a:pt x="1793236" y="3247136"/>
                  </a:lnTo>
                  <a:lnTo>
                    <a:pt x="1749324" y="3256870"/>
                  </a:lnTo>
                  <a:lnTo>
                    <a:pt x="1704931" y="3263360"/>
                  </a:lnTo>
                  <a:lnTo>
                    <a:pt x="1660250" y="3266605"/>
                  </a:lnTo>
                  <a:lnTo>
                    <a:pt x="1615472" y="3266605"/>
                  </a:lnTo>
                  <a:lnTo>
                    <a:pt x="1570791" y="3263360"/>
                  </a:lnTo>
                  <a:lnTo>
                    <a:pt x="1526398" y="3256870"/>
                  </a:lnTo>
                  <a:lnTo>
                    <a:pt x="1482486" y="3247136"/>
                  </a:lnTo>
                  <a:lnTo>
                    <a:pt x="1439247" y="3234156"/>
                  </a:lnTo>
                  <a:lnTo>
                    <a:pt x="1396874" y="3217931"/>
                  </a:lnTo>
                  <a:lnTo>
                    <a:pt x="1355559" y="3198461"/>
                  </a:lnTo>
                  <a:lnTo>
                    <a:pt x="1315495" y="3175746"/>
                  </a:lnTo>
                  <a:lnTo>
                    <a:pt x="1276873" y="3149786"/>
                  </a:lnTo>
                  <a:lnTo>
                    <a:pt x="1239887" y="3120581"/>
                  </a:lnTo>
                  <a:lnTo>
                    <a:pt x="1204728" y="3088132"/>
                  </a:lnTo>
                  <a:lnTo>
                    <a:pt x="178949" y="2065401"/>
                  </a:lnTo>
                  <a:lnTo>
                    <a:pt x="146412" y="2030351"/>
                  </a:lnTo>
                  <a:lnTo>
                    <a:pt x="117130" y="1993476"/>
                  </a:lnTo>
                  <a:lnTo>
                    <a:pt x="91101" y="1954967"/>
                  </a:lnTo>
                  <a:lnTo>
                    <a:pt x="68325" y="1915016"/>
                  </a:lnTo>
                  <a:lnTo>
                    <a:pt x="48804" y="1873816"/>
                  </a:lnTo>
                  <a:lnTo>
                    <a:pt x="32536" y="1831559"/>
                  </a:lnTo>
                  <a:lnTo>
                    <a:pt x="19521" y="1788437"/>
                  </a:lnTo>
                  <a:lnTo>
                    <a:pt x="9760" y="1744642"/>
                  </a:lnTo>
                  <a:lnTo>
                    <a:pt x="3253" y="1700367"/>
                  </a:lnTo>
                  <a:lnTo>
                    <a:pt x="0" y="1655803"/>
                  </a:lnTo>
                  <a:lnTo>
                    <a:pt x="0" y="1611144"/>
                  </a:lnTo>
                  <a:lnTo>
                    <a:pt x="3253" y="1566580"/>
                  </a:lnTo>
                  <a:lnTo>
                    <a:pt x="9760" y="1522305"/>
                  </a:lnTo>
                  <a:lnTo>
                    <a:pt x="19521" y="1478510"/>
                  </a:lnTo>
                  <a:lnTo>
                    <a:pt x="32536" y="1435388"/>
                  </a:lnTo>
                  <a:lnTo>
                    <a:pt x="48804" y="1393131"/>
                  </a:lnTo>
                  <a:lnTo>
                    <a:pt x="68325" y="1351931"/>
                  </a:lnTo>
                  <a:lnTo>
                    <a:pt x="91101" y="1311980"/>
                  </a:lnTo>
                  <a:lnTo>
                    <a:pt x="117130" y="1273471"/>
                  </a:lnTo>
                  <a:lnTo>
                    <a:pt x="146412" y="1236596"/>
                  </a:lnTo>
                  <a:lnTo>
                    <a:pt x="178949" y="1201547"/>
                  </a:lnTo>
                  <a:lnTo>
                    <a:pt x="1204728" y="178815"/>
                  </a:lnTo>
                  <a:lnTo>
                    <a:pt x="1241693" y="144830"/>
                  </a:lnTo>
                  <a:lnTo>
                    <a:pt x="1280662" y="114425"/>
                  </a:lnTo>
                  <a:lnTo>
                    <a:pt x="1321413" y="87601"/>
                  </a:lnTo>
                  <a:lnTo>
                    <a:pt x="1363723" y="64355"/>
                  </a:lnTo>
                  <a:lnTo>
                    <a:pt x="1407372" y="44688"/>
                  </a:lnTo>
                  <a:lnTo>
                    <a:pt x="1452137" y="28598"/>
                  </a:lnTo>
                  <a:lnTo>
                    <a:pt x="1497796" y="16085"/>
                  </a:lnTo>
                  <a:lnTo>
                    <a:pt x="1544128" y="7148"/>
                  </a:lnTo>
                  <a:lnTo>
                    <a:pt x="1590912" y="1787"/>
                  </a:lnTo>
                  <a:lnTo>
                    <a:pt x="1637925" y="0"/>
                  </a:lnTo>
                  <a:close/>
                </a:path>
              </a:pathLst>
            </a:custGeom>
            <a:ln w="12700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05501" y="3781679"/>
            <a:ext cx="144653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四大优势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27045" y="1886013"/>
            <a:ext cx="1168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Microsoft YaHei"/>
                <a:cs typeface="Microsoft YaHei"/>
              </a:rPr>
              <a:t>问答可理解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0100" y="2340733"/>
            <a:ext cx="2165985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77800" algn="r">
              <a:lnSpc>
                <a:spcPct val="149700"/>
              </a:lnSpc>
              <a:spcBef>
                <a:spcPts val="130"/>
              </a:spcBef>
            </a:pPr>
            <a:r>
              <a:rPr sz="1400" spc="-45" dirty="0">
                <a:solidFill>
                  <a:srgbClr val="252525"/>
                </a:solidFill>
                <a:latin typeface="Microsoft YaHei"/>
                <a:cs typeface="Microsoft YaHei"/>
              </a:rPr>
              <a:t>结合用户语义和业务实际感知数据关系和分析思路</a:t>
            </a:r>
            <a:r>
              <a:rPr sz="1400" spc="500" dirty="0">
                <a:solidFill>
                  <a:srgbClr val="252525"/>
                </a:solidFill>
                <a:latin typeface="Microsoft YaHei"/>
                <a:cs typeface="Microsoft YaHei"/>
              </a:rPr>
              <a:t> </a:t>
            </a: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自然语言交互提升用户体验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8241" y="4351591"/>
            <a:ext cx="2343785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Microsoft YaHei"/>
                <a:cs typeface="Microsoft YaHei"/>
              </a:rPr>
              <a:t>分析可深入</a:t>
            </a:r>
            <a:endParaRPr sz="1800">
              <a:latin typeface="Microsoft YaHei"/>
              <a:cs typeface="Microsoft YaHei"/>
            </a:endParaRPr>
          </a:p>
          <a:p>
            <a:pPr marL="12700" marR="5080" algn="just">
              <a:lnSpc>
                <a:spcPct val="149700"/>
              </a:lnSpc>
              <a:spcBef>
                <a:spcPts val="200"/>
              </a:spcBef>
            </a:pPr>
            <a:r>
              <a:rPr sz="1400" spc="-45" dirty="0">
                <a:solidFill>
                  <a:srgbClr val="252525"/>
                </a:solidFill>
                <a:latin typeface="Microsoft YaHei"/>
                <a:cs typeface="Microsoft YaHei"/>
              </a:rPr>
              <a:t>自由的图表切换、多源多表多</a:t>
            </a: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维度分析，支持下钻上卷、联动过滤、智能归因、业务洞察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2993" y="1798256"/>
            <a:ext cx="1168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Microsoft YaHei"/>
                <a:cs typeface="Microsoft YaHei"/>
              </a:rPr>
              <a:t>数据可验证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52993" y="2340733"/>
            <a:ext cx="3054985" cy="988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49700"/>
              </a:lnSpc>
              <a:spcBef>
                <a:spcPts val="130"/>
              </a:spcBef>
            </a:pP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数据结果口径、数据来源、过滤和筛选条件可随时查看；可视化业务和数据建</a:t>
            </a:r>
            <a:r>
              <a:rPr sz="1400" spc="-45" dirty="0">
                <a:solidFill>
                  <a:srgbClr val="252525"/>
                </a:solidFill>
                <a:latin typeface="Microsoft YaHei"/>
                <a:cs typeface="Microsoft YaHei"/>
              </a:rPr>
              <a:t>模，可追溯数据可信度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52993" y="4323016"/>
            <a:ext cx="3407410" cy="140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Microsoft YaHei"/>
                <a:cs typeface="Microsoft YaHei"/>
              </a:rPr>
              <a:t>平台可运营</a:t>
            </a:r>
            <a:endParaRPr sz="1800">
              <a:latin typeface="Microsoft YaHei"/>
              <a:cs typeface="Microsoft YaHei"/>
            </a:endParaRPr>
          </a:p>
          <a:p>
            <a:pPr marL="12700" marR="5080" algn="just">
              <a:lnSpc>
                <a:spcPct val="149800"/>
              </a:lnSpc>
              <a:spcBef>
                <a:spcPts val="1135"/>
              </a:spcBef>
            </a:pPr>
            <a:r>
              <a:rPr sz="1400" spc="-55" dirty="0">
                <a:solidFill>
                  <a:srgbClr val="252525"/>
                </a:solidFill>
                <a:latin typeface="Microsoft YaHei"/>
                <a:cs typeface="Microsoft YaHei"/>
              </a:rPr>
              <a:t>可视化配置业务场景同义词、调整数据源权重，实现业务特定诉求；平台化闭环的问答记录、体验反馈、问题识别、后台分析支持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问答可理解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8582025" cy="3429000"/>
            <a:chOff x="0" y="304800"/>
            <a:chExt cx="8582025" cy="3429000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61925" cy="447675"/>
            </a:xfrm>
            <a:custGeom>
              <a:avLst/>
              <a:gdLst/>
              <a:ahLst/>
              <a:cxnLst/>
              <a:rect l="l" t="t" r="r" b="b"/>
              <a:pathLst>
                <a:path w="161925" h="447675">
                  <a:moveTo>
                    <a:pt x="1619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61925" y="4476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0" y="1162050"/>
              <a:ext cx="4962525" cy="25717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0100" y="1990725"/>
              <a:ext cx="1704975" cy="19050"/>
            </a:xfrm>
            <a:custGeom>
              <a:avLst/>
              <a:gdLst/>
              <a:ahLst/>
              <a:cxnLst/>
              <a:rect l="l" t="t" r="r" b="b"/>
              <a:pathLst>
                <a:path w="1704975" h="19050">
                  <a:moveTo>
                    <a:pt x="0" y="19050"/>
                  </a:moveTo>
                  <a:lnTo>
                    <a:pt x="1704975" y="19050"/>
                  </a:lnTo>
                  <a:lnTo>
                    <a:pt x="170497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0100" y="1295400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70497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1704975" y="695325"/>
                  </a:lnTo>
                  <a:lnTo>
                    <a:pt x="17049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0100" y="1532572"/>
            <a:ext cx="1704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Microsoft YaHei"/>
                <a:cs typeface="Microsoft YaHei"/>
              </a:rPr>
              <a:t>用户语义</a:t>
            </a:r>
            <a:endParaRPr sz="1800">
              <a:latin typeface="Microsoft YaHei"/>
              <a:cs typeface="Microsoft YaHe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72864" y="956824"/>
            <a:ext cx="2228220" cy="299381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00100" y="3371850"/>
            <a:ext cx="1704975" cy="723900"/>
            <a:chOff x="800100" y="3371850"/>
            <a:chExt cx="1704975" cy="723900"/>
          </a:xfrm>
        </p:grpSpPr>
        <p:sp>
          <p:nvSpPr>
            <p:cNvPr id="13" name="object 13"/>
            <p:cNvSpPr/>
            <p:nvPr/>
          </p:nvSpPr>
          <p:spPr>
            <a:xfrm>
              <a:off x="800100" y="4067175"/>
              <a:ext cx="1704975" cy="28575"/>
            </a:xfrm>
            <a:custGeom>
              <a:avLst/>
              <a:gdLst/>
              <a:ahLst/>
              <a:cxnLst/>
              <a:rect l="l" t="t" r="r" b="b"/>
              <a:pathLst>
                <a:path w="1704975" h="28575">
                  <a:moveTo>
                    <a:pt x="0" y="28575"/>
                  </a:moveTo>
                  <a:lnTo>
                    <a:pt x="1704975" y="28575"/>
                  </a:lnTo>
                  <a:lnTo>
                    <a:pt x="170497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100" y="3371850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70497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1704975" y="695325"/>
                  </a:lnTo>
                  <a:lnTo>
                    <a:pt x="17049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0100" y="3588067"/>
            <a:ext cx="1704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Microsoft YaHei"/>
                <a:cs typeface="Microsoft YaHei"/>
              </a:rPr>
              <a:t>业务实际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0100" y="5419725"/>
            <a:ext cx="1704975" cy="723900"/>
            <a:chOff x="800100" y="5419725"/>
            <a:chExt cx="1704975" cy="723900"/>
          </a:xfrm>
        </p:grpSpPr>
        <p:sp>
          <p:nvSpPr>
            <p:cNvPr id="17" name="object 17"/>
            <p:cNvSpPr/>
            <p:nvPr/>
          </p:nvSpPr>
          <p:spPr>
            <a:xfrm>
              <a:off x="800100" y="6115050"/>
              <a:ext cx="1704975" cy="28575"/>
            </a:xfrm>
            <a:custGeom>
              <a:avLst/>
              <a:gdLst/>
              <a:ahLst/>
              <a:cxnLst/>
              <a:rect l="l" t="t" r="r" b="b"/>
              <a:pathLst>
                <a:path w="1704975" h="28575">
                  <a:moveTo>
                    <a:pt x="0" y="28575"/>
                  </a:moveTo>
                  <a:lnTo>
                    <a:pt x="1704975" y="28575"/>
                  </a:lnTo>
                  <a:lnTo>
                    <a:pt x="170497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0100" y="5419725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704975" y="0"/>
                  </a:moveTo>
                  <a:lnTo>
                    <a:pt x="0" y="0"/>
                  </a:lnTo>
                  <a:lnTo>
                    <a:pt x="0" y="695325"/>
                  </a:lnTo>
                  <a:lnTo>
                    <a:pt x="1704975" y="695325"/>
                  </a:lnTo>
                  <a:lnTo>
                    <a:pt x="1704975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0100" y="5619115"/>
            <a:ext cx="1704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Microsoft YaHei"/>
                <a:cs typeface="Microsoft YaHei"/>
              </a:rPr>
              <a:t>数据关系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62050" y="2066925"/>
            <a:ext cx="1104900" cy="1209675"/>
          </a:xfrm>
          <a:custGeom>
            <a:avLst/>
            <a:gdLst/>
            <a:ahLst/>
            <a:cxnLst/>
            <a:rect l="l" t="t" r="r" b="b"/>
            <a:pathLst>
              <a:path w="1104900" h="1209675">
                <a:moveTo>
                  <a:pt x="552450" y="0"/>
                </a:moveTo>
                <a:lnTo>
                  <a:pt x="0" y="252984"/>
                </a:lnTo>
                <a:lnTo>
                  <a:pt x="242950" y="252984"/>
                </a:lnTo>
                <a:lnTo>
                  <a:pt x="242950" y="956690"/>
                </a:lnTo>
                <a:lnTo>
                  <a:pt x="0" y="956690"/>
                </a:lnTo>
                <a:lnTo>
                  <a:pt x="552450" y="1209675"/>
                </a:lnTo>
                <a:lnTo>
                  <a:pt x="1104900" y="956690"/>
                </a:lnTo>
                <a:lnTo>
                  <a:pt x="861949" y="956690"/>
                </a:lnTo>
                <a:lnTo>
                  <a:pt x="861949" y="252984"/>
                </a:lnTo>
                <a:lnTo>
                  <a:pt x="1104900" y="252984"/>
                </a:lnTo>
                <a:lnTo>
                  <a:pt x="552450" y="0"/>
                </a:lnTo>
                <a:close/>
              </a:path>
            </a:pathLst>
          </a:custGeom>
          <a:solidFill>
            <a:srgbClr val="FD7B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74469" y="2552382"/>
            <a:ext cx="4832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词性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2050" y="4143375"/>
            <a:ext cx="1104900" cy="1209675"/>
          </a:xfrm>
          <a:custGeom>
            <a:avLst/>
            <a:gdLst/>
            <a:ahLst/>
            <a:cxnLst/>
            <a:rect l="l" t="t" r="r" b="b"/>
            <a:pathLst>
              <a:path w="1104900" h="1209675">
                <a:moveTo>
                  <a:pt x="552450" y="0"/>
                </a:moveTo>
                <a:lnTo>
                  <a:pt x="0" y="252983"/>
                </a:lnTo>
                <a:lnTo>
                  <a:pt x="242950" y="252983"/>
                </a:lnTo>
                <a:lnTo>
                  <a:pt x="242950" y="956691"/>
                </a:lnTo>
                <a:lnTo>
                  <a:pt x="0" y="956691"/>
                </a:lnTo>
                <a:lnTo>
                  <a:pt x="552450" y="1209675"/>
                </a:lnTo>
                <a:lnTo>
                  <a:pt x="1104900" y="956691"/>
                </a:lnTo>
                <a:lnTo>
                  <a:pt x="861949" y="956691"/>
                </a:lnTo>
                <a:lnTo>
                  <a:pt x="861949" y="252983"/>
                </a:lnTo>
                <a:lnTo>
                  <a:pt x="1104900" y="252983"/>
                </a:lnTo>
                <a:lnTo>
                  <a:pt x="552450" y="0"/>
                </a:lnTo>
                <a:close/>
              </a:path>
            </a:pathLst>
          </a:custGeom>
          <a:solidFill>
            <a:srgbClr val="FD7B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74469" y="4591367"/>
            <a:ext cx="4832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词意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05226" y="4262437"/>
            <a:ext cx="7981950" cy="185737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1230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Alisa</a:t>
            </a:r>
            <a:r>
              <a:rPr sz="155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自然语言理解模型：快速稳定且可解释的用户数据意图识别</a:t>
            </a:r>
            <a:endParaRPr sz="1550">
              <a:latin typeface="Microsoft YaHei"/>
              <a:cs typeface="Microsoft YaHei"/>
            </a:endParaRPr>
          </a:p>
          <a:p>
            <a:pPr marL="275590" marR="389890">
              <a:lnSpc>
                <a:spcPts val="1650"/>
              </a:lnSpc>
              <a:spcBef>
                <a:spcPts val="95"/>
              </a:spcBef>
            </a:pPr>
            <a:r>
              <a:rPr sz="1400" spc="-75" dirty="0">
                <a:latin typeface="Microsoft YaHei"/>
                <a:cs typeface="Microsoft YaHei"/>
              </a:rPr>
              <a:t>可精准识别用户的数据交互意图，将复杂的自然语言转化为结构化的数据查询需求，从而提高</a:t>
            </a:r>
            <a:r>
              <a:rPr sz="1400" spc="-45" dirty="0">
                <a:latin typeface="Microsoft YaHei"/>
                <a:cs typeface="Microsoft YaHei"/>
              </a:rPr>
              <a:t>查询的准确性和速度。</a:t>
            </a:r>
            <a:endParaRPr sz="1400">
              <a:latin typeface="Microsoft YaHei"/>
              <a:cs typeface="Microsoft YaHei"/>
            </a:endParaRPr>
          </a:p>
          <a:p>
            <a:pPr marL="275590" marR="399415">
              <a:lnSpc>
                <a:spcPct val="99700"/>
              </a:lnSpc>
              <a:spcBef>
                <a:spcPts val="1960"/>
              </a:spcBef>
            </a:pPr>
            <a:r>
              <a:rPr sz="1550" b="1" spc="25" dirty="0">
                <a:solidFill>
                  <a:srgbClr val="1C4AE6"/>
                </a:solidFill>
                <a:latin typeface="Microsoft YaHei"/>
                <a:cs typeface="Microsoft YaHei"/>
              </a:rPr>
              <a:t>SemanticDB</a:t>
            </a:r>
            <a:r>
              <a:rPr sz="1550" b="1" spc="15" dirty="0">
                <a:solidFill>
                  <a:srgbClr val="1C4AE6"/>
                </a:solidFill>
                <a:latin typeface="Microsoft YaHei"/>
                <a:cs typeface="Microsoft YaHei"/>
              </a:rPr>
              <a:t>语义数据库模型：数据库语义表达模型，实现用户意图到数据表达</a:t>
            </a:r>
            <a:r>
              <a:rPr sz="1400" spc="10" dirty="0">
                <a:latin typeface="Microsoft YaHei"/>
                <a:cs typeface="Microsoft YaHei"/>
              </a:rPr>
              <a:t>将</a:t>
            </a:r>
            <a:r>
              <a:rPr sz="1400" spc="-45" dirty="0">
                <a:latin typeface="Microsoft YaHei"/>
                <a:cs typeface="Microsoft YaHei"/>
              </a:rPr>
              <a:t>数据模型转化为业务知识图谱，实现</a:t>
            </a:r>
            <a:r>
              <a:rPr sz="1400" spc="-10" dirty="0">
                <a:latin typeface="Microsoft YaHei"/>
                <a:cs typeface="Microsoft YaHei"/>
              </a:rPr>
              <a:t>AI</a:t>
            </a:r>
            <a:r>
              <a:rPr sz="1400" spc="-50" dirty="0">
                <a:latin typeface="Microsoft YaHei"/>
                <a:cs typeface="Microsoft YaHei"/>
              </a:rPr>
              <a:t>对企业数据底层的感知，实现用户意图到数据库执行之</a:t>
            </a:r>
            <a:r>
              <a:rPr sz="1400" spc="-60" dirty="0">
                <a:latin typeface="Microsoft YaHei"/>
                <a:cs typeface="Microsoft YaHei"/>
              </a:rPr>
              <a:t>间的转化，实现企业当前数据底层建设、数据资产的复用。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数据可验证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00025" y="1371600"/>
            <a:ext cx="4886325" cy="4686300"/>
            <a:chOff x="200025" y="1371600"/>
            <a:chExt cx="4886325" cy="4686300"/>
          </a:xfrm>
        </p:grpSpPr>
        <p:sp>
          <p:nvSpPr>
            <p:cNvPr id="6" name="object 6"/>
            <p:cNvSpPr/>
            <p:nvPr/>
          </p:nvSpPr>
          <p:spPr>
            <a:xfrm>
              <a:off x="200025" y="1371600"/>
              <a:ext cx="4886325" cy="4686300"/>
            </a:xfrm>
            <a:custGeom>
              <a:avLst/>
              <a:gdLst/>
              <a:ahLst/>
              <a:cxnLst/>
              <a:rect l="l" t="t" r="r" b="b"/>
              <a:pathLst>
                <a:path w="4886325" h="4686300">
                  <a:moveTo>
                    <a:pt x="4886325" y="0"/>
                  </a:moveTo>
                  <a:lnTo>
                    <a:pt x="0" y="0"/>
                  </a:lnTo>
                  <a:lnTo>
                    <a:pt x="0" y="4686300"/>
                  </a:lnTo>
                  <a:lnTo>
                    <a:pt x="4886325" y="4686300"/>
                  </a:lnTo>
                  <a:lnTo>
                    <a:pt x="48863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1657350"/>
              <a:ext cx="4581525" cy="402907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5295900" y="1371600"/>
            <a:ext cx="6581775" cy="4686300"/>
            <a:chOff x="5295900" y="1371600"/>
            <a:chExt cx="6581775" cy="4686300"/>
          </a:xfrm>
        </p:grpSpPr>
        <p:sp>
          <p:nvSpPr>
            <p:cNvPr id="9" name="object 9"/>
            <p:cNvSpPr/>
            <p:nvPr/>
          </p:nvSpPr>
          <p:spPr>
            <a:xfrm>
              <a:off x="5295900" y="1371600"/>
              <a:ext cx="6581775" cy="4686300"/>
            </a:xfrm>
            <a:custGeom>
              <a:avLst/>
              <a:gdLst/>
              <a:ahLst/>
              <a:cxnLst/>
              <a:rect l="l" t="t" r="r" b="b"/>
              <a:pathLst>
                <a:path w="6581775" h="4686300">
                  <a:moveTo>
                    <a:pt x="6581775" y="0"/>
                  </a:moveTo>
                  <a:lnTo>
                    <a:pt x="0" y="0"/>
                  </a:lnTo>
                  <a:lnTo>
                    <a:pt x="0" y="4686300"/>
                  </a:lnTo>
                  <a:lnTo>
                    <a:pt x="6581775" y="4686300"/>
                  </a:lnTo>
                  <a:lnTo>
                    <a:pt x="65817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590675"/>
              <a:ext cx="3028950" cy="41719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7650" y="3495675"/>
              <a:ext cx="3914775" cy="2266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82025" y="1590675"/>
              <a:ext cx="3200400" cy="14287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2692" y="1047432"/>
            <a:ext cx="28682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展示数据来源、口径、筛选逻辑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1254" y="1047432"/>
            <a:ext cx="12465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展示取数逻辑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0426" y="1047432"/>
            <a:ext cx="185673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展示语义和数据关系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068050" cy="3305175"/>
            <a:chOff x="0" y="0"/>
            <a:chExt cx="11068050" cy="3305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3950" y="866775"/>
              <a:ext cx="9944100" cy="2019300"/>
            </a:xfrm>
            <a:custGeom>
              <a:avLst/>
              <a:gdLst/>
              <a:ahLst/>
              <a:cxnLst/>
              <a:rect l="l" t="t" r="r" b="b"/>
              <a:pathLst>
                <a:path w="9944100" h="2019300">
                  <a:moveTo>
                    <a:pt x="9944100" y="0"/>
                  </a:moveTo>
                  <a:lnTo>
                    <a:pt x="0" y="0"/>
                  </a:lnTo>
                  <a:lnTo>
                    <a:pt x="0" y="2019300"/>
                  </a:lnTo>
                  <a:lnTo>
                    <a:pt x="9944100" y="2019300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数据可验证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23950" y="904875"/>
            <a:ext cx="9944100" cy="5829300"/>
            <a:chOff x="1123950" y="904875"/>
            <a:chExt cx="9944100" cy="58293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8725" y="904875"/>
              <a:ext cx="7829550" cy="1219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23950" y="3114674"/>
              <a:ext cx="9944100" cy="3619500"/>
            </a:xfrm>
            <a:custGeom>
              <a:avLst/>
              <a:gdLst/>
              <a:ahLst/>
              <a:cxnLst/>
              <a:rect l="l" t="t" r="r" b="b"/>
              <a:pathLst>
                <a:path w="9944100" h="3619500">
                  <a:moveTo>
                    <a:pt x="5457825" y="0"/>
                  </a:moveTo>
                  <a:lnTo>
                    <a:pt x="0" y="0"/>
                  </a:lnTo>
                  <a:lnTo>
                    <a:pt x="0" y="3619500"/>
                  </a:lnTo>
                  <a:lnTo>
                    <a:pt x="5457825" y="3619500"/>
                  </a:lnTo>
                  <a:lnTo>
                    <a:pt x="5457825" y="0"/>
                  </a:lnTo>
                  <a:close/>
                </a:path>
                <a:path w="9944100" h="3619500">
                  <a:moveTo>
                    <a:pt x="9944100" y="0"/>
                  </a:moveTo>
                  <a:lnTo>
                    <a:pt x="5753100" y="0"/>
                  </a:lnTo>
                  <a:lnTo>
                    <a:pt x="5753100" y="3619500"/>
                  </a:lnTo>
                  <a:lnTo>
                    <a:pt x="9944100" y="3619500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3775" y="3228975"/>
              <a:ext cx="3133725" cy="34575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8275" y="3276600"/>
              <a:ext cx="4943475" cy="3371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7225" y="1581150"/>
              <a:ext cx="6457950" cy="12001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51755" y="619061"/>
            <a:ext cx="20548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可视化业务和数据建模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6054" y="2887662"/>
            <a:ext cx="12446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消除幻觉问题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3425" y="2903791"/>
            <a:ext cx="1035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数据可信赖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848350" cy="6438900"/>
            <a:chOff x="0" y="0"/>
            <a:chExt cx="58483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4325" y="1200150"/>
              <a:ext cx="5534025" cy="5238750"/>
            </a:xfrm>
            <a:custGeom>
              <a:avLst/>
              <a:gdLst/>
              <a:ahLst/>
              <a:cxnLst/>
              <a:rect l="l" t="t" r="r" b="b"/>
              <a:pathLst>
                <a:path w="5534025" h="5238750">
                  <a:moveTo>
                    <a:pt x="5534025" y="0"/>
                  </a:moveTo>
                  <a:lnTo>
                    <a:pt x="0" y="0"/>
                  </a:lnTo>
                  <a:lnTo>
                    <a:pt x="0" y="5238750"/>
                  </a:lnTo>
                  <a:lnTo>
                    <a:pt x="5534025" y="5238750"/>
                  </a:lnTo>
                  <a:lnTo>
                    <a:pt x="55340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81700" y="3895725"/>
            <a:ext cx="5343525" cy="2543175"/>
            <a:chOff x="5981700" y="3895725"/>
            <a:chExt cx="5343525" cy="2543175"/>
          </a:xfrm>
        </p:grpSpPr>
        <p:sp>
          <p:nvSpPr>
            <p:cNvPr id="7" name="object 7"/>
            <p:cNvSpPr/>
            <p:nvPr/>
          </p:nvSpPr>
          <p:spPr>
            <a:xfrm>
              <a:off x="5981700" y="3895725"/>
              <a:ext cx="5343525" cy="2543175"/>
            </a:xfrm>
            <a:custGeom>
              <a:avLst/>
              <a:gdLst/>
              <a:ahLst/>
              <a:cxnLst/>
              <a:rect l="l" t="t" r="r" b="b"/>
              <a:pathLst>
                <a:path w="5343525" h="2543175">
                  <a:moveTo>
                    <a:pt x="5343525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5343525" y="2543175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4076700"/>
              <a:ext cx="4752975" cy="218122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981700" y="1200150"/>
            <a:ext cx="5343525" cy="2552700"/>
            <a:chOff x="5981700" y="1200150"/>
            <a:chExt cx="5343525" cy="2552700"/>
          </a:xfrm>
        </p:grpSpPr>
        <p:sp>
          <p:nvSpPr>
            <p:cNvPr id="10" name="object 10"/>
            <p:cNvSpPr/>
            <p:nvPr/>
          </p:nvSpPr>
          <p:spPr>
            <a:xfrm>
              <a:off x="5981700" y="1200150"/>
              <a:ext cx="5343525" cy="2552700"/>
            </a:xfrm>
            <a:custGeom>
              <a:avLst/>
              <a:gdLst/>
              <a:ahLst/>
              <a:cxnLst/>
              <a:rect l="l" t="t" r="r" b="b"/>
              <a:pathLst>
                <a:path w="5343525" h="2552700">
                  <a:moveTo>
                    <a:pt x="5343525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5343525" y="2552700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050" y="1543050"/>
              <a:ext cx="5076825" cy="177165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分析可深入</a:t>
            </a: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1552575"/>
            <a:ext cx="4991100" cy="46767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966595" y="906462"/>
            <a:ext cx="20574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自由切换图表展示样式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28558" y="906462"/>
            <a:ext cx="12446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自由调整维度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829300" cy="3409950"/>
            <a:chOff x="0" y="0"/>
            <a:chExt cx="5829300" cy="3409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5775" y="866775"/>
              <a:ext cx="5343525" cy="2543175"/>
            </a:xfrm>
            <a:custGeom>
              <a:avLst/>
              <a:gdLst/>
              <a:ahLst/>
              <a:cxnLst/>
              <a:rect l="l" t="t" r="r" b="b"/>
              <a:pathLst>
                <a:path w="5343525" h="2543175">
                  <a:moveTo>
                    <a:pt x="5343525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5343525" y="2543175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00125" y="3619500"/>
            <a:ext cx="5343525" cy="2552700"/>
            <a:chOff x="1000125" y="3619500"/>
            <a:chExt cx="5343525" cy="2552700"/>
          </a:xfrm>
        </p:grpSpPr>
        <p:sp>
          <p:nvSpPr>
            <p:cNvPr id="7" name="object 7"/>
            <p:cNvSpPr/>
            <p:nvPr/>
          </p:nvSpPr>
          <p:spPr>
            <a:xfrm>
              <a:off x="1000125" y="3619500"/>
              <a:ext cx="5343525" cy="2552700"/>
            </a:xfrm>
            <a:custGeom>
              <a:avLst/>
              <a:gdLst/>
              <a:ahLst/>
              <a:cxnLst/>
              <a:rect l="l" t="t" r="r" b="b"/>
              <a:pathLst>
                <a:path w="5343525" h="2552700">
                  <a:moveTo>
                    <a:pt x="5343525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5343525" y="2552700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3876675"/>
              <a:ext cx="4019550" cy="21145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972175" y="866775"/>
            <a:ext cx="5343525" cy="2543175"/>
            <a:chOff x="5972175" y="866775"/>
            <a:chExt cx="5343525" cy="2543175"/>
          </a:xfrm>
        </p:grpSpPr>
        <p:sp>
          <p:nvSpPr>
            <p:cNvPr id="10" name="object 10"/>
            <p:cNvSpPr/>
            <p:nvPr/>
          </p:nvSpPr>
          <p:spPr>
            <a:xfrm>
              <a:off x="5972175" y="866775"/>
              <a:ext cx="5343525" cy="2543175"/>
            </a:xfrm>
            <a:custGeom>
              <a:avLst/>
              <a:gdLst/>
              <a:ahLst/>
              <a:cxnLst/>
              <a:rect l="l" t="t" r="r" b="b"/>
              <a:pathLst>
                <a:path w="5343525" h="2543175">
                  <a:moveTo>
                    <a:pt x="5343525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5343525" y="2543175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8450" y="1009650"/>
              <a:ext cx="3981450" cy="22574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543675" y="3619500"/>
            <a:ext cx="5343525" cy="2552700"/>
            <a:chOff x="6543675" y="3619500"/>
            <a:chExt cx="5343525" cy="2552700"/>
          </a:xfrm>
        </p:grpSpPr>
        <p:sp>
          <p:nvSpPr>
            <p:cNvPr id="13" name="object 13"/>
            <p:cNvSpPr/>
            <p:nvPr/>
          </p:nvSpPr>
          <p:spPr>
            <a:xfrm>
              <a:off x="6543675" y="3619500"/>
              <a:ext cx="5343525" cy="2552700"/>
            </a:xfrm>
            <a:custGeom>
              <a:avLst/>
              <a:gdLst/>
              <a:ahLst/>
              <a:cxnLst/>
              <a:rect l="l" t="t" r="r" b="b"/>
              <a:pathLst>
                <a:path w="5343525" h="2552700">
                  <a:moveTo>
                    <a:pt x="5343525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5343525" y="2552700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6125" y="3762375"/>
              <a:ext cx="4238625" cy="2257425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分析可深入</a:t>
            </a: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962025"/>
            <a:ext cx="4124325" cy="22574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017256" y="729615"/>
            <a:ext cx="124587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1C4AE6"/>
                </a:solidFill>
                <a:latin typeface="Microsoft YaHei"/>
                <a:cs typeface="Microsoft YaHei"/>
              </a:rPr>
              <a:t>时间维度下钻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94470" y="3511232"/>
            <a:ext cx="10369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下钻到最细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4966" y="740981"/>
            <a:ext cx="10369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全维度选择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0755" y="3505517"/>
            <a:ext cx="12446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分类维度下钻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600825" cy="5410200"/>
            <a:chOff x="0" y="0"/>
            <a:chExt cx="6600825" cy="5410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3375" y="1762125"/>
              <a:ext cx="6267450" cy="3648075"/>
            </a:xfrm>
            <a:custGeom>
              <a:avLst/>
              <a:gdLst/>
              <a:ahLst/>
              <a:cxnLst/>
              <a:rect l="l" t="t" r="r" b="b"/>
              <a:pathLst>
                <a:path w="6267450" h="3648075">
                  <a:moveTo>
                    <a:pt x="6267450" y="0"/>
                  </a:moveTo>
                  <a:lnTo>
                    <a:pt x="0" y="0"/>
                  </a:lnTo>
                  <a:lnTo>
                    <a:pt x="0" y="3648075"/>
                  </a:lnTo>
                  <a:lnTo>
                    <a:pt x="6267450" y="3648075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781800" y="819150"/>
            <a:ext cx="4629150" cy="5953125"/>
            <a:chOff x="6781800" y="819150"/>
            <a:chExt cx="4629150" cy="5953125"/>
          </a:xfrm>
        </p:grpSpPr>
        <p:sp>
          <p:nvSpPr>
            <p:cNvPr id="7" name="object 7"/>
            <p:cNvSpPr/>
            <p:nvPr/>
          </p:nvSpPr>
          <p:spPr>
            <a:xfrm>
              <a:off x="6781800" y="819150"/>
              <a:ext cx="4629150" cy="5953125"/>
            </a:xfrm>
            <a:custGeom>
              <a:avLst/>
              <a:gdLst/>
              <a:ahLst/>
              <a:cxnLst/>
              <a:rect l="l" t="t" r="r" b="b"/>
              <a:pathLst>
                <a:path w="4629150" h="5953125">
                  <a:moveTo>
                    <a:pt x="462915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4629150" y="5953125"/>
                  </a:lnTo>
                  <a:lnTo>
                    <a:pt x="4629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962025"/>
              <a:ext cx="4324350" cy="568642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分析可深入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875" y="1876425"/>
            <a:ext cx="5886450" cy="33051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41370" y="1481137"/>
            <a:ext cx="12465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设置图表联动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0476" y="601281"/>
            <a:ext cx="14471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全维度智能归因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1800" y="819150"/>
            <a:ext cx="4629150" cy="595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550">
              <a:latin typeface="Times New Roman"/>
              <a:cs typeface="Times New Roman"/>
            </a:endParaRPr>
          </a:p>
          <a:p>
            <a:pPr marL="2114550">
              <a:lnSpc>
                <a:spcPct val="100000"/>
              </a:lnSpc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智能归因支持深入分析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772900" cy="6486525"/>
            <a:chOff x="0" y="0"/>
            <a:chExt cx="11772900" cy="6486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8625" y="1619249"/>
              <a:ext cx="11344275" cy="4867275"/>
            </a:xfrm>
            <a:custGeom>
              <a:avLst/>
              <a:gdLst/>
              <a:ahLst/>
              <a:cxnLst/>
              <a:rect l="l" t="t" r="r" b="b"/>
              <a:pathLst>
                <a:path w="11344275" h="4867275">
                  <a:moveTo>
                    <a:pt x="11344275" y="1228725"/>
                  </a:moveTo>
                  <a:lnTo>
                    <a:pt x="5857875" y="1228725"/>
                  </a:lnTo>
                  <a:lnTo>
                    <a:pt x="5857875" y="0"/>
                  </a:lnTo>
                  <a:lnTo>
                    <a:pt x="0" y="0"/>
                  </a:lnTo>
                  <a:lnTo>
                    <a:pt x="0" y="3638550"/>
                  </a:lnTo>
                  <a:lnTo>
                    <a:pt x="4467225" y="3638550"/>
                  </a:lnTo>
                  <a:lnTo>
                    <a:pt x="4467225" y="4867275"/>
                  </a:lnTo>
                  <a:lnTo>
                    <a:pt x="11344275" y="4867275"/>
                  </a:lnTo>
                  <a:lnTo>
                    <a:pt x="11344275" y="122872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112" y="323468"/>
            <a:ext cx="103987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分析可深入【生成】：大模型生成能力，实现针对数据结果和看板的结论洞察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42925" y="1771650"/>
            <a:ext cx="11029950" cy="4514850"/>
            <a:chOff x="542925" y="1771650"/>
            <a:chExt cx="11029950" cy="45148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5" y="1771650"/>
              <a:ext cx="5676900" cy="3314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6350" y="3009900"/>
              <a:ext cx="6486525" cy="32766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929764" y="1262062"/>
            <a:ext cx="28638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数据查询卡片大模型归纳和总结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6193" y="2597467"/>
            <a:ext cx="28638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数据看板和报告大模型结论生成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712" y="330898"/>
            <a:ext cx="99707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分析可深入【推理】：</a:t>
            </a:r>
            <a:r>
              <a:rPr dirty="0"/>
              <a:t>DeepSeek</a:t>
            </a:r>
            <a:r>
              <a:rPr spc="-65" dirty="0"/>
              <a:t> </a:t>
            </a:r>
            <a:r>
              <a:rPr spc="-10" dirty="0"/>
              <a:t>R1</a:t>
            </a:r>
            <a:r>
              <a:rPr spc="-5" dirty="0"/>
              <a:t>推理能力，实现从一站式提问和洞察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76225" y="1533525"/>
            <a:ext cx="4714875" cy="5133975"/>
            <a:chOff x="276225" y="1533525"/>
            <a:chExt cx="4714875" cy="5133975"/>
          </a:xfrm>
        </p:grpSpPr>
        <p:sp>
          <p:nvSpPr>
            <p:cNvPr id="6" name="object 6"/>
            <p:cNvSpPr/>
            <p:nvPr/>
          </p:nvSpPr>
          <p:spPr>
            <a:xfrm>
              <a:off x="276225" y="1533525"/>
              <a:ext cx="4714875" cy="5133975"/>
            </a:xfrm>
            <a:custGeom>
              <a:avLst/>
              <a:gdLst/>
              <a:ahLst/>
              <a:cxnLst/>
              <a:rect l="l" t="t" r="r" b="b"/>
              <a:pathLst>
                <a:path w="4714875" h="5133975">
                  <a:moveTo>
                    <a:pt x="4714875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4714875" y="5133975"/>
                  </a:lnTo>
                  <a:lnTo>
                    <a:pt x="4714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50" y="3000375"/>
              <a:ext cx="4391025" cy="231457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5086350" y="1533525"/>
            <a:ext cx="2038350" cy="5133975"/>
            <a:chOff x="5086350" y="1533525"/>
            <a:chExt cx="2038350" cy="5133975"/>
          </a:xfrm>
        </p:grpSpPr>
        <p:sp>
          <p:nvSpPr>
            <p:cNvPr id="9" name="object 9"/>
            <p:cNvSpPr/>
            <p:nvPr/>
          </p:nvSpPr>
          <p:spPr>
            <a:xfrm>
              <a:off x="5086350" y="1533525"/>
              <a:ext cx="2038350" cy="5133975"/>
            </a:xfrm>
            <a:custGeom>
              <a:avLst/>
              <a:gdLst/>
              <a:ahLst/>
              <a:cxnLst/>
              <a:rect l="l" t="t" r="r" b="b"/>
              <a:pathLst>
                <a:path w="2038350" h="5133975">
                  <a:moveTo>
                    <a:pt x="203835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2038350" y="5133975"/>
                  </a:lnTo>
                  <a:lnTo>
                    <a:pt x="20383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7325" y="1781175"/>
              <a:ext cx="1676400" cy="469582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8150" y="933450"/>
            <a:ext cx="4391025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144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72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深度思考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7325" y="933450"/>
            <a:ext cx="167640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017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71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问数分析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81875" y="933450"/>
            <a:ext cx="4400550" cy="400050"/>
          </a:xfrm>
          <a:prstGeom prst="rect">
            <a:avLst/>
          </a:prstGeom>
          <a:solidFill>
            <a:srgbClr val="1C4AE6"/>
          </a:solidFill>
        </p:spPr>
        <p:txBody>
          <a:bodyPr vert="horz" wrap="square" lIns="0" tIns="9017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710"/>
              </a:spcBef>
            </a:pPr>
            <a:r>
              <a:rPr sz="1400" b="1" spc="-35" dirty="0">
                <a:solidFill>
                  <a:srgbClr val="FFFFFF"/>
                </a:solidFill>
                <a:latin typeface="Microsoft YaHei"/>
                <a:cs typeface="Microsoft YaHei"/>
              </a:rPr>
              <a:t>业务洞察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19950" y="1533525"/>
            <a:ext cx="4724400" cy="5133975"/>
            <a:chOff x="7219950" y="1533525"/>
            <a:chExt cx="4724400" cy="5133975"/>
          </a:xfrm>
        </p:grpSpPr>
        <p:sp>
          <p:nvSpPr>
            <p:cNvPr id="15" name="object 15"/>
            <p:cNvSpPr/>
            <p:nvPr/>
          </p:nvSpPr>
          <p:spPr>
            <a:xfrm>
              <a:off x="7219950" y="1533525"/>
              <a:ext cx="4724400" cy="5133975"/>
            </a:xfrm>
            <a:custGeom>
              <a:avLst/>
              <a:gdLst/>
              <a:ahLst/>
              <a:cxnLst/>
              <a:rect l="l" t="t" r="r" b="b"/>
              <a:pathLst>
                <a:path w="4724400" h="5133975">
                  <a:moveTo>
                    <a:pt x="47244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4724400" y="5133975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1875" y="3133725"/>
              <a:ext cx="4400550" cy="2047875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4829175" y="1046607"/>
            <a:ext cx="440055" cy="174625"/>
          </a:xfrm>
          <a:custGeom>
            <a:avLst/>
            <a:gdLst/>
            <a:ahLst/>
            <a:cxnLst/>
            <a:rect l="l" t="t" r="r" b="b"/>
            <a:pathLst>
              <a:path w="440054" h="174625">
                <a:moveTo>
                  <a:pt x="335279" y="87121"/>
                </a:moveTo>
                <a:lnTo>
                  <a:pt x="265684" y="174625"/>
                </a:lnTo>
                <a:lnTo>
                  <a:pt x="404663" y="104679"/>
                </a:lnTo>
                <a:lnTo>
                  <a:pt x="335279" y="104679"/>
                </a:lnTo>
                <a:lnTo>
                  <a:pt x="335279" y="87121"/>
                </a:lnTo>
                <a:close/>
              </a:path>
              <a:path w="440054" h="174625">
                <a:moveTo>
                  <a:pt x="321305" y="69754"/>
                </a:moveTo>
                <a:lnTo>
                  <a:pt x="0" y="70484"/>
                </a:lnTo>
                <a:lnTo>
                  <a:pt x="0" y="105409"/>
                </a:lnTo>
                <a:lnTo>
                  <a:pt x="321315" y="104679"/>
                </a:lnTo>
                <a:lnTo>
                  <a:pt x="335279" y="87121"/>
                </a:lnTo>
                <a:lnTo>
                  <a:pt x="321305" y="69754"/>
                </a:lnTo>
                <a:close/>
              </a:path>
              <a:path w="440054" h="174625">
                <a:moveTo>
                  <a:pt x="405603" y="69754"/>
                </a:moveTo>
                <a:lnTo>
                  <a:pt x="335279" y="69754"/>
                </a:lnTo>
                <a:lnTo>
                  <a:pt x="335279" y="104679"/>
                </a:lnTo>
                <a:lnTo>
                  <a:pt x="404663" y="104679"/>
                </a:lnTo>
                <a:lnTo>
                  <a:pt x="440054" y="86867"/>
                </a:lnTo>
                <a:lnTo>
                  <a:pt x="405603" y="69754"/>
                </a:lnTo>
                <a:close/>
              </a:path>
              <a:path w="440054" h="174625">
                <a:moveTo>
                  <a:pt x="265175" y="0"/>
                </a:moveTo>
                <a:lnTo>
                  <a:pt x="335279" y="87121"/>
                </a:lnTo>
                <a:lnTo>
                  <a:pt x="335279" y="69754"/>
                </a:lnTo>
                <a:lnTo>
                  <a:pt x="405603" y="69754"/>
                </a:lnTo>
                <a:lnTo>
                  <a:pt x="265175" y="0"/>
                </a:lnTo>
                <a:close/>
              </a:path>
            </a:pathLst>
          </a:custGeom>
          <a:solidFill>
            <a:srgbClr val="FF78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3725" y="1046225"/>
            <a:ext cx="436880" cy="174625"/>
          </a:xfrm>
          <a:custGeom>
            <a:avLst/>
            <a:gdLst/>
            <a:ahLst/>
            <a:cxnLst/>
            <a:rect l="l" t="t" r="r" b="b"/>
            <a:pathLst>
              <a:path w="436879" h="174625">
                <a:moveTo>
                  <a:pt x="331597" y="87249"/>
                </a:moveTo>
                <a:lnTo>
                  <a:pt x="261747" y="174625"/>
                </a:lnTo>
                <a:lnTo>
                  <a:pt x="401345" y="104775"/>
                </a:lnTo>
                <a:lnTo>
                  <a:pt x="331597" y="104775"/>
                </a:lnTo>
                <a:lnTo>
                  <a:pt x="331597" y="87249"/>
                </a:lnTo>
                <a:close/>
              </a:path>
              <a:path w="436879" h="174625">
                <a:moveTo>
                  <a:pt x="317667" y="69850"/>
                </a:moveTo>
                <a:lnTo>
                  <a:pt x="0" y="69850"/>
                </a:lnTo>
                <a:lnTo>
                  <a:pt x="0" y="104775"/>
                </a:lnTo>
                <a:lnTo>
                  <a:pt x="317586" y="104775"/>
                </a:lnTo>
                <a:lnTo>
                  <a:pt x="331597" y="87249"/>
                </a:lnTo>
                <a:lnTo>
                  <a:pt x="317667" y="69850"/>
                </a:lnTo>
                <a:close/>
              </a:path>
              <a:path w="436879" h="174625">
                <a:moveTo>
                  <a:pt x="401548" y="69850"/>
                </a:moveTo>
                <a:lnTo>
                  <a:pt x="331597" y="69850"/>
                </a:lnTo>
                <a:lnTo>
                  <a:pt x="331597" y="104775"/>
                </a:lnTo>
                <a:lnTo>
                  <a:pt x="401345" y="104775"/>
                </a:lnTo>
                <a:lnTo>
                  <a:pt x="436372" y="87249"/>
                </a:lnTo>
                <a:lnTo>
                  <a:pt x="401548" y="69850"/>
                </a:lnTo>
                <a:close/>
              </a:path>
              <a:path w="436879" h="174625">
                <a:moveTo>
                  <a:pt x="261747" y="0"/>
                </a:moveTo>
                <a:lnTo>
                  <a:pt x="331597" y="87249"/>
                </a:lnTo>
                <a:lnTo>
                  <a:pt x="331597" y="69850"/>
                </a:lnTo>
                <a:lnTo>
                  <a:pt x="401548" y="69850"/>
                </a:lnTo>
                <a:lnTo>
                  <a:pt x="261747" y="0"/>
                </a:lnTo>
                <a:close/>
              </a:path>
            </a:pathLst>
          </a:custGeom>
          <a:solidFill>
            <a:srgbClr val="FF78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6225" y="1533525"/>
            <a:ext cx="4714875" cy="513397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45"/>
              </a:spcBef>
            </a:pPr>
            <a:endParaRPr sz="1550">
              <a:latin typeface="Times New Roman"/>
              <a:cs typeface="Times New Roman"/>
            </a:endParaRPr>
          </a:p>
          <a:p>
            <a:pPr marL="329565" marR="520065">
              <a:lnSpc>
                <a:spcPct val="100899"/>
              </a:lnSpc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DeepSeek针对用户的复杂和宽泛问题，进</a:t>
            </a:r>
            <a:r>
              <a:rPr sz="155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行多问题拆解，推理出合理的数据分析诉求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9950" y="1533525"/>
            <a:ext cx="4724400" cy="513397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45"/>
              </a:spcBef>
            </a:pPr>
            <a:endParaRPr sz="1550">
              <a:latin typeface="Times New Roman"/>
              <a:cs typeface="Times New Roman"/>
            </a:endParaRPr>
          </a:p>
          <a:p>
            <a:pPr marL="295275" marR="358140">
              <a:lnSpc>
                <a:spcPct val="100899"/>
              </a:lnSpc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DeepSeek</a:t>
            </a: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针对多问题的数据分析结果，进行</a:t>
            </a:r>
            <a:r>
              <a:rPr sz="155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业务洞察，实现问题原因分析和决策建议生成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810375" cy="4914900"/>
            <a:chOff x="0" y="0"/>
            <a:chExt cx="6810375" cy="491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1475" y="1066800"/>
              <a:ext cx="6438900" cy="3848100"/>
            </a:xfrm>
            <a:custGeom>
              <a:avLst/>
              <a:gdLst/>
              <a:ahLst/>
              <a:cxnLst/>
              <a:rect l="l" t="t" r="r" b="b"/>
              <a:pathLst>
                <a:path w="6438900" h="3848100">
                  <a:moveTo>
                    <a:pt x="6438900" y="0"/>
                  </a:moveTo>
                  <a:lnTo>
                    <a:pt x="0" y="0"/>
                  </a:lnTo>
                  <a:lnTo>
                    <a:pt x="0" y="3848100"/>
                  </a:lnTo>
                  <a:lnTo>
                    <a:pt x="6438900" y="3848100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平台可运营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50" y="1143000"/>
            <a:ext cx="6134100" cy="3648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73020" y="783272"/>
            <a:ext cx="28682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根据业务实际调整别名、同义词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4905" y="2012378"/>
            <a:ext cx="26638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根据业务需要调整数据优先级</a:t>
            </a:r>
            <a:endParaRPr sz="1550">
              <a:latin typeface="Microsoft YaHei"/>
              <a:cs typeface="Microsoft YaHe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81700" y="2295525"/>
            <a:ext cx="5695950" cy="4086225"/>
            <a:chOff x="5981700" y="2295525"/>
            <a:chExt cx="5695950" cy="4086225"/>
          </a:xfrm>
        </p:grpSpPr>
        <p:sp>
          <p:nvSpPr>
            <p:cNvPr id="11" name="object 11"/>
            <p:cNvSpPr/>
            <p:nvPr/>
          </p:nvSpPr>
          <p:spPr>
            <a:xfrm>
              <a:off x="5981700" y="2295525"/>
              <a:ext cx="5695950" cy="4086225"/>
            </a:xfrm>
            <a:custGeom>
              <a:avLst/>
              <a:gdLst/>
              <a:ahLst/>
              <a:cxnLst/>
              <a:rect l="l" t="t" r="r" b="b"/>
              <a:pathLst>
                <a:path w="5695950" h="4086225">
                  <a:moveTo>
                    <a:pt x="5695950" y="0"/>
                  </a:moveTo>
                  <a:lnTo>
                    <a:pt x="0" y="0"/>
                  </a:lnTo>
                  <a:lnTo>
                    <a:pt x="0" y="4086225"/>
                  </a:lnTo>
                  <a:lnTo>
                    <a:pt x="5695950" y="4086225"/>
                  </a:lnTo>
                  <a:lnTo>
                    <a:pt x="5695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2400300"/>
              <a:ext cx="5476875" cy="3848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6019800"/>
            <a:chOff x="0" y="0"/>
            <a:chExt cx="9144000" cy="601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050" y="1352550"/>
              <a:ext cx="8743950" cy="4667250"/>
            </a:xfrm>
            <a:custGeom>
              <a:avLst/>
              <a:gdLst/>
              <a:ahLst/>
              <a:cxnLst/>
              <a:rect l="l" t="t" r="r" b="b"/>
              <a:pathLst>
                <a:path w="8743950" h="4667250">
                  <a:moveTo>
                    <a:pt x="8743950" y="0"/>
                  </a:moveTo>
                  <a:lnTo>
                    <a:pt x="0" y="0"/>
                  </a:lnTo>
                  <a:lnTo>
                    <a:pt x="0" y="4667250"/>
                  </a:lnTo>
                  <a:lnTo>
                    <a:pt x="8743950" y="4667250"/>
                  </a:lnTo>
                  <a:lnTo>
                    <a:pt x="8743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305925" y="1352550"/>
            <a:ext cx="2647950" cy="4638675"/>
            <a:chOff x="9305925" y="1352550"/>
            <a:chExt cx="2647950" cy="4638675"/>
          </a:xfrm>
        </p:grpSpPr>
        <p:sp>
          <p:nvSpPr>
            <p:cNvPr id="7" name="object 7"/>
            <p:cNvSpPr/>
            <p:nvPr/>
          </p:nvSpPr>
          <p:spPr>
            <a:xfrm>
              <a:off x="9305925" y="1352550"/>
              <a:ext cx="2647950" cy="4638675"/>
            </a:xfrm>
            <a:custGeom>
              <a:avLst/>
              <a:gdLst/>
              <a:ahLst/>
              <a:cxnLst/>
              <a:rect l="l" t="t" r="r" b="b"/>
              <a:pathLst>
                <a:path w="2647950" h="4638675">
                  <a:moveTo>
                    <a:pt x="2647950" y="0"/>
                  </a:moveTo>
                  <a:lnTo>
                    <a:pt x="0" y="0"/>
                  </a:lnTo>
                  <a:lnTo>
                    <a:pt x="0" y="4638675"/>
                  </a:lnTo>
                  <a:lnTo>
                    <a:pt x="2647950" y="4638675"/>
                  </a:lnTo>
                  <a:lnTo>
                    <a:pt x="2647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800" y="1695450"/>
              <a:ext cx="2343150" cy="21050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8800" y="4629150"/>
              <a:ext cx="2400300" cy="105727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平台可运营</a:t>
            </a: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825" y="1457325"/>
            <a:ext cx="8553450" cy="45339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29914" y="1051242"/>
            <a:ext cx="327850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C4AE6"/>
                </a:solidFill>
                <a:latin typeface="Microsoft YaHei"/>
                <a:cs typeface="Microsoft YaHei"/>
              </a:rPr>
              <a:t>问答记录和分析，问答报错自动识别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71583" y="1051242"/>
            <a:ext cx="24676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针对问题的持续优化和反馈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820525" cy="5676900"/>
            <a:chOff x="0" y="0"/>
            <a:chExt cx="11820525" cy="5676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1475" y="1790699"/>
              <a:ext cx="11449050" cy="3886200"/>
            </a:xfrm>
            <a:custGeom>
              <a:avLst/>
              <a:gdLst/>
              <a:ahLst/>
              <a:cxnLst/>
              <a:rect l="l" t="t" r="r" b="b"/>
              <a:pathLst>
                <a:path w="11449050" h="3886200">
                  <a:moveTo>
                    <a:pt x="4124325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4124325" y="3886200"/>
                  </a:lnTo>
                  <a:lnTo>
                    <a:pt x="4124325" y="0"/>
                  </a:lnTo>
                  <a:close/>
                </a:path>
                <a:path w="11449050" h="3886200">
                  <a:moveTo>
                    <a:pt x="11449050" y="0"/>
                  </a:moveTo>
                  <a:lnTo>
                    <a:pt x="4324350" y="0"/>
                  </a:lnTo>
                  <a:lnTo>
                    <a:pt x="4324350" y="3886200"/>
                  </a:lnTo>
                  <a:lnTo>
                    <a:pt x="11449050" y="3886200"/>
                  </a:lnTo>
                  <a:lnTo>
                    <a:pt x="114490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平台可运营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61975" y="1933575"/>
            <a:ext cx="11125200" cy="3619500"/>
            <a:chOff x="561975" y="1933575"/>
            <a:chExt cx="11125200" cy="36195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9650" y="1933575"/>
              <a:ext cx="6867525" cy="3619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75" y="2686050"/>
              <a:ext cx="3752850" cy="21050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04010" y="1485328"/>
            <a:ext cx="1644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用户问数体验反馈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22819" y="1479232"/>
            <a:ext cx="18542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1C4AE6"/>
                </a:solidFill>
                <a:latin typeface="Microsoft YaHei"/>
                <a:cs typeface="Microsoft YaHei"/>
              </a:rPr>
              <a:t>平台持续化运营提升</a:t>
            </a:r>
            <a:endParaRPr sz="155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2144" y="2026270"/>
            <a:ext cx="3202940" cy="179705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6000" spc="-45" dirty="0">
                <a:solidFill>
                  <a:srgbClr val="000000"/>
                </a:solidFill>
              </a:rPr>
              <a:t>PART</a:t>
            </a:r>
            <a:r>
              <a:rPr sz="6000" spc="-375" dirty="0">
                <a:solidFill>
                  <a:srgbClr val="000000"/>
                </a:solidFill>
              </a:rPr>
              <a:t> </a:t>
            </a:r>
            <a:r>
              <a:rPr sz="6000" spc="-25" dirty="0">
                <a:solidFill>
                  <a:srgbClr val="FD7B77"/>
                </a:solidFill>
              </a:rPr>
              <a:t>03</a:t>
            </a:r>
            <a:endParaRPr sz="6000"/>
          </a:p>
          <a:p>
            <a:pPr marL="74295">
              <a:lnSpc>
                <a:spcPct val="100000"/>
              </a:lnSpc>
              <a:spcBef>
                <a:spcPts val="815"/>
              </a:spcBef>
            </a:pPr>
            <a:r>
              <a:rPr sz="3950" dirty="0">
                <a:solidFill>
                  <a:srgbClr val="3623C5"/>
                </a:solidFill>
              </a:rPr>
              <a:t>技术和优势</a:t>
            </a:r>
            <a:endParaRPr sz="3950"/>
          </a:p>
        </p:txBody>
      </p:sp>
      <p:grpSp>
        <p:nvGrpSpPr>
          <p:cNvPr id="5" name="object 5"/>
          <p:cNvGrpSpPr/>
          <p:nvPr/>
        </p:nvGrpSpPr>
        <p:grpSpPr>
          <a:xfrm>
            <a:off x="6562725" y="-6350"/>
            <a:ext cx="5629275" cy="6870700"/>
            <a:chOff x="6562725" y="-6350"/>
            <a:chExt cx="5629275" cy="6870700"/>
          </a:xfrm>
        </p:grpSpPr>
        <p:sp>
          <p:nvSpPr>
            <p:cNvPr id="6" name="object 6"/>
            <p:cNvSpPr/>
            <p:nvPr/>
          </p:nvSpPr>
          <p:spPr>
            <a:xfrm>
              <a:off x="6562725" y="0"/>
              <a:ext cx="5629275" cy="6858000"/>
            </a:xfrm>
            <a:custGeom>
              <a:avLst/>
              <a:gdLst/>
              <a:ahLst/>
              <a:cxnLst/>
              <a:rect l="l" t="t" r="r" b="b"/>
              <a:pathLst>
                <a:path w="5629275" h="6858000">
                  <a:moveTo>
                    <a:pt x="5629275" y="0"/>
                  </a:moveTo>
                  <a:lnTo>
                    <a:pt x="1224922" y="0"/>
                  </a:lnTo>
                  <a:lnTo>
                    <a:pt x="1196611" y="39570"/>
                  </a:lnTo>
                  <a:lnTo>
                    <a:pt x="1167779" y="80528"/>
                  </a:lnTo>
                  <a:lnTo>
                    <a:pt x="1139256" y="121716"/>
                  </a:lnTo>
                  <a:lnTo>
                    <a:pt x="1111042" y="163134"/>
                  </a:lnTo>
                  <a:lnTo>
                    <a:pt x="1083140" y="204779"/>
                  </a:lnTo>
                  <a:lnTo>
                    <a:pt x="1055551" y="246650"/>
                  </a:lnTo>
                  <a:lnTo>
                    <a:pt x="1028276" y="288746"/>
                  </a:lnTo>
                  <a:lnTo>
                    <a:pt x="1001318" y="331064"/>
                  </a:lnTo>
                  <a:lnTo>
                    <a:pt x="974678" y="373603"/>
                  </a:lnTo>
                  <a:lnTo>
                    <a:pt x="948357" y="416362"/>
                  </a:lnTo>
                  <a:lnTo>
                    <a:pt x="922358" y="459337"/>
                  </a:lnTo>
                  <a:lnTo>
                    <a:pt x="896682" y="502529"/>
                  </a:lnTo>
                  <a:lnTo>
                    <a:pt x="871330" y="545935"/>
                  </a:lnTo>
                  <a:lnTo>
                    <a:pt x="846305" y="589554"/>
                  </a:lnTo>
                  <a:lnTo>
                    <a:pt x="821608" y="633383"/>
                  </a:lnTo>
                  <a:lnTo>
                    <a:pt x="797241" y="677422"/>
                  </a:lnTo>
                  <a:lnTo>
                    <a:pt x="773205" y="721668"/>
                  </a:lnTo>
                  <a:lnTo>
                    <a:pt x="749503" y="766120"/>
                  </a:lnTo>
                  <a:lnTo>
                    <a:pt x="726135" y="810776"/>
                  </a:lnTo>
                  <a:lnTo>
                    <a:pt x="703103" y="855635"/>
                  </a:lnTo>
                  <a:lnTo>
                    <a:pt x="680410" y="900694"/>
                  </a:lnTo>
                  <a:lnTo>
                    <a:pt x="658056" y="945953"/>
                  </a:lnTo>
                  <a:lnTo>
                    <a:pt x="636044" y="991409"/>
                  </a:lnTo>
                  <a:lnTo>
                    <a:pt x="614375" y="1037061"/>
                  </a:lnTo>
                  <a:lnTo>
                    <a:pt x="593051" y="1082907"/>
                  </a:lnTo>
                  <a:lnTo>
                    <a:pt x="572073" y="1128946"/>
                  </a:lnTo>
                  <a:lnTo>
                    <a:pt x="551444" y="1175175"/>
                  </a:lnTo>
                  <a:lnTo>
                    <a:pt x="531164" y="1221594"/>
                  </a:lnTo>
                  <a:lnTo>
                    <a:pt x="511236" y="1268200"/>
                  </a:lnTo>
                  <a:lnTo>
                    <a:pt x="491661" y="1314991"/>
                  </a:lnTo>
                  <a:lnTo>
                    <a:pt x="472441" y="1361967"/>
                  </a:lnTo>
                  <a:lnTo>
                    <a:pt x="453577" y="1409125"/>
                  </a:lnTo>
                  <a:lnTo>
                    <a:pt x="435072" y="1456464"/>
                  </a:lnTo>
                  <a:lnTo>
                    <a:pt x="416926" y="1503982"/>
                  </a:lnTo>
                  <a:lnTo>
                    <a:pt x="399142" y="1551677"/>
                  </a:lnTo>
                  <a:lnTo>
                    <a:pt x="381722" y="1599548"/>
                  </a:lnTo>
                  <a:lnTo>
                    <a:pt x="364666" y="1647594"/>
                  </a:lnTo>
                  <a:lnTo>
                    <a:pt x="347976" y="1695811"/>
                  </a:lnTo>
                  <a:lnTo>
                    <a:pt x="331655" y="1744199"/>
                  </a:lnTo>
                  <a:lnTo>
                    <a:pt x="315704" y="1792756"/>
                  </a:lnTo>
                  <a:lnTo>
                    <a:pt x="300125" y="1841481"/>
                  </a:lnTo>
                  <a:lnTo>
                    <a:pt x="284919" y="1890371"/>
                  </a:lnTo>
                  <a:lnTo>
                    <a:pt x="270087" y="1939425"/>
                  </a:lnTo>
                  <a:lnTo>
                    <a:pt x="255633" y="1988642"/>
                  </a:lnTo>
                  <a:lnTo>
                    <a:pt x="241556" y="2038019"/>
                  </a:lnTo>
                  <a:lnTo>
                    <a:pt x="227860" y="2087555"/>
                  </a:lnTo>
                  <a:lnTo>
                    <a:pt x="214545" y="2137249"/>
                  </a:lnTo>
                  <a:lnTo>
                    <a:pt x="201614" y="2187098"/>
                  </a:lnTo>
                  <a:lnTo>
                    <a:pt x="189067" y="2237101"/>
                  </a:lnTo>
                  <a:lnTo>
                    <a:pt x="176907" y="2287256"/>
                  </a:lnTo>
                  <a:lnTo>
                    <a:pt x="165136" y="2337562"/>
                  </a:lnTo>
                  <a:lnTo>
                    <a:pt x="153755" y="2388017"/>
                  </a:lnTo>
                  <a:lnTo>
                    <a:pt x="142765" y="2438619"/>
                  </a:lnTo>
                  <a:lnTo>
                    <a:pt x="132169" y="2489366"/>
                  </a:lnTo>
                  <a:lnTo>
                    <a:pt x="121967" y="2540258"/>
                  </a:lnTo>
                  <a:lnTo>
                    <a:pt x="112163" y="2591292"/>
                  </a:lnTo>
                  <a:lnTo>
                    <a:pt x="102756" y="2642466"/>
                  </a:lnTo>
                  <a:lnTo>
                    <a:pt x="93750" y="2693779"/>
                  </a:lnTo>
                  <a:lnTo>
                    <a:pt x="85146" y="2745230"/>
                  </a:lnTo>
                  <a:lnTo>
                    <a:pt x="76945" y="2796816"/>
                  </a:lnTo>
                  <a:lnTo>
                    <a:pt x="69149" y="2848536"/>
                  </a:lnTo>
                  <a:lnTo>
                    <a:pt x="61760" y="2900388"/>
                  </a:lnTo>
                  <a:lnTo>
                    <a:pt x="54779" y="2952370"/>
                  </a:lnTo>
                  <a:lnTo>
                    <a:pt x="48208" y="3004482"/>
                  </a:lnTo>
                  <a:lnTo>
                    <a:pt x="42049" y="3056720"/>
                  </a:lnTo>
                  <a:lnTo>
                    <a:pt x="36304" y="3109084"/>
                  </a:lnTo>
                  <a:lnTo>
                    <a:pt x="30974" y="3161572"/>
                  </a:lnTo>
                  <a:lnTo>
                    <a:pt x="26060" y="3214182"/>
                  </a:lnTo>
                  <a:lnTo>
                    <a:pt x="21565" y="3266913"/>
                  </a:lnTo>
                  <a:lnTo>
                    <a:pt x="17490" y="3319762"/>
                  </a:lnTo>
                  <a:lnTo>
                    <a:pt x="13837" y="3372728"/>
                  </a:lnTo>
                  <a:lnTo>
                    <a:pt x="10608" y="3425810"/>
                  </a:lnTo>
                  <a:lnTo>
                    <a:pt x="7803" y="3479006"/>
                  </a:lnTo>
                  <a:lnTo>
                    <a:pt x="5426" y="3532313"/>
                  </a:lnTo>
                  <a:lnTo>
                    <a:pt x="3477" y="3585731"/>
                  </a:lnTo>
                  <a:lnTo>
                    <a:pt x="1958" y="3639258"/>
                  </a:lnTo>
                  <a:lnTo>
                    <a:pt x="871" y="3692892"/>
                  </a:lnTo>
                  <a:lnTo>
                    <a:pt x="218" y="3746631"/>
                  </a:lnTo>
                  <a:lnTo>
                    <a:pt x="0" y="3800475"/>
                  </a:lnTo>
                  <a:lnTo>
                    <a:pt x="218" y="3854317"/>
                  </a:lnTo>
                  <a:lnTo>
                    <a:pt x="871" y="3908056"/>
                  </a:lnTo>
                  <a:lnTo>
                    <a:pt x="1958" y="3961690"/>
                  </a:lnTo>
                  <a:lnTo>
                    <a:pt x="3477" y="4015216"/>
                  </a:lnTo>
                  <a:lnTo>
                    <a:pt x="5426" y="4068634"/>
                  </a:lnTo>
                  <a:lnTo>
                    <a:pt x="7803" y="4121941"/>
                  </a:lnTo>
                  <a:lnTo>
                    <a:pt x="10608" y="4175137"/>
                  </a:lnTo>
                  <a:lnTo>
                    <a:pt x="13837" y="4228218"/>
                  </a:lnTo>
                  <a:lnTo>
                    <a:pt x="17490" y="4281184"/>
                  </a:lnTo>
                  <a:lnTo>
                    <a:pt x="21565" y="4334033"/>
                  </a:lnTo>
                  <a:lnTo>
                    <a:pt x="26060" y="4386763"/>
                  </a:lnTo>
                  <a:lnTo>
                    <a:pt x="30974" y="4439373"/>
                  </a:lnTo>
                  <a:lnTo>
                    <a:pt x="36304" y="4491860"/>
                  </a:lnTo>
                  <a:lnTo>
                    <a:pt x="42049" y="4544224"/>
                  </a:lnTo>
                  <a:lnTo>
                    <a:pt x="48208" y="4596462"/>
                  </a:lnTo>
                  <a:lnTo>
                    <a:pt x="54779" y="4648574"/>
                  </a:lnTo>
                  <a:lnTo>
                    <a:pt x="61760" y="4700556"/>
                  </a:lnTo>
                  <a:lnTo>
                    <a:pt x="69149" y="4752408"/>
                  </a:lnTo>
                  <a:lnTo>
                    <a:pt x="76945" y="4804127"/>
                  </a:lnTo>
                  <a:lnTo>
                    <a:pt x="85146" y="4855713"/>
                  </a:lnTo>
                  <a:lnTo>
                    <a:pt x="93750" y="4907163"/>
                  </a:lnTo>
                  <a:lnTo>
                    <a:pt x="102756" y="4958476"/>
                  </a:lnTo>
                  <a:lnTo>
                    <a:pt x="112163" y="5009650"/>
                  </a:lnTo>
                  <a:lnTo>
                    <a:pt x="121967" y="5060684"/>
                  </a:lnTo>
                  <a:lnTo>
                    <a:pt x="132169" y="5111575"/>
                  </a:lnTo>
                  <a:lnTo>
                    <a:pt x="142765" y="5162323"/>
                  </a:lnTo>
                  <a:lnTo>
                    <a:pt x="153755" y="5212925"/>
                  </a:lnTo>
                  <a:lnTo>
                    <a:pt x="165136" y="5263379"/>
                  </a:lnTo>
                  <a:lnTo>
                    <a:pt x="176907" y="5313685"/>
                  </a:lnTo>
                  <a:lnTo>
                    <a:pt x="189067" y="5363840"/>
                  </a:lnTo>
                  <a:lnTo>
                    <a:pt x="201614" y="5413843"/>
                  </a:lnTo>
                  <a:lnTo>
                    <a:pt x="214545" y="5463692"/>
                  </a:lnTo>
                  <a:lnTo>
                    <a:pt x="227860" y="5513385"/>
                  </a:lnTo>
                  <a:lnTo>
                    <a:pt x="241556" y="5562921"/>
                  </a:lnTo>
                  <a:lnTo>
                    <a:pt x="255633" y="5612298"/>
                  </a:lnTo>
                  <a:lnTo>
                    <a:pt x="270087" y="5661514"/>
                  </a:lnTo>
                  <a:lnTo>
                    <a:pt x="284919" y="5710569"/>
                  </a:lnTo>
                  <a:lnTo>
                    <a:pt x="300125" y="5759459"/>
                  </a:lnTo>
                  <a:lnTo>
                    <a:pt x="315704" y="5808183"/>
                  </a:lnTo>
                  <a:lnTo>
                    <a:pt x="331655" y="5856740"/>
                  </a:lnTo>
                  <a:lnTo>
                    <a:pt x="347976" y="5905128"/>
                  </a:lnTo>
                  <a:lnTo>
                    <a:pt x="364666" y="5953345"/>
                  </a:lnTo>
                  <a:lnTo>
                    <a:pt x="381722" y="6001390"/>
                  </a:lnTo>
                  <a:lnTo>
                    <a:pt x="399142" y="6049261"/>
                  </a:lnTo>
                  <a:lnTo>
                    <a:pt x="416926" y="6096957"/>
                  </a:lnTo>
                  <a:lnTo>
                    <a:pt x="435072" y="6144475"/>
                  </a:lnTo>
                  <a:lnTo>
                    <a:pt x="453577" y="6191813"/>
                  </a:lnTo>
                  <a:lnTo>
                    <a:pt x="472441" y="6238971"/>
                  </a:lnTo>
                  <a:lnTo>
                    <a:pt x="491661" y="6285947"/>
                  </a:lnTo>
                  <a:lnTo>
                    <a:pt x="511236" y="6332739"/>
                  </a:lnTo>
                  <a:lnTo>
                    <a:pt x="531164" y="6379344"/>
                  </a:lnTo>
                  <a:lnTo>
                    <a:pt x="551444" y="6425763"/>
                  </a:lnTo>
                  <a:lnTo>
                    <a:pt x="572073" y="6471992"/>
                  </a:lnTo>
                  <a:lnTo>
                    <a:pt x="593051" y="6518031"/>
                  </a:lnTo>
                  <a:lnTo>
                    <a:pt x="614375" y="6563877"/>
                  </a:lnTo>
                  <a:lnTo>
                    <a:pt x="636044" y="6609529"/>
                  </a:lnTo>
                  <a:lnTo>
                    <a:pt x="658056" y="6654985"/>
                  </a:lnTo>
                  <a:lnTo>
                    <a:pt x="680410" y="6700243"/>
                  </a:lnTo>
                  <a:lnTo>
                    <a:pt x="703103" y="6745303"/>
                  </a:lnTo>
                  <a:lnTo>
                    <a:pt x="726135" y="6790162"/>
                  </a:lnTo>
                  <a:lnTo>
                    <a:pt x="749503" y="6834818"/>
                  </a:lnTo>
                  <a:lnTo>
                    <a:pt x="761864" y="6858000"/>
                  </a:lnTo>
                  <a:lnTo>
                    <a:pt x="5629275" y="6858000"/>
                  </a:lnTo>
                  <a:lnTo>
                    <a:pt x="5629275" y="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3751" y="0"/>
              <a:ext cx="5548630" cy="6858000"/>
            </a:xfrm>
            <a:custGeom>
              <a:avLst/>
              <a:gdLst/>
              <a:ahLst/>
              <a:cxnLst/>
              <a:rect l="l" t="t" r="r" b="b"/>
              <a:pathLst>
                <a:path w="5548630" h="6858000">
                  <a:moveTo>
                    <a:pt x="5548249" y="0"/>
                  </a:moveTo>
                  <a:lnTo>
                    <a:pt x="1229269" y="0"/>
                  </a:lnTo>
                  <a:lnTo>
                    <a:pt x="1226649" y="3599"/>
                  </a:lnTo>
                  <a:lnTo>
                    <a:pt x="1197490" y="44324"/>
                  </a:lnTo>
                  <a:lnTo>
                    <a:pt x="1168638" y="85282"/>
                  </a:lnTo>
                  <a:lnTo>
                    <a:pt x="1140094" y="126471"/>
                  </a:lnTo>
                  <a:lnTo>
                    <a:pt x="1111859" y="167889"/>
                  </a:lnTo>
                  <a:lnTo>
                    <a:pt x="1083937" y="209534"/>
                  </a:lnTo>
                  <a:lnTo>
                    <a:pt x="1056327" y="251405"/>
                  </a:lnTo>
                  <a:lnTo>
                    <a:pt x="1029033" y="293501"/>
                  </a:lnTo>
                  <a:lnTo>
                    <a:pt x="1002055" y="335819"/>
                  </a:lnTo>
                  <a:lnTo>
                    <a:pt x="975395" y="378359"/>
                  </a:lnTo>
                  <a:lnTo>
                    <a:pt x="949055" y="421117"/>
                  </a:lnTo>
                  <a:lnTo>
                    <a:pt x="923037" y="464093"/>
                  </a:lnTo>
                  <a:lnTo>
                    <a:pt x="897342" y="507285"/>
                  </a:lnTo>
                  <a:lnTo>
                    <a:pt x="871972" y="550691"/>
                  </a:lnTo>
                  <a:lnTo>
                    <a:pt x="846928" y="594309"/>
                  </a:lnTo>
                  <a:lnTo>
                    <a:pt x="822213" y="638139"/>
                  </a:lnTo>
                  <a:lnTo>
                    <a:pt x="797828" y="682177"/>
                  </a:lnTo>
                  <a:lnTo>
                    <a:pt x="773775" y="726423"/>
                  </a:lnTo>
                  <a:lnTo>
                    <a:pt x="750055" y="770875"/>
                  </a:lnTo>
                  <a:lnTo>
                    <a:pt x="726670" y="815531"/>
                  </a:lnTo>
                  <a:lnTo>
                    <a:pt x="703621" y="860390"/>
                  </a:lnTo>
                  <a:lnTo>
                    <a:pt x="680911" y="905449"/>
                  </a:lnTo>
                  <a:lnTo>
                    <a:pt x="658541" y="950708"/>
                  </a:lnTo>
                  <a:lnTo>
                    <a:pt x="636513" y="996164"/>
                  </a:lnTo>
                  <a:lnTo>
                    <a:pt x="614828" y="1041815"/>
                  </a:lnTo>
                  <a:lnTo>
                    <a:pt x="593488" y="1087661"/>
                  </a:lnTo>
                  <a:lnTo>
                    <a:pt x="572495" y="1133700"/>
                  </a:lnTo>
                  <a:lnTo>
                    <a:pt x="551850" y="1179929"/>
                  </a:lnTo>
                  <a:lnTo>
                    <a:pt x="531556" y="1226347"/>
                  </a:lnTo>
                  <a:lnTo>
                    <a:pt x="511613" y="1272952"/>
                  </a:lnTo>
                  <a:lnTo>
                    <a:pt x="492024" y="1319744"/>
                  </a:lnTo>
                  <a:lnTo>
                    <a:pt x="472789" y="1366719"/>
                  </a:lnTo>
                  <a:lnTo>
                    <a:pt x="453912" y="1413877"/>
                  </a:lnTo>
                  <a:lnTo>
                    <a:pt x="435393" y="1461215"/>
                  </a:lnTo>
                  <a:lnTo>
                    <a:pt x="417234" y="1508733"/>
                  </a:lnTo>
                  <a:lnTo>
                    <a:pt x="399437" y="1556427"/>
                  </a:lnTo>
                  <a:lnTo>
                    <a:pt x="382003" y="1604298"/>
                  </a:lnTo>
                  <a:lnTo>
                    <a:pt x="364935" y="1652343"/>
                  </a:lnTo>
                  <a:lnTo>
                    <a:pt x="348233" y="1700559"/>
                  </a:lnTo>
                  <a:lnTo>
                    <a:pt x="331900" y="1748947"/>
                  </a:lnTo>
                  <a:lnTo>
                    <a:pt x="315937" y="1797504"/>
                  </a:lnTo>
                  <a:lnTo>
                    <a:pt x="300346" y="1846227"/>
                  </a:lnTo>
                  <a:lnTo>
                    <a:pt x="285129" y="1895117"/>
                  </a:lnTo>
                  <a:lnTo>
                    <a:pt x="270287" y="1944170"/>
                  </a:lnTo>
                  <a:lnTo>
                    <a:pt x="255821" y="1993386"/>
                  </a:lnTo>
                  <a:lnTo>
                    <a:pt x="241735" y="2042763"/>
                  </a:lnTo>
                  <a:lnTo>
                    <a:pt x="228028" y="2092298"/>
                  </a:lnTo>
                  <a:lnTo>
                    <a:pt x="214704" y="2141991"/>
                  </a:lnTo>
                  <a:lnTo>
                    <a:pt x="201763" y="2191839"/>
                  </a:lnTo>
                  <a:lnTo>
                    <a:pt x="189207" y="2241841"/>
                  </a:lnTo>
                  <a:lnTo>
                    <a:pt x="177038" y="2291995"/>
                  </a:lnTo>
                  <a:lnTo>
                    <a:pt x="165258" y="2342300"/>
                  </a:lnTo>
                  <a:lnTo>
                    <a:pt x="153868" y="2392754"/>
                  </a:lnTo>
                  <a:lnTo>
                    <a:pt x="142870" y="2443355"/>
                  </a:lnTo>
                  <a:lnTo>
                    <a:pt x="132266" y="2494102"/>
                  </a:lnTo>
                  <a:lnTo>
                    <a:pt x="122057" y="2544992"/>
                  </a:lnTo>
                  <a:lnTo>
                    <a:pt x="112246" y="2596025"/>
                  </a:lnTo>
                  <a:lnTo>
                    <a:pt x="102832" y="2647198"/>
                  </a:lnTo>
                  <a:lnTo>
                    <a:pt x="93820" y="2698510"/>
                  </a:lnTo>
                  <a:lnTo>
                    <a:pt x="85209" y="2749960"/>
                  </a:lnTo>
                  <a:lnTo>
                    <a:pt x="77002" y="2801544"/>
                  </a:lnTo>
                  <a:lnTo>
                    <a:pt x="69200" y="2853263"/>
                  </a:lnTo>
                  <a:lnTo>
                    <a:pt x="61805" y="2905114"/>
                  </a:lnTo>
                  <a:lnTo>
                    <a:pt x="54819" y="2957095"/>
                  </a:lnTo>
                  <a:lnTo>
                    <a:pt x="48244" y="3009205"/>
                  </a:lnTo>
                  <a:lnTo>
                    <a:pt x="42080" y="3061442"/>
                  </a:lnTo>
                  <a:lnTo>
                    <a:pt x="36331" y="3113805"/>
                  </a:lnTo>
                  <a:lnTo>
                    <a:pt x="30997" y="3166291"/>
                  </a:lnTo>
                  <a:lnTo>
                    <a:pt x="26079" y="3218900"/>
                  </a:lnTo>
                  <a:lnTo>
                    <a:pt x="21581" y="3271629"/>
                  </a:lnTo>
                  <a:lnTo>
                    <a:pt x="17503" y="3324476"/>
                  </a:lnTo>
                  <a:lnTo>
                    <a:pt x="13847" y="3377441"/>
                  </a:lnTo>
                  <a:lnTo>
                    <a:pt x="10616" y="3430521"/>
                  </a:lnTo>
                  <a:lnTo>
                    <a:pt x="7809" y="3483715"/>
                  </a:lnTo>
                  <a:lnTo>
                    <a:pt x="5430" y="3537021"/>
                  </a:lnTo>
                  <a:lnTo>
                    <a:pt x="3479" y="3590438"/>
                  </a:lnTo>
                  <a:lnTo>
                    <a:pt x="1959" y="3643963"/>
                  </a:lnTo>
                  <a:lnTo>
                    <a:pt x="872" y="3697595"/>
                  </a:lnTo>
                  <a:lnTo>
                    <a:pt x="218" y="3751332"/>
                  </a:lnTo>
                  <a:lnTo>
                    <a:pt x="0" y="3805174"/>
                  </a:lnTo>
                  <a:lnTo>
                    <a:pt x="218" y="3859017"/>
                  </a:lnTo>
                  <a:lnTo>
                    <a:pt x="872" y="3912757"/>
                  </a:lnTo>
                  <a:lnTo>
                    <a:pt x="1959" y="3966391"/>
                  </a:lnTo>
                  <a:lnTo>
                    <a:pt x="3479" y="4019919"/>
                  </a:lnTo>
                  <a:lnTo>
                    <a:pt x="5430" y="4073337"/>
                  </a:lnTo>
                  <a:lnTo>
                    <a:pt x="7809" y="4126646"/>
                  </a:lnTo>
                  <a:lnTo>
                    <a:pt x="10616" y="4179842"/>
                  </a:lnTo>
                  <a:lnTo>
                    <a:pt x="13847" y="4232924"/>
                  </a:lnTo>
                  <a:lnTo>
                    <a:pt x="17503" y="4285891"/>
                  </a:lnTo>
                  <a:lnTo>
                    <a:pt x="21581" y="4338741"/>
                  </a:lnTo>
                  <a:lnTo>
                    <a:pt x="26079" y="4391472"/>
                  </a:lnTo>
                  <a:lnTo>
                    <a:pt x="30997" y="4444082"/>
                  </a:lnTo>
                  <a:lnTo>
                    <a:pt x="36331" y="4496570"/>
                  </a:lnTo>
                  <a:lnTo>
                    <a:pt x="42080" y="4548935"/>
                  </a:lnTo>
                  <a:lnTo>
                    <a:pt x="48244" y="4601174"/>
                  </a:lnTo>
                  <a:lnTo>
                    <a:pt x="54819" y="4653285"/>
                  </a:lnTo>
                  <a:lnTo>
                    <a:pt x="61805" y="4705268"/>
                  </a:lnTo>
                  <a:lnTo>
                    <a:pt x="69200" y="4757121"/>
                  </a:lnTo>
                  <a:lnTo>
                    <a:pt x="77002" y="4808841"/>
                  </a:lnTo>
                  <a:lnTo>
                    <a:pt x="85209" y="4860427"/>
                  </a:lnTo>
                  <a:lnTo>
                    <a:pt x="93820" y="4911878"/>
                  </a:lnTo>
                  <a:lnTo>
                    <a:pt x="102832" y="4963192"/>
                  </a:lnTo>
                  <a:lnTo>
                    <a:pt x="112246" y="5014366"/>
                  </a:lnTo>
                  <a:lnTo>
                    <a:pt x="122057" y="5065401"/>
                  </a:lnTo>
                  <a:lnTo>
                    <a:pt x="132266" y="5116293"/>
                  </a:lnTo>
                  <a:lnTo>
                    <a:pt x="142870" y="5167040"/>
                  </a:lnTo>
                  <a:lnTo>
                    <a:pt x="153868" y="5217643"/>
                  </a:lnTo>
                  <a:lnTo>
                    <a:pt x="165258" y="5268098"/>
                  </a:lnTo>
                  <a:lnTo>
                    <a:pt x="177038" y="5318404"/>
                  </a:lnTo>
                  <a:lnTo>
                    <a:pt x="189207" y="5368560"/>
                  </a:lnTo>
                  <a:lnTo>
                    <a:pt x="201763" y="5418563"/>
                  </a:lnTo>
                  <a:lnTo>
                    <a:pt x="214704" y="5468412"/>
                  </a:lnTo>
                  <a:lnTo>
                    <a:pt x="228028" y="5518106"/>
                  </a:lnTo>
                  <a:lnTo>
                    <a:pt x="241735" y="5567642"/>
                  </a:lnTo>
                  <a:lnTo>
                    <a:pt x="255821" y="5617020"/>
                  </a:lnTo>
                  <a:lnTo>
                    <a:pt x="270287" y="5666237"/>
                  </a:lnTo>
                  <a:lnTo>
                    <a:pt x="285129" y="5715291"/>
                  </a:lnTo>
                  <a:lnTo>
                    <a:pt x="300346" y="5764181"/>
                  </a:lnTo>
                  <a:lnTo>
                    <a:pt x="315937" y="5812906"/>
                  </a:lnTo>
                  <a:lnTo>
                    <a:pt x="331900" y="5861463"/>
                  </a:lnTo>
                  <a:lnTo>
                    <a:pt x="348233" y="5909852"/>
                  </a:lnTo>
                  <a:lnTo>
                    <a:pt x="364935" y="5958069"/>
                  </a:lnTo>
                  <a:lnTo>
                    <a:pt x="382003" y="6006115"/>
                  </a:lnTo>
                  <a:lnTo>
                    <a:pt x="399437" y="6053986"/>
                  </a:lnTo>
                  <a:lnTo>
                    <a:pt x="417234" y="6101681"/>
                  </a:lnTo>
                  <a:lnTo>
                    <a:pt x="435393" y="6149199"/>
                  </a:lnTo>
                  <a:lnTo>
                    <a:pt x="453912" y="6196539"/>
                  </a:lnTo>
                  <a:lnTo>
                    <a:pt x="472789" y="6243697"/>
                  </a:lnTo>
                  <a:lnTo>
                    <a:pt x="492024" y="6290673"/>
                  </a:lnTo>
                  <a:lnTo>
                    <a:pt x="511613" y="6337464"/>
                  </a:lnTo>
                  <a:lnTo>
                    <a:pt x="531556" y="6384070"/>
                  </a:lnTo>
                  <a:lnTo>
                    <a:pt x="551850" y="6430489"/>
                  </a:lnTo>
                  <a:lnTo>
                    <a:pt x="572495" y="6476718"/>
                  </a:lnTo>
                  <a:lnTo>
                    <a:pt x="593488" y="6522757"/>
                  </a:lnTo>
                  <a:lnTo>
                    <a:pt x="614828" y="6568603"/>
                  </a:lnTo>
                  <a:lnTo>
                    <a:pt x="636513" y="6614255"/>
                  </a:lnTo>
                  <a:lnTo>
                    <a:pt x="658541" y="6659711"/>
                  </a:lnTo>
                  <a:lnTo>
                    <a:pt x="680911" y="6704970"/>
                  </a:lnTo>
                  <a:lnTo>
                    <a:pt x="703621" y="6750030"/>
                  </a:lnTo>
                  <a:lnTo>
                    <a:pt x="726670" y="6794889"/>
                  </a:lnTo>
                  <a:lnTo>
                    <a:pt x="750055" y="6839545"/>
                  </a:lnTo>
                  <a:lnTo>
                    <a:pt x="759902" y="6858000"/>
                  </a:lnTo>
                  <a:lnTo>
                    <a:pt x="5548249" y="6858000"/>
                  </a:lnTo>
                  <a:lnTo>
                    <a:pt x="5548249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3751" y="0"/>
              <a:ext cx="1229360" cy="6858000"/>
            </a:xfrm>
            <a:custGeom>
              <a:avLst/>
              <a:gdLst/>
              <a:ahLst/>
              <a:cxnLst/>
              <a:rect l="l" t="t" r="r" b="b"/>
              <a:pathLst>
                <a:path w="1229359" h="6858000">
                  <a:moveTo>
                    <a:pt x="759902" y="6858000"/>
                  </a:moveTo>
                  <a:lnTo>
                    <a:pt x="726670" y="6794889"/>
                  </a:lnTo>
                  <a:lnTo>
                    <a:pt x="703621" y="6750030"/>
                  </a:lnTo>
                  <a:lnTo>
                    <a:pt x="680911" y="6704970"/>
                  </a:lnTo>
                  <a:lnTo>
                    <a:pt x="658541" y="6659711"/>
                  </a:lnTo>
                  <a:lnTo>
                    <a:pt x="636513" y="6614255"/>
                  </a:lnTo>
                  <a:lnTo>
                    <a:pt x="614828" y="6568603"/>
                  </a:lnTo>
                  <a:lnTo>
                    <a:pt x="593488" y="6522757"/>
                  </a:lnTo>
                  <a:lnTo>
                    <a:pt x="572495" y="6476718"/>
                  </a:lnTo>
                  <a:lnTo>
                    <a:pt x="551850" y="6430489"/>
                  </a:lnTo>
                  <a:lnTo>
                    <a:pt x="531556" y="6384070"/>
                  </a:lnTo>
                  <a:lnTo>
                    <a:pt x="511613" y="6337464"/>
                  </a:lnTo>
                  <a:lnTo>
                    <a:pt x="492024" y="6290673"/>
                  </a:lnTo>
                  <a:lnTo>
                    <a:pt x="472789" y="6243697"/>
                  </a:lnTo>
                  <a:lnTo>
                    <a:pt x="453912" y="6196539"/>
                  </a:lnTo>
                  <a:lnTo>
                    <a:pt x="435393" y="6149199"/>
                  </a:lnTo>
                  <a:lnTo>
                    <a:pt x="417234" y="6101681"/>
                  </a:lnTo>
                  <a:lnTo>
                    <a:pt x="399437" y="6053986"/>
                  </a:lnTo>
                  <a:lnTo>
                    <a:pt x="382003" y="6006115"/>
                  </a:lnTo>
                  <a:lnTo>
                    <a:pt x="364935" y="5958069"/>
                  </a:lnTo>
                  <a:lnTo>
                    <a:pt x="348233" y="5909852"/>
                  </a:lnTo>
                  <a:lnTo>
                    <a:pt x="331900" y="5861463"/>
                  </a:lnTo>
                  <a:lnTo>
                    <a:pt x="315937" y="5812906"/>
                  </a:lnTo>
                  <a:lnTo>
                    <a:pt x="300346" y="5764181"/>
                  </a:lnTo>
                  <a:lnTo>
                    <a:pt x="285129" y="5715291"/>
                  </a:lnTo>
                  <a:lnTo>
                    <a:pt x="270287" y="5666237"/>
                  </a:lnTo>
                  <a:lnTo>
                    <a:pt x="255821" y="5617020"/>
                  </a:lnTo>
                  <a:lnTo>
                    <a:pt x="241735" y="5567642"/>
                  </a:lnTo>
                  <a:lnTo>
                    <a:pt x="228028" y="5518106"/>
                  </a:lnTo>
                  <a:lnTo>
                    <a:pt x="214704" y="5468412"/>
                  </a:lnTo>
                  <a:lnTo>
                    <a:pt x="201763" y="5418563"/>
                  </a:lnTo>
                  <a:lnTo>
                    <a:pt x="189207" y="5368560"/>
                  </a:lnTo>
                  <a:lnTo>
                    <a:pt x="177038" y="5318404"/>
                  </a:lnTo>
                  <a:lnTo>
                    <a:pt x="165258" y="5268098"/>
                  </a:lnTo>
                  <a:lnTo>
                    <a:pt x="153868" y="5217643"/>
                  </a:lnTo>
                  <a:lnTo>
                    <a:pt x="142870" y="5167040"/>
                  </a:lnTo>
                  <a:lnTo>
                    <a:pt x="132266" y="5116293"/>
                  </a:lnTo>
                  <a:lnTo>
                    <a:pt x="122057" y="5065401"/>
                  </a:lnTo>
                  <a:lnTo>
                    <a:pt x="112246" y="5014366"/>
                  </a:lnTo>
                  <a:lnTo>
                    <a:pt x="102832" y="4963192"/>
                  </a:lnTo>
                  <a:lnTo>
                    <a:pt x="93820" y="4911878"/>
                  </a:lnTo>
                  <a:lnTo>
                    <a:pt x="85209" y="4860427"/>
                  </a:lnTo>
                  <a:lnTo>
                    <a:pt x="77002" y="4808841"/>
                  </a:lnTo>
                  <a:lnTo>
                    <a:pt x="69200" y="4757121"/>
                  </a:lnTo>
                  <a:lnTo>
                    <a:pt x="61805" y="4705268"/>
                  </a:lnTo>
                  <a:lnTo>
                    <a:pt x="54819" y="4653285"/>
                  </a:lnTo>
                  <a:lnTo>
                    <a:pt x="48244" y="4601174"/>
                  </a:lnTo>
                  <a:lnTo>
                    <a:pt x="42080" y="4548935"/>
                  </a:lnTo>
                  <a:lnTo>
                    <a:pt x="36331" y="4496570"/>
                  </a:lnTo>
                  <a:lnTo>
                    <a:pt x="30997" y="4444082"/>
                  </a:lnTo>
                  <a:lnTo>
                    <a:pt x="26079" y="4391472"/>
                  </a:lnTo>
                  <a:lnTo>
                    <a:pt x="21581" y="4338741"/>
                  </a:lnTo>
                  <a:lnTo>
                    <a:pt x="17503" y="4285891"/>
                  </a:lnTo>
                  <a:lnTo>
                    <a:pt x="13847" y="4232924"/>
                  </a:lnTo>
                  <a:lnTo>
                    <a:pt x="10616" y="4179842"/>
                  </a:lnTo>
                  <a:lnTo>
                    <a:pt x="7809" y="4126646"/>
                  </a:lnTo>
                  <a:lnTo>
                    <a:pt x="5430" y="4073337"/>
                  </a:lnTo>
                  <a:lnTo>
                    <a:pt x="3479" y="4019919"/>
                  </a:lnTo>
                  <a:lnTo>
                    <a:pt x="1959" y="3966391"/>
                  </a:lnTo>
                  <a:lnTo>
                    <a:pt x="872" y="3912757"/>
                  </a:lnTo>
                  <a:lnTo>
                    <a:pt x="218" y="3859017"/>
                  </a:lnTo>
                  <a:lnTo>
                    <a:pt x="0" y="3805174"/>
                  </a:lnTo>
                  <a:lnTo>
                    <a:pt x="218" y="3751332"/>
                  </a:lnTo>
                  <a:lnTo>
                    <a:pt x="872" y="3697595"/>
                  </a:lnTo>
                  <a:lnTo>
                    <a:pt x="1959" y="3643963"/>
                  </a:lnTo>
                  <a:lnTo>
                    <a:pt x="3479" y="3590438"/>
                  </a:lnTo>
                  <a:lnTo>
                    <a:pt x="5430" y="3537021"/>
                  </a:lnTo>
                  <a:lnTo>
                    <a:pt x="7809" y="3483715"/>
                  </a:lnTo>
                  <a:lnTo>
                    <a:pt x="10616" y="3430521"/>
                  </a:lnTo>
                  <a:lnTo>
                    <a:pt x="13847" y="3377441"/>
                  </a:lnTo>
                  <a:lnTo>
                    <a:pt x="17503" y="3324476"/>
                  </a:lnTo>
                  <a:lnTo>
                    <a:pt x="21581" y="3271629"/>
                  </a:lnTo>
                  <a:lnTo>
                    <a:pt x="26079" y="3218900"/>
                  </a:lnTo>
                  <a:lnTo>
                    <a:pt x="30997" y="3166291"/>
                  </a:lnTo>
                  <a:lnTo>
                    <a:pt x="36331" y="3113805"/>
                  </a:lnTo>
                  <a:lnTo>
                    <a:pt x="42080" y="3061442"/>
                  </a:lnTo>
                  <a:lnTo>
                    <a:pt x="48244" y="3009205"/>
                  </a:lnTo>
                  <a:lnTo>
                    <a:pt x="54819" y="2957095"/>
                  </a:lnTo>
                  <a:lnTo>
                    <a:pt x="61805" y="2905114"/>
                  </a:lnTo>
                  <a:lnTo>
                    <a:pt x="69200" y="2853263"/>
                  </a:lnTo>
                  <a:lnTo>
                    <a:pt x="77002" y="2801544"/>
                  </a:lnTo>
                  <a:lnTo>
                    <a:pt x="85209" y="2749960"/>
                  </a:lnTo>
                  <a:lnTo>
                    <a:pt x="93820" y="2698510"/>
                  </a:lnTo>
                  <a:lnTo>
                    <a:pt x="102832" y="2647198"/>
                  </a:lnTo>
                  <a:lnTo>
                    <a:pt x="112246" y="2596025"/>
                  </a:lnTo>
                  <a:lnTo>
                    <a:pt x="122057" y="2544992"/>
                  </a:lnTo>
                  <a:lnTo>
                    <a:pt x="132266" y="2494102"/>
                  </a:lnTo>
                  <a:lnTo>
                    <a:pt x="142870" y="2443355"/>
                  </a:lnTo>
                  <a:lnTo>
                    <a:pt x="153868" y="2392754"/>
                  </a:lnTo>
                  <a:lnTo>
                    <a:pt x="165258" y="2342300"/>
                  </a:lnTo>
                  <a:lnTo>
                    <a:pt x="177038" y="2291995"/>
                  </a:lnTo>
                  <a:lnTo>
                    <a:pt x="189207" y="2241841"/>
                  </a:lnTo>
                  <a:lnTo>
                    <a:pt x="201763" y="2191839"/>
                  </a:lnTo>
                  <a:lnTo>
                    <a:pt x="214704" y="2141991"/>
                  </a:lnTo>
                  <a:lnTo>
                    <a:pt x="228028" y="2092298"/>
                  </a:lnTo>
                  <a:lnTo>
                    <a:pt x="241735" y="2042763"/>
                  </a:lnTo>
                  <a:lnTo>
                    <a:pt x="255821" y="1993386"/>
                  </a:lnTo>
                  <a:lnTo>
                    <a:pt x="270287" y="1944170"/>
                  </a:lnTo>
                  <a:lnTo>
                    <a:pt x="285129" y="1895117"/>
                  </a:lnTo>
                  <a:lnTo>
                    <a:pt x="300346" y="1846227"/>
                  </a:lnTo>
                  <a:lnTo>
                    <a:pt x="315937" y="1797504"/>
                  </a:lnTo>
                  <a:lnTo>
                    <a:pt x="331900" y="1748947"/>
                  </a:lnTo>
                  <a:lnTo>
                    <a:pt x="348233" y="1700559"/>
                  </a:lnTo>
                  <a:lnTo>
                    <a:pt x="364935" y="1652343"/>
                  </a:lnTo>
                  <a:lnTo>
                    <a:pt x="382003" y="1604298"/>
                  </a:lnTo>
                  <a:lnTo>
                    <a:pt x="399437" y="1556427"/>
                  </a:lnTo>
                  <a:lnTo>
                    <a:pt x="417234" y="1508733"/>
                  </a:lnTo>
                  <a:lnTo>
                    <a:pt x="435393" y="1461215"/>
                  </a:lnTo>
                  <a:lnTo>
                    <a:pt x="453912" y="1413877"/>
                  </a:lnTo>
                  <a:lnTo>
                    <a:pt x="472789" y="1366719"/>
                  </a:lnTo>
                  <a:lnTo>
                    <a:pt x="492024" y="1319744"/>
                  </a:lnTo>
                  <a:lnTo>
                    <a:pt x="511613" y="1272952"/>
                  </a:lnTo>
                  <a:lnTo>
                    <a:pt x="531556" y="1226347"/>
                  </a:lnTo>
                  <a:lnTo>
                    <a:pt x="551850" y="1179929"/>
                  </a:lnTo>
                  <a:lnTo>
                    <a:pt x="572495" y="1133700"/>
                  </a:lnTo>
                  <a:lnTo>
                    <a:pt x="593488" y="1087661"/>
                  </a:lnTo>
                  <a:lnTo>
                    <a:pt x="614828" y="1041815"/>
                  </a:lnTo>
                  <a:lnTo>
                    <a:pt x="636513" y="996164"/>
                  </a:lnTo>
                  <a:lnTo>
                    <a:pt x="658541" y="950708"/>
                  </a:lnTo>
                  <a:lnTo>
                    <a:pt x="680911" y="905449"/>
                  </a:lnTo>
                  <a:lnTo>
                    <a:pt x="703621" y="860390"/>
                  </a:lnTo>
                  <a:lnTo>
                    <a:pt x="726670" y="815531"/>
                  </a:lnTo>
                  <a:lnTo>
                    <a:pt x="750055" y="770875"/>
                  </a:lnTo>
                  <a:lnTo>
                    <a:pt x="773775" y="726423"/>
                  </a:lnTo>
                  <a:lnTo>
                    <a:pt x="797828" y="682177"/>
                  </a:lnTo>
                  <a:lnTo>
                    <a:pt x="822213" y="638139"/>
                  </a:lnTo>
                  <a:lnTo>
                    <a:pt x="846928" y="594309"/>
                  </a:lnTo>
                  <a:lnTo>
                    <a:pt x="871972" y="550691"/>
                  </a:lnTo>
                  <a:lnTo>
                    <a:pt x="897342" y="507285"/>
                  </a:lnTo>
                  <a:lnTo>
                    <a:pt x="923037" y="464093"/>
                  </a:lnTo>
                  <a:lnTo>
                    <a:pt x="949055" y="421117"/>
                  </a:lnTo>
                  <a:lnTo>
                    <a:pt x="975395" y="378359"/>
                  </a:lnTo>
                  <a:lnTo>
                    <a:pt x="1002055" y="335819"/>
                  </a:lnTo>
                  <a:lnTo>
                    <a:pt x="1029033" y="293501"/>
                  </a:lnTo>
                  <a:lnTo>
                    <a:pt x="1056327" y="251405"/>
                  </a:lnTo>
                  <a:lnTo>
                    <a:pt x="1083937" y="209534"/>
                  </a:lnTo>
                  <a:lnTo>
                    <a:pt x="1111859" y="167889"/>
                  </a:lnTo>
                  <a:lnTo>
                    <a:pt x="1140094" y="126471"/>
                  </a:lnTo>
                  <a:lnTo>
                    <a:pt x="1168638" y="85282"/>
                  </a:lnTo>
                  <a:lnTo>
                    <a:pt x="1197490" y="44324"/>
                  </a:lnTo>
                  <a:lnTo>
                    <a:pt x="1226649" y="3599"/>
                  </a:lnTo>
                  <a:lnTo>
                    <a:pt x="1229269" y="0"/>
                  </a:lnTo>
                </a:path>
              </a:pathLst>
            </a:custGeom>
            <a:ln w="12699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825" y="0"/>
              <a:ext cx="5210175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296" y="752571"/>
            <a:ext cx="9059229" cy="57624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712" y="330898"/>
            <a:ext cx="4907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市面上常见的自然语言数据问答技术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304800"/>
            <a:ext cx="161925" cy="447675"/>
          </a:xfrm>
          <a:custGeom>
            <a:avLst/>
            <a:gdLst/>
            <a:ahLst/>
            <a:cxnLst/>
            <a:rect l="l" t="t" r="r" b="b"/>
            <a:pathLst>
              <a:path w="161925" h="447675">
                <a:moveTo>
                  <a:pt x="161925" y="0"/>
                </a:moveTo>
                <a:lnTo>
                  <a:pt x="0" y="0"/>
                </a:lnTo>
                <a:lnTo>
                  <a:pt x="0" y="447675"/>
                </a:lnTo>
                <a:lnTo>
                  <a:pt x="161925" y="447675"/>
                </a:lnTo>
                <a:lnTo>
                  <a:pt x="161925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9712" y="330898"/>
            <a:ext cx="9484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err="1"/>
              <a:t>采用数据领域语言算法训练技术，有效结合大模型优势的混合架构</a:t>
            </a:r>
            <a:endParaRPr spc="-5" dirty="0"/>
          </a:p>
        </p:txBody>
      </p:sp>
      <p:sp>
        <p:nvSpPr>
          <p:cNvPr id="7" name="object 7"/>
          <p:cNvSpPr/>
          <p:nvPr/>
        </p:nvSpPr>
        <p:spPr>
          <a:xfrm>
            <a:off x="0" y="304800"/>
            <a:ext cx="161925" cy="447675"/>
          </a:xfrm>
          <a:custGeom>
            <a:avLst/>
            <a:gdLst/>
            <a:ahLst/>
            <a:cxnLst/>
            <a:rect l="l" t="t" r="r" b="b"/>
            <a:pathLst>
              <a:path w="161925" h="447675">
                <a:moveTo>
                  <a:pt x="161925" y="0"/>
                </a:moveTo>
                <a:lnTo>
                  <a:pt x="0" y="0"/>
                </a:lnTo>
                <a:lnTo>
                  <a:pt x="0" y="447675"/>
                </a:lnTo>
                <a:lnTo>
                  <a:pt x="161925" y="447675"/>
                </a:lnTo>
                <a:lnTo>
                  <a:pt x="161925" y="0"/>
                </a:lnTo>
                <a:close/>
              </a:path>
            </a:pathLst>
          </a:custGeom>
          <a:solidFill>
            <a:srgbClr val="1C4A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7042" y="788606"/>
            <a:ext cx="594106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 err="1">
                <a:latin typeface="Microsoft YaHei"/>
                <a:cs typeface="Microsoft YaHei"/>
              </a:rPr>
              <a:t>采用自然语言到数据专业语言的训练技术贴合AI</a:t>
            </a:r>
            <a:r>
              <a:rPr sz="1550" b="1" spc="10" dirty="0" err="1">
                <a:latin typeface="Microsoft YaHei"/>
                <a:cs typeface="Microsoft YaHei"/>
              </a:rPr>
              <a:t>时代技术发展</a:t>
            </a:r>
            <a:endParaRPr sz="1550" dirty="0">
              <a:latin typeface="Microsoft YaHei"/>
              <a:cs typeface="Microsoft YaHei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86AC26-F698-F40D-4FB6-AECF0E307674}"/>
              </a:ext>
            </a:extLst>
          </p:cNvPr>
          <p:cNvGrpSpPr/>
          <p:nvPr/>
        </p:nvGrpSpPr>
        <p:grpSpPr>
          <a:xfrm>
            <a:off x="1657350" y="1162051"/>
            <a:ext cx="8629650" cy="5695949"/>
            <a:chOff x="1657350" y="1162051"/>
            <a:chExt cx="8629650" cy="569594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7350" y="1162051"/>
              <a:ext cx="8629650" cy="569594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64A964D-8A09-D954-587B-A2D3FD1A0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3800" y="1371600"/>
              <a:ext cx="1054100" cy="381000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BA51AE43-4673-9E63-9FE1-60F53BD0DFA2}"/>
              </a:ext>
            </a:extLst>
          </p:cNvPr>
          <p:cNvSpPr txBox="1"/>
          <p:nvPr/>
        </p:nvSpPr>
        <p:spPr>
          <a:xfrm>
            <a:off x="9933709" y="8174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635105" cy="6034405"/>
            <a:chOff x="0" y="0"/>
            <a:chExt cx="11635105" cy="6034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75" y="1628711"/>
              <a:ext cx="11034776" cy="44053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714500"/>
              <a:ext cx="10810875" cy="4181475"/>
            </a:xfrm>
            <a:custGeom>
              <a:avLst/>
              <a:gdLst/>
              <a:ahLst/>
              <a:cxnLst/>
              <a:rect l="l" t="t" r="r" b="b"/>
              <a:pathLst>
                <a:path w="10810875" h="4181475">
                  <a:moveTo>
                    <a:pt x="10810875" y="0"/>
                  </a:moveTo>
                  <a:lnTo>
                    <a:pt x="0" y="0"/>
                  </a:lnTo>
                  <a:lnTo>
                    <a:pt x="0" y="4181475"/>
                  </a:lnTo>
                  <a:lnTo>
                    <a:pt x="10810875" y="4181475"/>
                  </a:lnTo>
                  <a:lnTo>
                    <a:pt x="10810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8612" y="342836"/>
            <a:ext cx="4182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国内主流</a:t>
            </a:r>
            <a:r>
              <a:rPr dirty="0"/>
              <a:t>Chat</a:t>
            </a:r>
            <a:r>
              <a:rPr spc="10" dirty="0"/>
              <a:t> </a:t>
            </a:r>
            <a:r>
              <a:rPr spc="-20" dirty="0"/>
              <a:t>BI</a:t>
            </a:r>
            <a:r>
              <a:rPr spc="-10" dirty="0"/>
              <a:t>厂商能力对比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115" y="6056629"/>
            <a:ext cx="69488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04040"/>
                </a:solidFill>
                <a:latin typeface="Microsoft YaHei"/>
                <a:cs typeface="Microsoft YaHei"/>
              </a:rPr>
              <a:t>附录一</a:t>
            </a:r>
            <a:r>
              <a:rPr sz="1200" spc="-10" dirty="0">
                <a:solidFill>
                  <a:srgbClr val="404040"/>
                </a:solidFill>
                <a:latin typeface="Microsoft YaHei"/>
                <a:cs typeface="Microsoft YaHei"/>
              </a:rPr>
              <a:t>篇阅读3W+的AIBI全面分析文章：</a:t>
            </a:r>
            <a:r>
              <a:rPr sz="1200" u="sng" spc="175" dirty="0">
                <a:solidFill>
                  <a:srgbClr val="2F4FFD"/>
                </a:solidFill>
                <a:uFill>
                  <a:solidFill>
                    <a:srgbClr val="2F4FFD"/>
                  </a:solidFill>
                </a:uFill>
                <a:latin typeface="Microsoft YaHei"/>
                <a:cs typeface="Microsoft YaHei"/>
                <a:hlinkClick r:id="rId4"/>
              </a:rPr>
              <a:t> </a:t>
            </a:r>
            <a:r>
              <a:rPr sz="1200" u="sng" spc="-10" dirty="0">
                <a:solidFill>
                  <a:srgbClr val="2F4FFD"/>
                </a:solidFill>
                <a:uFill>
                  <a:solidFill>
                    <a:srgbClr val="2F4FFD"/>
                  </a:solidFill>
                </a:uFill>
                <a:latin typeface="Microsoft YaHei"/>
                <a:cs typeface="Microsoft YaHei"/>
                <a:hlinkClick r:id="rId4"/>
              </a:rPr>
              <a:t>https://mp.weixin.qq.com/s/tA3vVo7v2p-48QNVqFU8Pg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8650" y="1152461"/>
            <a:ext cx="10977880" cy="4803140"/>
            <a:chOff x="628650" y="1152461"/>
            <a:chExt cx="10977880" cy="4803140"/>
          </a:xfrm>
        </p:grpSpPr>
        <p:sp>
          <p:nvSpPr>
            <p:cNvPr id="10" name="object 10"/>
            <p:cNvSpPr/>
            <p:nvPr/>
          </p:nvSpPr>
          <p:spPr>
            <a:xfrm>
              <a:off x="689698" y="1749424"/>
              <a:ext cx="1471295" cy="545465"/>
            </a:xfrm>
            <a:custGeom>
              <a:avLst/>
              <a:gdLst/>
              <a:ahLst/>
              <a:cxnLst/>
              <a:rect l="l" t="t" r="r" b="b"/>
              <a:pathLst>
                <a:path w="1471295" h="545464">
                  <a:moveTo>
                    <a:pt x="1471282" y="0"/>
                  </a:moveTo>
                  <a:lnTo>
                    <a:pt x="223520" y="0"/>
                  </a:lnTo>
                  <a:lnTo>
                    <a:pt x="0" y="0"/>
                  </a:lnTo>
                  <a:lnTo>
                    <a:pt x="0" y="545465"/>
                  </a:lnTo>
                  <a:lnTo>
                    <a:pt x="223520" y="545465"/>
                  </a:lnTo>
                  <a:lnTo>
                    <a:pt x="1471282" y="545465"/>
                  </a:lnTo>
                  <a:lnTo>
                    <a:pt x="1471282" y="0"/>
                  </a:lnTo>
                  <a:close/>
                </a:path>
              </a:pathLst>
            </a:custGeom>
            <a:solidFill>
              <a:srgbClr val="F7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9698" y="5945886"/>
              <a:ext cx="10815955" cy="0"/>
            </a:xfrm>
            <a:custGeom>
              <a:avLst/>
              <a:gdLst/>
              <a:ahLst/>
              <a:cxnLst/>
              <a:rect l="l" t="t" r="r" b="b"/>
              <a:pathLst>
                <a:path w="10815955">
                  <a:moveTo>
                    <a:pt x="0" y="0"/>
                  </a:moveTo>
                  <a:lnTo>
                    <a:pt x="10815358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650" y="1152461"/>
              <a:ext cx="10977626" cy="738187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685800" y="1209675"/>
            <a:ext cx="10810875" cy="571500"/>
          </a:xfrm>
          <a:custGeom>
            <a:avLst/>
            <a:gdLst/>
            <a:ahLst/>
            <a:cxnLst/>
            <a:rect l="l" t="t" r="r" b="b"/>
            <a:pathLst>
              <a:path w="10810875" h="571500">
                <a:moveTo>
                  <a:pt x="10810875" y="0"/>
                </a:moveTo>
                <a:lnTo>
                  <a:pt x="0" y="0"/>
                </a:lnTo>
                <a:lnTo>
                  <a:pt x="0" y="571500"/>
                </a:lnTo>
                <a:lnTo>
                  <a:pt x="10810875" y="571500"/>
                </a:lnTo>
                <a:lnTo>
                  <a:pt x="10810875" y="0"/>
                </a:lnTo>
                <a:close/>
              </a:path>
            </a:pathLst>
          </a:custGeom>
          <a:solidFill>
            <a:srgbClr val="362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85800" y="1209675"/>
          <a:ext cx="10819130" cy="4744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6390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800" spc="-30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解释</a:t>
                      </a:r>
                      <a:endParaRPr sz="1800">
                        <a:latin typeface="Microsoft YaHei"/>
                        <a:cs typeface="Microsoft YaHei"/>
                      </a:endParaRPr>
                    </a:p>
                  </a:txBody>
                  <a:tcPr marL="0" marR="0" marT="153670" marB="0"/>
                </a:tc>
                <a:tc>
                  <a:txBody>
                    <a:bodyPr/>
                    <a:lstStyle/>
                    <a:p>
                      <a:pPr marL="75755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-10" dirty="0" err="1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ChatBI</a:t>
                      </a:r>
                      <a:endParaRPr sz="1800" dirty="0">
                        <a:latin typeface="Microsoft YaHei"/>
                        <a:cs typeface="Microsoft YaHei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1044575" marR="229235" indent="-701675">
                        <a:lnSpc>
                          <a:spcPts val="1950"/>
                        </a:lnSpc>
                        <a:spcBef>
                          <a:spcPts val="450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网易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ChatBI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、阿里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ChatBI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腾讯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Microsoft YaHei"/>
                          <a:cs typeface="Microsoft YaHei"/>
                        </a:rPr>
                        <a:t>ChatBI</a:t>
                      </a:r>
                      <a:endParaRPr sz="1800">
                        <a:latin typeface="Microsoft YaHei"/>
                        <a:cs typeface="Microsoft YaHei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概述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445" marB="0">
                    <a:lnR w="9525">
                      <a:solidFill>
                        <a:srgbClr val="A6A6A6"/>
                      </a:solidFill>
                      <a:prstDash val="solid"/>
                    </a:lnR>
                    <a:lnB w="9525">
                      <a:solidFill>
                        <a:srgbClr val="A6A6A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 marR="340995">
                        <a:lnSpc>
                          <a:spcPct val="108100"/>
                        </a:lnSpc>
                        <a:spcBef>
                          <a:spcPts val="465"/>
                        </a:spcBef>
                      </a:pPr>
                      <a:r>
                        <a:rPr sz="1100" spc="-45" dirty="0">
                          <a:latin typeface="Microsoft YaHei"/>
                          <a:cs typeface="Microsoft YaHei"/>
                        </a:rPr>
                        <a:t>核心流程代码完全自研，结合大模</a:t>
                      </a: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型，打破不可能三角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5905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B w="952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152400">
                        <a:lnSpc>
                          <a:spcPct val="108100"/>
                        </a:lnSpc>
                        <a:spcBef>
                          <a:spcPts val="46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底层使用大模型技术，存在数据，快速准确、</a:t>
                      </a:r>
                      <a:r>
                        <a:rPr sz="1100" spc="-30" dirty="0">
                          <a:latin typeface="Microsoft YaHei"/>
                          <a:cs typeface="Microsoft YaHei"/>
                        </a:rPr>
                        <a:t>智能，不可能三角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59055" marB="0">
                    <a:lnL w="9525">
                      <a:solidFill>
                        <a:srgbClr val="A6A6A6"/>
                      </a:solidFill>
                      <a:prstDash val="solid"/>
                    </a:lnL>
                    <a:lnB w="9525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b="1" spc="-3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底层技术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6355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20" dirty="0">
                          <a:latin typeface="Microsoft YaHei"/>
                          <a:cs typeface="Microsoft YaHei"/>
                        </a:rPr>
                        <a:t>深度学习 + 知识图谱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30" dirty="0">
                          <a:latin typeface="Microsoft YaHei"/>
                          <a:cs typeface="Microsoft YaHei"/>
                        </a:rPr>
                        <a:t>大语言模型</a:t>
                      </a: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（Prompt/RAG）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3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1100" b="1" spc="-3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私有化部署成本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69215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低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3073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核心模型训练完毕，不需要额外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3073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GPU</a:t>
                      </a: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资源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高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随着使用的深入，需要大量</a:t>
                      </a: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GPU</a:t>
                      </a: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资源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b="1" spc="-3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语义理解速度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94615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30" dirty="0">
                          <a:latin typeface="Microsoft YaHei"/>
                          <a:cs typeface="Microsoft YaHei"/>
                        </a:rPr>
                        <a:t>从接收到自然语言到生成</a:t>
                      </a: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SQL</a:t>
                      </a:r>
                      <a:r>
                        <a:rPr sz="1100" spc="-30" dirty="0">
                          <a:latin typeface="Microsoft YaHei"/>
                          <a:cs typeface="Microsoft YaHei"/>
                        </a:rPr>
                        <a:t>的平均时间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94615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20" dirty="0">
                          <a:latin typeface="Microsoft YaHei"/>
                          <a:cs typeface="Microsoft YaHei"/>
                        </a:rPr>
                        <a:t>平均</a:t>
                      </a: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500ms</a:t>
                      </a: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左右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9461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8s~15s</a:t>
                      </a: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左右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94615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3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语义理解准确性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51130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248920">
                        <a:lnSpc>
                          <a:spcPct val="108100"/>
                        </a:lnSpc>
                        <a:spcBef>
                          <a:spcPts val="35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在数据范围内，以及产品功能支持范围内，能够</a:t>
                      </a: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理解提问者问题的准确率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spc="-10" dirty="0">
                          <a:latin typeface="Microsoft YaHei"/>
                          <a:cs typeface="Microsoft YaHei"/>
                        </a:rPr>
                        <a:t>95</a:t>
                      </a:r>
                      <a:r>
                        <a:rPr sz="1100" spc="-20" dirty="0">
                          <a:latin typeface="Microsoft YaHei"/>
                          <a:cs typeface="Microsoft YaHei"/>
                        </a:rPr>
                        <a:t>%以上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75%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100" b="1" spc="-3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跨主题跨多表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39065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248920">
                        <a:lnSpc>
                          <a:spcPct val="108100"/>
                        </a:lnSpc>
                        <a:spcBef>
                          <a:spcPts val="26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降低实施成本以及用户使用成本，用户无需数据</a:t>
                      </a: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知识即可使用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33655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支持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不支持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100" b="1" spc="-3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泛化能力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40335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249554">
                        <a:lnSpc>
                          <a:spcPct val="108100"/>
                        </a:lnSpc>
                        <a:spcBef>
                          <a:spcPts val="270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对于没有配置过的关键词，是否能自动根据语义</a:t>
                      </a: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去理解并匹配正确的关键字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34290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中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高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b="1" spc="-4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稳定性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sz="1100" spc="-3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无幻觉问题</a:t>
                      </a:r>
                      <a:r>
                        <a:rPr sz="1100" spc="-5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）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8260" marB="0"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248920">
                        <a:lnSpc>
                          <a:spcPct val="108200"/>
                        </a:lnSpc>
                        <a:spcBef>
                          <a:spcPts val="270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同样的问题问多次，数据结果永远一致，不会随</a:t>
                      </a: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机变化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34290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稳定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不稳定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A6A6A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快速配置</a:t>
                      </a:r>
                      <a:r>
                        <a:rPr sz="1100" b="1" spc="-10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BI</a:t>
                      </a:r>
                      <a:r>
                        <a:rPr sz="1100" b="1" spc="-2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复杂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35" dirty="0">
                          <a:solidFill>
                            <a:srgbClr val="3623C5"/>
                          </a:solidFill>
                          <a:latin typeface="Microsoft YaHei"/>
                          <a:cs typeface="Microsoft YaHei"/>
                        </a:rPr>
                        <a:t>问答规则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46355" marB="0">
                    <a:lnT w="9525">
                      <a:solidFill>
                        <a:srgbClr val="A6A6A6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3840" marR="248920" algn="just">
                        <a:lnSpc>
                          <a:spcPct val="108200"/>
                        </a:lnSpc>
                        <a:spcBef>
                          <a:spcPts val="795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实际客户落地时候的业务特殊规则，此类规则往往不在提问中显示，而是在运算或者是搜索逻辑</a:t>
                      </a: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中体现</a:t>
                      </a:r>
                      <a:r>
                        <a:rPr sz="1100" dirty="0">
                          <a:latin typeface="Microsoft YaHei"/>
                          <a:cs typeface="Microsoft YaHei"/>
                        </a:rPr>
                        <a:t>（</a:t>
                      </a: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如财年和自然年不同</a:t>
                      </a: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）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00965" marB="0"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支持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3073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45" dirty="0">
                          <a:latin typeface="Microsoft YaHei"/>
                          <a:cs typeface="Microsoft YaHei"/>
                        </a:rPr>
                        <a:t>特殊规则支持妙计配置，迅速响应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3073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25" dirty="0">
                          <a:latin typeface="Microsoft YaHei"/>
                          <a:cs typeface="Microsoft YaHei"/>
                        </a:rPr>
                        <a:t>变化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A6A6A6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100" spc="-40" dirty="0">
                          <a:latin typeface="Microsoft YaHei"/>
                          <a:cs typeface="Microsoft YaHei"/>
                        </a:rPr>
                        <a:t>不支持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50" dirty="0">
                          <a:latin typeface="Microsoft YaHei"/>
                          <a:cs typeface="Microsoft YaHei"/>
                        </a:rPr>
                        <a:t>稳定的适应特殊规则需要，重新训练，训练时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35" dirty="0">
                          <a:latin typeface="Microsoft YaHei"/>
                          <a:cs typeface="Microsoft YaHei"/>
                        </a:rPr>
                        <a:t>间长，无法迅速响应</a:t>
                      </a:r>
                      <a:endParaRPr sz="1100">
                        <a:latin typeface="Microsoft YaHei"/>
                        <a:cs typeface="Microsoft YaHei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A6A6A6"/>
                      </a:solidFill>
                      <a:prstDash val="solid"/>
                    </a:lnL>
                    <a:lnT w="9525">
                      <a:solidFill>
                        <a:srgbClr val="A6A6A6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272" y="353377"/>
            <a:ext cx="4089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ChatBI</a:t>
            </a:r>
            <a:r>
              <a:rPr spc="-20" dirty="0" err="1"/>
              <a:t>产品技术优势举例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5400" y="2800350"/>
            <a:ext cx="1704975" cy="1714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64403" y="3261423"/>
            <a:ext cx="1398905" cy="706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835">
              <a:lnSpc>
                <a:spcPct val="132200"/>
              </a:lnSpc>
              <a:spcBef>
                <a:spcPts val="95"/>
              </a:spcBef>
            </a:pPr>
            <a:r>
              <a:rPr sz="1800" b="1" spc="-10" dirty="0" err="1">
                <a:latin typeface="Microsoft YaHei"/>
                <a:cs typeface="Microsoft YaHei"/>
              </a:rPr>
              <a:t>ChatBI技术优势举例</a:t>
            </a:r>
            <a:endParaRPr sz="1800" dirty="0">
              <a:latin typeface="Microsoft YaHei"/>
              <a:cs typeface="Microsoft Ya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7062" y="1274825"/>
            <a:ext cx="11024235" cy="4775200"/>
            <a:chOff x="627062" y="1274825"/>
            <a:chExt cx="11024235" cy="47752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062" y="4532375"/>
              <a:ext cx="5032438" cy="15175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612" y="2960750"/>
              <a:ext cx="3760406" cy="1422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062" y="1293875"/>
              <a:ext cx="5032438" cy="15176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7401" y="4532375"/>
              <a:ext cx="5013325" cy="15175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004" y="2903600"/>
              <a:ext cx="4303522" cy="15176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65926" y="1274825"/>
              <a:ext cx="5308600" cy="15176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33900" y="2257425"/>
              <a:ext cx="2847975" cy="2819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7250" y="2371725"/>
              <a:ext cx="2581275" cy="2590800"/>
            </a:xfrm>
            <a:custGeom>
              <a:avLst/>
              <a:gdLst/>
              <a:ahLst/>
              <a:cxnLst/>
              <a:rect l="l" t="t" r="r" b="b"/>
              <a:pathLst>
                <a:path w="2581275" h="2590800">
                  <a:moveTo>
                    <a:pt x="1478684" y="2578100"/>
                  </a:moveTo>
                  <a:lnTo>
                    <a:pt x="1095816" y="2578100"/>
                  </a:lnTo>
                  <a:lnTo>
                    <a:pt x="1142650" y="2590800"/>
                  </a:lnTo>
                  <a:lnTo>
                    <a:pt x="1431328" y="2590800"/>
                  </a:lnTo>
                  <a:lnTo>
                    <a:pt x="1478684" y="2578100"/>
                  </a:lnTo>
                  <a:close/>
                </a:path>
                <a:path w="2581275" h="2590800">
                  <a:moveTo>
                    <a:pt x="1525466" y="25400"/>
                  </a:moveTo>
                  <a:lnTo>
                    <a:pt x="1049529" y="25400"/>
                  </a:lnTo>
                  <a:lnTo>
                    <a:pt x="958720" y="50800"/>
                  </a:lnTo>
                  <a:lnTo>
                    <a:pt x="785026" y="101600"/>
                  </a:lnTo>
                  <a:lnTo>
                    <a:pt x="743434" y="127000"/>
                  </a:lnTo>
                  <a:lnTo>
                    <a:pt x="702635" y="139700"/>
                  </a:lnTo>
                  <a:lnTo>
                    <a:pt x="662661" y="165100"/>
                  </a:lnTo>
                  <a:lnTo>
                    <a:pt x="623544" y="190500"/>
                  </a:lnTo>
                  <a:lnTo>
                    <a:pt x="585312" y="215900"/>
                  </a:lnTo>
                  <a:lnTo>
                    <a:pt x="547998" y="241300"/>
                  </a:lnTo>
                  <a:lnTo>
                    <a:pt x="511632" y="266700"/>
                  </a:lnTo>
                  <a:lnTo>
                    <a:pt x="476246" y="292100"/>
                  </a:lnTo>
                  <a:lnTo>
                    <a:pt x="441869" y="317500"/>
                  </a:lnTo>
                  <a:lnTo>
                    <a:pt x="408533" y="355600"/>
                  </a:lnTo>
                  <a:lnTo>
                    <a:pt x="376269" y="381000"/>
                  </a:lnTo>
                  <a:lnTo>
                    <a:pt x="345107" y="419100"/>
                  </a:lnTo>
                  <a:lnTo>
                    <a:pt x="315078" y="444500"/>
                  </a:lnTo>
                  <a:lnTo>
                    <a:pt x="286214" y="482600"/>
                  </a:lnTo>
                  <a:lnTo>
                    <a:pt x="258544" y="520700"/>
                  </a:lnTo>
                  <a:lnTo>
                    <a:pt x="232101" y="558800"/>
                  </a:lnTo>
                  <a:lnTo>
                    <a:pt x="206914" y="596900"/>
                  </a:lnTo>
                  <a:lnTo>
                    <a:pt x="183014" y="635000"/>
                  </a:lnTo>
                  <a:lnTo>
                    <a:pt x="160433" y="673100"/>
                  </a:lnTo>
                  <a:lnTo>
                    <a:pt x="139202" y="711200"/>
                  </a:lnTo>
                  <a:lnTo>
                    <a:pt x="119350" y="749300"/>
                  </a:lnTo>
                  <a:lnTo>
                    <a:pt x="100909" y="800100"/>
                  </a:lnTo>
                  <a:lnTo>
                    <a:pt x="83910" y="838200"/>
                  </a:lnTo>
                  <a:lnTo>
                    <a:pt x="68383" y="876300"/>
                  </a:lnTo>
                  <a:lnTo>
                    <a:pt x="54360" y="927100"/>
                  </a:lnTo>
                  <a:lnTo>
                    <a:pt x="41871" y="965200"/>
                  </a:lnTo>
                  <a:lnTo>
                    <a:pt x="30947" y="1016000"/>
                  </a:lnTo>
                  <a:lnTo>
                    <a:pt x="21620" y="1054100"/>
                  </a:lnTo>
                  <a:lnTo>
                    <a:pt x="13919" y="1104900"/>
                  </a:lnTo>
                  <a:lnTo>
                    <a:pt x="7875" y="1155700"/>
                  </a:lnTo>
                  <a:lnTo>
                    <a:pt x="3520" y="1206500"/>
                  </a:lnTo>
                  <a:lnTo>
                    <a:pt x="885" y="1244600"/>
                  </a:lnTo>
                  <a:lnTo>
                    <a:pt x="0" y="1295400"/>
                  </a:lnTo>
                  <a:lnTo>
                    <a:pt x="885" y="1346200"/>
                  </a:lnTo>
                  <a:lnTo>
                    <a:pt x="3520" y="1397000"/>
                  </a:lnTo>
                  <a:lnTo>
                    <a:pt x="7875" y="1435100"/>
                  </a:lnTo>
                  <a:lnTo>
                    <a:pt x="13919" y="1485900"/>
                  </a:lnTo>
                  <a:lnTo>
                    <a:pt x="21620" y="1536700"/>
                  </a:lnTo>
                  <a:lnTo>
                    <a:pt x="30947" y="1574800"/>
                  </a:lnTo>
                  <a:lnTo>
                    <a:pt x="41871" y="1625600"/>
                  </a:lnTo>
                  <a:lnTo>
                    <a:pt x="54360" y="1676400"/>
                  </a:lnTo>
                  <a:lnTo>
                    <a:pt x="68383" y="1714500"/>
                  </a:lnTo>
                  <a:lnTo>
                    <a:pt x="83910" y="1752600"/>
                  </a:lnTo>
                  <a:lnTo>
                    <a:pt x="100909" y="1803400"/>
                  </a:lnTo>
                  <a:lnTo>
                    <a:pt x="119350" y="1841500"/>
                  </a:lnTo>
                  <a:lnTo>
                    <a:pt x="139202" y="1879600"/>
                  </a:lnTo>
                  <a:lnTo>
                    <a:pt x="160433" y="1930400"/>
                  </a:lnTo>
                  <a:lnTo>
                    <a:pt x="183014" y="1968500"/>
                  </a:lnTo>
                  <a:lnTo>
                    <a:pt x="206914" y="2006600"/>
                  </a:lnTo>
                  <a:lnTo>
                    <a:pt x="232101" y="2044700"/>
                  </a:lnTo>
                  <a:lnTo>
                    <a:pt x="258544" y="2082800"/>
                  </a:lnTo>
                  <a:lnTo>
                    <a:pt x="286214" y="2108200"/>
                  </a:lnTo>
                  <a:lnTo>
                    <a:pt x="315078" y="2146300"/>
                  </a:lnTo>
                  <a:lnTo>
                    <a:pt x="345107" y="2184400"/>
                  </a:lnTo>
                  <a:lnTo>
                    <a:pt x="376269" y="2209800"/>
                  </a:lnTo>
                  <a:lnTo>
                    <a:pt x="408533" y="2247900"/>
                  </a:lnTo>
                  <a:lnTo>
                    <a:pt x="441869" y="2273300"/>
                  </a:lnTo>
                  <a:lnTo>
                    <a:pt x="476246" y="2311400"/>
                  </a:lnTo>
                  <a:lnTo>
                    <a:pt x="511632" y="2336800"/>
                  </a:lnTo>
                  <a:lnTo>
                    <a:pt x="547998" y="2362200"/>
                  </a:lnTo>
                  <a:lnTo>
                    <a:pt x="585312" y="2387600"/>
                  </a:lnTo>
                  <a:lnTo>
                    <a:pt x="623544" y="2413000"/>
                  </a:lnTo>
                  <a:lnTo>
                    <a:pt x="662661" y="2438400"/>
                  </a:lnTo>
                  <a:lnTo>
                    <a:pt x="702635" y="2451100"/>
                  </a:lnTo>
                  <a:lnTo>
                    <a:pt x="743434" y="2476500"/>
                  </a:lnTo>
                  <a:lnTo>
                    <a:pt x="785026" y="2489200"/>
                  </a:lnTo>
                  <a:lnTo>
                    <a:pt x="827382" y="2514600"/>
                  </a:lnTo>
                  <a:lnTo>
                    <a:pt x="870470" y="2527300"/>
                  </a:lnTo>
                  <a:lnTo>
                    <a:pt x="1049529" y="2578100"/>
                  </a:lnTo>
                  <a:lnTo>
                    <a:pt x="1525466" y="2578100"/>
                  </a:lnTo>
                  <a:lnTo>
                    <a:pt x="1706266" y="2527300"/>
                  </a:lnTo>
                  <a:lnTo>
                    <a:pt x="1749732" y="2514600"/>
                  </a:lnTo>
                  <a:lnTo>
                    <a:pt x="1792444" y="2489200"/>
                  </a:lnTo>
                  <a:lnTo>
                    <a:pt x="1834372" y="2476500"/>
                  </a:lnTo>
                  <a:lnTo>
                    <a:pt x="1875485" y="2451100"/>
                  </a:lnTo>
                  <a:lnTo>
                    <a:pt x="1915754" y="2438400"/>
                  </a:lnTo>
                  <a:lnTo>
                    <a:pt x="1955149" y="2413000"/>
                  </a:lnTo>
                  <a:lnTo>
                    <a:pt x="1993638" y="2387600"/>
                  </a:lnTo>
                  <a:lnTo>
                    <a:pt x="2031192" y="2362200"/>
                  </a:lnTo>
                  <a:lnTo>
                    <a:pt x="2067781" y="2336800"/>
                  </a:lnTo>
                  <a:lnTo>
                    <a:pt x="2103374" y="2311400"/>
                  </a:lnTo>
                  <a:lnTo>
                    <a:pt x="2137942" y="2273300"/>
                  </a:lnTo>
                  <a:lnTo>
                    <a:pt x="2171453" y="2247900"/>
                  </a:lnTo>
                  <a:lnTo>
                    <a:pt x="2182261" y="2235200"/>
                  </a:lnTo>
                  <a:lnTo>
                    <a:pt x="1151628" y="2235200"/>
                  </a:lnTo>
                  <a:lnTo>
                    <a:pt x="1014582" y="2197100"/>
                  </a:lnTo>
                  <a:lnTo>
                    <a:pt x="927637" y="2171700"/>
                  </a:lnTo>
                  <a:lnTo>
                    <a:pt x="885676" y="2146300"/>
                  </a:lnTo>
                  <a:lnTo>
                    <a:pt x="844806" y="2120900"/>
                  </a:lnTo>
                  <a:lnTo>
                    <a:pt x="805087" y="2108200"/>
                  </a:lnTo>
                  <a:lnTo>
                    <a:pt x="766582" y="2082800"/>
                  </a:lnTo>
                  <a:lnTo>
                    <a:pt x="729352" y="2057400"/>
                  </a:lnTo>
                  <a:lnTo>
                    <a:pt x="693460" y="2019300"/>
                  </a:lnTo>
                  <a:lnTo>
                    <a:pt x="658967" y="1993900"/>
                  </a:lnTo>
                  <a:lnTo>
                    <a:pt x="625935" y="1968500"/>
                  </a:lnTo>
                  <a:lnTo>
                    <a:pt x="594426" y="1930400"/>
                  </a:lnTo>
                  <a:lnTo>
                    <a:pt x="564501" y="1892300"/>
                  </a:lnTo>
                  <a:lnTo>
                    <a:pt x="536224" y="1866900"/>
                  </a:lnTo>
                  <a:lnTo>
                    <a:pt x="509654" y="1828800"/>
                  </a:lnTo>
                  <a:lnTo>
                    <a:pt x="484855" y="1790700"/>
                  </a:lnTo>
                  <a:lnTo>
                    <a:pt x="461888" y="1752600"/>
                  </a:lnTo>
                  <a:lnTo>
                    <a:pt x="440815" y="1701800"/>
                  </a:lnTo>
                  <a:lnTo>
                    <a:pt x="421697" y="1663700"/>
                  </a:lnTo>
                  <a:lnTo>
                    <a:pt x="404597" y="1625600"/>
                  </a:lnTo>
                  <a:lnTo>
                    <a:pt x="389576" y="1574800"/>
                  </a:lnTo>
                  <a:lnTo>
                    <a:pt x="376697" y="1536700"/>
                  </a:lnTo>
                  <a:lnTo>
                    <a:pt x="366021" y="1485900"/>
                  </a:lnTo>
                  <a:lnTo>
                    <a:pt x="357609" y="1435100"/>
                  </a:lnTo>
                  <a:lnTo>
                    <a:pt x="351524" y="1397000"/>
                  </a:lnTo>
                  <a:lnTo>
                    <a:pt x="347828" y="1346200"/>
                  </a:lnTo>
                  <a:lnTo>
                    <a:pt x="346583" y="1295400"/>
                  </a:lnTo>
                  <a:lnTo>
                    <a:pt x="347828" y="1244600"/>
                  </a:lnTo>
                  <a:lnTo>
                    <a:pt x="351524" y="1206500"/>
                  </a:lnTo>
                  <a:lnTo>
                    <a:pt x="357609" y="1155700"/>
                  </a:lnTo>
                  <a:lnTo>
                    <a:pt x="366021" y="1104900"/>
                  </a:lnTo>
                  <a:lnTo>
                    <a:pt x="376697" y="1066800"/>
                  </a:lnTo>
                  <a:lnTo>
                    <a:pt x="389576" y="1016000"/>
                  </a:lnTo>
                  <a:lnTo>
                    <a:pt x="404597" y="977900"/>
                  </a:lnTo>
                  <a:lnTo>
                    <a:pt x="421697" y="927100"/>
                  </a:lnTo>
                  <a:lnTo>
                    <a:pt x="440815" y="889000"/>
                  </a:lnTo>
                  <a:lnTo>
                    <a:pt x="461888" y="850900"/>
                  </a:lnTo>
                  <a:lnTo>
                    <a:pt x="484855" y="812800"/>
                  </a:lnTo>
                  <a:lnTo>
                    <a:pt x="509654" y="774700"/>
                  </a:lnTo>
                  <a:lnTo>
                    <a:pt x="536224" y="736600"/>
                  </a:lnTo>
                  <a:lnTo>
                    <a:pt x="564501" y="698500"/>
                  </a:lnTo>
                  <a:lnTo>
                    <a:pt x="594426" y="660400"/>
                  </a:lnTo>
                  <a:lnTo>
                    <a:pt x="625935" y="635000"/>
                  </a:lnTo>
                  <a:lnTo>
                    <a:pt x="658967" y="596900"/>
                  </a:lnTo>
                  <a:lnTo>
                    <a:pt x="693460" y="571500"/>
                  </a:lnTo>
                  <a:lnTo>
                    <a:pt x="729352" y="546100"/>
                  </a:lnTo>
                  <a:lnTo>
                    <a:pt x="766582" y="520700"/>
                  </a:lnTo>
                  <a:lnTo>
                    <a:pt x="805087" y="495300"/>
                  </a:lnTo>
                  <a:lnTo>
                    <a:pt x="844806" y="469900"/>
                  </a:lnTo>
                  <a:lnTo>
                    <a:pt x="885676" y="444500"/>
                  </a:lnTo>
                  <a:lnTo>
                    <a:pt x="927637" y="431800"/>
                  </a:lnTo>
                  <a:lnTo>
                    <a:pt x="970626" y="406400"/>
                  </a:lnTo>
                  <a:lnTo>
                    <a:pt x="1105144" y="368300"/>
                  </a:lnTo>
                  <a:lnTo>
                    <a:pt x="1151628" y="368300"/>
                  </a:lnTo>
                  <a:lnTo>
                    <a:pt x="1198830" y="355600"/>
                  </a:lnTo>
                  <a:lnTo>
                    <a:pt x="2171453" y="355600"/>
                  </a:lnTo>
                  <a:lnTo>
                    <a:pt x="2137942" y="317500"/>
                  </a:lnTo>
                  <a:lnTo>
                    <a:pt x="2103374" y="292100"/>
                  </a:lnTo>
                  <a:lnTo>
                    <a:pt x="2067781" y="266700"/>
                  </a:lnTo>
                  <a:lnTo>
                    <a:pt x="2031192" y="241300"/>
                  </a:lnTo>
                  <a:lnTo>
                    <a:pt x="1993638" y="215900"/>
                  </a:lnTo>
                  <a:lnTo>
                    <a:pt x="1955149" y="190500"/>
                  </a:lnTo>
                  <a:lnTo>
                    <a:pt x="1915754" y="165100"/>
                  </a:lnTo>
                  <a:lnTo>
                    <a:pt x="1875485" y="139700"/>
                  </a:lnTo>
                  <a:lnTo>
                    <a:pt x="1834372" y="127000"/>
                  </a:lnTo>
                  <a:lnTo>
                    <a:pt x="1792444" y="101600"/>
                  </a:lnTo>
                  <a:lnTo>
                    <a:pt x="1617192" y="50800"/>
                  </a:lnTo>
                  <a:lnTo>
                    <a:pt x="1525466" y="25400"/>
                  </a:lnTo>
                  <a:close/>
                </a:path>
                <a:path w="2581275" h="2590800">
                  <a:moveTo>
                    <a:pt x="2171453" y="355600"/>
                  </a:moveTo>
                  <a:lnTo>
                    <a:pt x="1391380" y="355600"/>
                  </a:lnTo>
                  <a:lnTo>
                    <a:pt x="1438470" y="368300"/>
                  </a:lnTo>
                  <a:lnTo>
                    <a:pt x="1484796" y="368300"/>
                  </a:lnTo>
                  <a:lnTo>
                    <a:pt x="1618610" y="406400"/>
                  </a:lnTo>
                  <a:lnTo>
                    <a:pt x="1661298" y="431800"/>
                  </a:lnTo>
                  <a:lnTo>
                    <a:pt x="1702931" y="444500"/>
                  </a:lnTo>
                  <a:lnTo>
                    <a:pt x="1743450" y="469900"/>
                  </a:lnTo>
                  <a:lnTo>
                    <a:pt x="1782797" y="495300"/>
                  </a:lnTo>
                  <a:lnTo>
                    <a:pt x="1820912" y="520700"/>
                  </a:lnTo>
                  <a:lnTo>
                    <a:pt x="1857738" y="546100"/>
                  </a:lnTo>
                  <a:lnTo>
                    <a:pt x="1893216" y="571500"/>
                  </a:lnTo>
                  <a:lnTo>
                    <a:pt x="1927288" y="596900"/>
                  </a:lnTo>
                  <a:lnTo>
                    <a:pt x="1959895" y="635000"/>
                  </a:lnTo>
                  <a:lnTo>
                    <a:pt x="1990979" y="660400"/>
                  </a:lnTo>
                  <a:lnTo>
                    <a:pt x="2020481" y="698500"/>
                  </a:lnTo>
                  <a:lnTo>
                    <a:pt x="2048343" y="736600"/>
                  </a:lnTo>
                  <a:lnTo>
                    <a:pt x="2074506" y="774700"/>
                  </a:lnTo>
                  <a:lnTo>
                    <a:pt x="2098912" y="812800"/>
                  </a:lnTo>
                  <a:lnTo>
                    <a:pt x="2121503" y="850900"/>
                  </a:lnTo>
                  <a:lnTo>
                    <a:pt x="2142220" y="889000"/>
                  </a:lnTo>
                  <a:lnTo>
                    <a:pt x="2161004" y="927100"/>
                  </a:lnTo>
                  <a:lnTo>
                    <a:pt x="2177797" y="977900"/>
                  </a:lnTo>
                  <a:lnTo>
                    <a:pt x="2192541" y="1016000"/>
                  </a:lnTo>
                  <a:lnTo>
                    <a:pt x="2205176" y="1066800"/>
                  </a:lnTo>
                  <a:lnTo>
                    <a:pt x="2215646" y="1104900"/>
                  </a:lnTo>
                  <a:lnTo>
                    <a:pt x="2223891" y="1155700"/>
                  </a:lnTo>
                  <a:lnTo>
                    <a:pt x="2229852" y="1206500"/>
                  </a:lnTo>
                  <a:lnTo>
                    <a:pt x="2233472" y="1244600"/>
                  </a:lnTo>
                  <a:lnTo>
                    <a:pt x="2234692" y="1295400"/>
                  </a:lnTo>
                  <a:lnTo>
                    <a:pt x="2233472" y="1346200"/>
                  </a:lnTo>
                  <a:lnTo>
                    <a:pt x="2229852" y="1397000"/>
                  </a:lnTo>
                  <a:lnTo>
                    <a:pt x="2223891" y="1435100"/>
                  </a:lnTo>
                  <a:lnTo>
                    <a:pt x="2215646" y="1485900"/>
                  </a:lnTo>
                  <a:lnTo>
                    <a:pt x="2205176" y="1536700"/>
                  </a:lnTo>
                  <a:lnTo>
                    <a:pt x="2192541" y="1574800"/>
                  </a:lnTo>
                  <a:lnTo>
                    <a:pt x="2177797" y="1625600"/>
                  </a:lnTo>
                  <a:lnTo>
                    <a:pt x="2161004" y="1663700"/>
                  </a:lnTo>
                  <a:lnTo>
                    <a:pt x="2142220" y="1701800"/>
                  </a:lnTo>
                  <a:lnTo>
                    <a:pt x="2121503" y="1752600"/>
                  </a:lnTo>
                  <a:lnTo>
                    <a:pt x="2098912" y="1790700"/>
                  </a:lnTo>
                  <a:lnTo>
                    <a:pt x="2074506" y="1828800"/>
                  </a:lnTo>
                  <a:lnTo>
                    <a:pt x="2048343" y="1866900"/>
                  </a:lnTo>
                  <a:lnTo>
                    <a:pt x="2020481" y="1892300"/>
                  </a:lnTo>
                  <a:lnTo>
                    <a:pt x="1990979" y="1930400"/>
                  </a:lnTo>
                  <a:lnTo>
                    <a:pt x="1959895" y="1968500"/>
                  </a:lnTo>
                  <a:lnTo>
                    <a:pt x="1927288" y="1993900"/>
                  </a:lnTo>
                  <a:lnTo>
                    <a:pt x="1893216" y="2019300"/>
                  </a:lnTo>
                  <a:lnTo>
                    <a:pt x="1857738" y="2057400"/>
                  </a:lnTo>
                  <a:lnTo>
                    <a:pt x="1820912" y="2082800"/>
                  </a:lnTo>
                  <a:lnTo>
                    <a:pt x="1782797" y="2108200"/>
                  </a:lnTo>
                  <a:lnTo>
                    <a:pt x="1743450" y="2120900"/>
                  </a:lnTo>
                  <a:lnTo>
                    <a:pt x="1702931" y="2146300"/>
                  </a:lnTo>
                  <a:lnTo>
                    <a:pt x="1661298" y="2171700"/>
                  </a:lnTo>
                  <a:lnTo>
                    <a:pt x="1574924" y="2197100"/>
                  </a:lnTo>
                  <a:lnTo>
                    <a:pt x="1438470" y="2235200"/>
                  </a:lnTo>
                  <a:lnTo>
                    <a:pt x="2182261" y="2235200"/>
                  </a:lnTo>
                  <a:lnTo>
                    <a:pt x="2203878" y="2209800"/>
                  </a:lnTo>
                  <a:lnTo>
                    <a:pt x="2235187" y="2184400"/>
                  </a:lnTo>
                  <a:lnTo>
                    <a:pt x="2265349" y="2146300"/>
                  </a:lnTo>
                  <a:lnTo>
                    <a:pt x="2294334" y="2108200"/>
                  </a:lnTo>
                  <a:lnTo>
                    <a:pt x="2322112" y="2082800"/>
                  </a:lnTo>
                  <a:lnTo>
                    <a:pt x="2348653" y="2044700"/>
                  </a:lnTo>
                  <a:lnTo>
                    <a:pt x="2373927" y="2006600"/>
                  </a:lnTo>
                  <a:lnTo>
                    <a:pt x="2397902" y="1968500"/>
                  </a:lnTo>
                  <a:lnTo>
                    <a:pt x="2420550" y="1930400"/>
                  </a:lnTo>
                  <a:lnTo>
                    <a:pt x="2441840" y="1879600"/>
                  </a:lnTo>
                  <a:lnTo>
                    <a:pt x="2461741" y="1841500"/>
                  </a:lnTo>
                  <a:lnTo>
                    <a:pt x="2480224" y="1803400"/>
                  </a:lnTo>
                  <a:lnTo>
                    <a:pt x="2497258" y="1752600"/>
                  </a:lnTo>
                  <a:lnTo>
                    <a:pt x="2512814" y="1714500"/>
                  </a:lnTo>
                  <a:lnTo>
                    <a:pt x="2526860" y="1676400"/>
                  </a:lnTo>
                  <a:lnTo>
                    <a:pt x="2539366" y="1625600"/>
                  </a:lnTo>
                  <a:lnTo>
                    <a:pt x="2550304" y="1574800"/>
                  </a:lnTo>
                  <a:lnTo>
                    <a:pt x="2559641" y="1536700"/>
                  </a:lnTo>
                  <a:lnTo>
                    <a:pt x="2567349" y="1485900"/>
                  </a:lnTo>
                  <a:lnTo>
                    <a:pt x="2573396" y="1435100"/>
                  </a:lnTo>
                  <a:lnTo>
                    <a:pt x="2577753" y="1397000"/>
                  </a:lnTo>
                  <a:lnTo>
                    <a:pt x="2580389" y="1346200"/>
                  </a:lnTo>
                  <a:lnTo>
                    <a:pt x="2581275" y="1295400"/>
                  </a:lnTo>
                  <a:lnTo>
                    <a:pt x="2580389" y="1244600"/>
                  </a:lnTo>
                  <a:lnTo>
                    <a:pt x="2577753" y="1206500"/>
                  </a:lnTo>
                  <a:lnTo>
                    <a:pt x="2573396" y="1155700"/>
                  </a:lnTo>
                  <a:lnTo>
                    <a:pt x="2567349" y="1104900"/>
                  </a:lnTo>
                  <a:lnTo>
                    <a:pt x="2559641" y="1054100"/>
                  </a:lnTo>
                  <a:lnTo>
                    <a:pt x="2550304" y="1016000"/>
                  </a:lnTo>
                  <a:lnTo>
                    <a:pt x="2539366" y="965200"/>
                  </a:lnTo>
                  <a:lnTo>
                    <a:pt x="2526860" y="927100"/>
                  </a:lnTo>
                  <a:lnTo>
                    <a:pt x="2512814" y="876300"/>
                  </a:lnTo>
                  <a:lnTo>
                    <a:pt x="2497258" y="838200"/>
                  </a:lnTo>
                  <a:lnTo>
                    <a:pt x="2480224" y="800100"/>
                  </a:lnTo>
                  <a:lnTo>
                    <a:pt x="2461741" y="749300"/>
                  </a:lnTo>
                  <a:lnTo>
                    <a:pt x="2441840" y="711200"/>
                  </a:lnTo>
                  <a:lnTo>
                    <a:pt x="2420550" y="673100"/>
                  </a:lnTo>
                  <a:lnTo>
                    <a:pt x="2397902" y="635000"/>
                  </a:lnTo>
                  <a:lnTo>
                    <a:pt x="2373927" y="596900"/>
                  </a:lnTo>
                  <a:lnTo>
                    <a:pt x="2348653" y="558800"/>
                  </a:lnTo>
                  <a:lnTo>
                    <a:pt x="2322112" y="520700"/>
                  </a:lnTo>
                  <a:lnTo>
                    <a:pt x="2294334" y="482600"/>
                  </a:lnTo>
                  <a:lnTo>
                    <a:pt x="2265349" y="444500"/>
                  </a:lnTo>
                  <a:lnTo>
                    <a:pt x="2235187" y="419100"/>
                  </a:lnTo>
                  <a:lnTo>
                    <a:pt x="2203878" y="381000"/>
                  </a:lnTo>
                  <a:lnTo>
                    <a:pt x="2171453" y="355600"/>
                  </a:lnTo>
                  <a:close/>
                </a:path>
                <a:path w="2581275" h="2590800">
                  <a:moveTo>
                    <a:pt x="1431328" y="12700"/>
                  </a:moveTo>
                  <a:lnTo>
                    <a:pt x="1142650" y="12700"/>
                  </a:lnTo>
                  <a:lnTo>
                    <a:pt x="1095816" y="25400"/>
                  </a:lnTo>
                  <a:lnTo>
                    <a:pt x="1478684" y="25400"/>
                  </a:lnTo>
                  <a:lnTo>
                    <a:pt x="1431328" y="12700"/>
                  </a:lnTo>
                  <a:close/>
                </a:path>
                <a:path w="2581275" h="2590800">
                  <a:moveTo>
                    <a:pt x="1286128" y="0"/>
                  </a:moveTo>
                  <a:lnTo>
                    <a:pt x="1237837" y="12700"/>
                  </a:lnTo>
                  <a:lnTo>
                    <a:pt x="1335021" y="12700"/>
                  </a:lnTo>
                  <a:lnTo>
                    <a:pt x="1286128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90975" y="1543088"/>
              <a:ext cx="1057275" cy="104783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67200" y="17621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60545" y="1848802"/>
            <a:ext cx="3492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01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95675" y="3181350"/>
            <a:ext cx="1057275" cy="1038225"/>
            <a:chOff x="3495675" y="3181350"/>
            <a:chExt cx="1057275" cy="103822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5675" y="3181350"/>
              <a:ext cx="1057275" cy="10382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71900" y="3400425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257175" y="0"/>
                  </a:moveTo>
                  <a:lnTo>
                    <a:pt x="210960" y="4067"/>
                  </a:lnTo>
                  <a:lnTo>
                    <a:pt x="167457" y="15793"/>
                  </a:lnTo>
                  <a:lnTo>
                    <a:pt x="127395" y="34464"/>
                  </a:lnTo>
                  <a:lnTo>
                    <a:pt x="91500" y="59365"/>
                  </a:lnTo>
                  <a:lnTo>
                    <a:pt x="60500" y="89784"/>
                  </a:lnTo>
                  <a:lnTo>
                    <a:pt x="35122" y="125005"/>
                  </a:lnTo>
                  <a:lnTo>
                    <a:pt x="16095" y="164316"/>
                  </a:lnTo>
                  <a:lnTo>
                    <a:pt x="4145" y="207001"/>
                  </a:lnTo>
                  <a:lnTo>
                    <a:pt x="0" y="252349"/>
                  </a:lnTo>
                  <a:lnTo>
                    <a:pt x="4145" y="297733"/>
                  </a:lnTo>
                  <a:lnTo>
                    <a:pt x="16095" y="340449"/>
                  </a:lnTo>
                  <a:lnTo>
                    <a:pt x="35122" y="379781"/>
                  </a:lnTo>
                  <a:lnTo>
                    <a:pt x="60500" y="415019"/>
                  </a:lnTo>
                  <a:lnTo>
                    <a:pt x="91500" y="445448"/>
                  </a:lnTo>
                  <a:lnTo>
                    <a:pt x="127395" y="470356"/>
                  </a:lnTo>
                  <a:lnTo>
                    <a:pt x="167457" y="489030"/>
                  </a:lnTo>
                  <a:lnTo>
                    <a:pt x="210960" y="500757"/>
                  </a:lnTo>
                  <a:lnTo>
                    <a:pt x="257175" y="504825"/>
                  </a:lnTo>
                  <a:lnTo>
                    <a:pt x="303389" y="500757"/>
                  </a:lnTo>
                  <a:lnTo>
                    <a:pt x="346892" y="489030"/>
                  </a:lnTo>
                  <a:lnTo>
                    <a:pt x="386954" y="470356"/>
                  </a:lnTo>
                  <a:lnTo>
                    <a:pt x="422849" y="445448"/>
                  </a:lnTo>
                  <a:lnTo>
                    <a:pt x="453849" y="415019"/>
                  </a:lnTo>
                  <a:lnTo>
                    <a:pt x="479227" y="379781"/>
                  </a:lnTo>
                  <a:lnTo>
                    <a:pt x="498254" y="340449"/>
                  </a:lnTo>
                  <a:lnTo>
                    <a:pt x="510204" y="297733"/>
                  </a:lnTo>
                  <a:lnTo>
                    <a:pt x="514350" y="252349"/>
                  </a:lnTo>
                  <a:lnTo>
                    <a:pt x="510204" y="207001"/>
                  </a:lnTo>
                  <a:lnTo>
                    <a:pt x="498254" y="164316"/>
                  </a:lnTo>
                  <a:lnTo>
                    <a:pt x="479227" y="125005"/>
                  </a:lnTo>
                  <a:lnTo>
                    <a:pt x="453849" y="89784"/>
                  </a:lnTo>
                  <a:lnTo>
                    <a:pt x="422849" y="59365"/>
                  </a:lnTo>
                  <a:lnTo>
                    <a:pt x="386954" y="34464"/>
                  </a:lnTo>
                  <a:lnTo>
                    <a:pt x="346892" y="15793"/>
                  </a:lnTo>
                  <a:lnTo>
                    <a:pt x="303389" y="4067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62451" y="3483673"/>
            <a:ext cx="3492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02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90975" y="4810125"/>
            <a:ext cx="1057275" cy="1048385"/>
            <a:chOff x="3990975" y="4810125"/>
            <a:chExt cx="1057275" cy="104838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90975" y="4810125"/>
              <a:ext cx="1057275" cy="104783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67200" y="50292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360545" y="5118734"/>
            <a:ext cx="3492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03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96125" y="1543088"/>
            <a:ext cx="1057275" cy="1048385"/>
            <a:chOff x="7096125" y="1543088"/>
            <a:chExt cx="1057275" cy="1048385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96125" y="1543088"/>
              <a:ext cx="1057275" cy="104783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372350" y="176212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68234" y="1848802"/>
            <a:ext cx="3492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04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96125" y="3181350"/>
            <a:ext cx="1314450" cy="2677160"/>
            <a:chOff x="7096125" y="3181350"/>
            <a:chExt cx="1314450" cy="267716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96125" y="4810125"/>
              <a:ext cx="1057275" cy="104783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72350" y="50292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53300" y="3181350"/>
              <a:ext cx="1057275" cy="103822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29525" y="3400425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257175" y="0"/>
                  </a:moveTo>
                  <a:lnTo>
                    <a:pt x="210960" y="4067"/>
                  </a:lnTo>
                  <a:lnTo>
                    <a:pt x="167457" y="15793"/>
                  </a:lnTo>
                  <a:lnTo>
                    <a:pt x="127395" y="34464"/>
                  </a:lnTo>
                  <a:lnTo>
                    <a:pt x="91500" y="59365"/>
                  </a:lnTo>
                  <a:lnTo>
                    <a:pt x="60500" y="89784"/>
                  </a:lnTo>
                  <a:lnTo>
                    <a:pt x="35122" y="125005"/>
                  </a:lnTo>
                  <a:lnTo>
                    <a:pt x="16095" y="164316"/>
                  </a:lnTo>
                  <a:lnTo>
                    <a:pt x="4145" y="207001"/>
                  </a:lnTo>
                  <a:lnTo>
                    <a:pt x="0" y="252349"/>
                  </a:lnTo>
                  <a:lnTo>
                    <a:pt x="4145" y="297733"/>
                  </a:lnTo>
                  <a:lnTo>
                    <a:pt x="16095" y="340449"/>
                  </a:lnTo>
                  <a:lnTo>
                    <a:pt x="35122" y="379781"/>
                  </a:lnTo>
                  <a:lnTo>
                    <a:pt x="60500" y="415019"/>
                  </a:lnTo>
                  <a:lnTo>
                    <a:pt x="91500" y="445448"/>
                  </a:lnTo>
                  <a:lnTo>
                    <a:pt x="127395" y="470356"/>
                  </a:lnTo>
                  <a:lnTo>
                    <a:pt x="167457" y="489030"/>
                  </a:lnTo>
                  <a:lnTo>
                    <a:pt x="210960" y="500757"/>
                  </a:lnTo>
                  <a:lnTo>
                    <a:pt x="257175" y="504825"/>
                  </a:lnTo>
                  <a:lnTo>
                    <a:pt x="303389" y="500757"/>
                  </a:lnTo>
                  <a:lnTo>
                    <a:pt x="346892" y="489030"/>
                  </a:lnTo>
                  <a:lnTo>
                    <a:pt x="386954" y="470356"/>
                  </a:lnTo>
                  <a:lnTo>
                    <a:pt x="422849" y="445448"/>
                  </a:lnTo>
                  <a:lnTo>
                    <a:pt x="453849" y="415019"/>
                  </a:lnTo>
                  <a:lnTo>
                    <a:pt x="479227" y="379781"/>
                  </a:lnTo>
                  <a:lnTo>
                    <a:pt x="498254" y="340449"/>
                  </a:lnTo>
                  <a:lnTo>
                    <a:pt x="510204" y="297733"/>
                  </a:lnTo>
                  <a:lnTo>
                    <a:pt x="514350" y="252349"/>
                  </a:lnTo>
                  <a:lnTo>
                    <a:pt x="510204" y="207001"/>
                  </a:lnTo>
                  <a:lnTo>
                    <a:pt x="498254" y="164316"/>
                  </a:lnTo>
                  <a:lnTo>
                    <a:pt x="479227" y="125005"/>
                  </a:lnTo>
                  <a:lnTo>
                    <a:pt x="453849" y="89784"/>
                  </a:lnTo>
                  <a:lnTo>
                    <a:pt x="422849" y="59365"/>
                  </a:lnTo>
                  <a:lnTo>
                    <a:pt x="386954" y="34464"/>
                  </a:lnTo>
                  <a:lnTo>
                    <a:pt x="346892" y="15793"/>
                  </a:lnTo>
                  <a:lnTo>
                    <a:pt x="303389" y="4067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24140" y="3483673"/>
            <a:ext cx="3498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05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2817" y="1508950"/>
            <a:ext cx="3059430" cy="9886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49800"/>
              </a:lnSpc>
              <a:spcBef>
                <a:spcPts val="130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在知识图谱层，对语义理解的可能性进行逻辑推理。去除在逻辑上或是从表结构上来看是不可能存在的，自动去除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77581" y="1432302"/>
            <a:ext cx="3065145" cy="1026794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采用规则引擎，而不是概率引擎，如对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于数字，在数字解析上：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61.55</a:t>
            </a:r>
            <a:r>
              <a:rPr sz="1400" spc="-20" dirty="0">
                <a:solidFill>
                  <a:srgbClr val="404040"/>
                </a:solidFill>
                <a:latin typeface="Microsoft YaHei"/>
                <a:cs typeface="Microsoft YaHei"/>
              </a:rPr>
              <a:t>万亿=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61.55*10000*100000000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4334" y="3098739"/>
            <a:ext cx="3252470" cy="989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49800"/>
              </a:lnSpc>
              <a:spcBef>
                <a:spcPts val="135"/>
              </a:spcBef>
            </a:pPr>
            <a:r>
              <a:rPr sz="1400" spc="-40" dirty="0">
                <a:solidFill>
                  <a:srgbClr val="404040"/>
                </a:solidFill>
                <a:latin typeface="Microsoft YaHei"/>
                <a:cs typeface="Microsoft YaHei"/>
              </a:rPr>
              <a:t>自然语言非直接转换成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SQL</a:t>
            </a:r>
            <a:r>
              <a:rPr sz="1400" spc="-40" dirty="0">
                <a:solidFill>
                  <a:srgbClr val="404040"/>
                </a:solidFill>
                <a:latin typeface="Microsoft YaHei"/>
                <a:cs typeface="Microsoft YaHei"/>
              </a:rPr>
              <a:t>，而是先转化</a:t>
            </a:r>
            <a:r>
              <a:rPr sz="1400" spc="-25" dirty="0">
                <a:solidFill>
                  <a:srgbClr val="404040"/>
                </a:solidFill>
                <a:latin typeface="Microsoft YaHei"/>
                <a:cs typeface="Microsoft YaHei"/>
              </a:rPr>
              <a:t>成一个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JSON(Logicform</a:t>
            </a: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)，程序化表达用</a:t>
            </a: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户意图达，再工程化的转译为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SQL</a:t>
            </a: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并执行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64855" y="3081464"/>
            <a:ext cx="2926080" cy="9886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49800"/>
              </a:lnSpc>
              <a:spcBef>
                <a:spcPts val="130"/>
              </a:spcBef>
            </a:pPr>
            <a:r>
              <a:rPr sz="1400" spc="-5" dirty="0">
                <a:solidFill>
                  <a:srgbClr val="404040"/>
                </a:solidFill>
                <a:latin typeface="Microsoft YaHei"/>
                <a:cs typeface="Microsoft YaHei"/>
              </a:rPr>
              <a:t>具备对各种关键词手动调整优先级的功能。满足在纷繁复杂的关键词中将</a:t>
            </a: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一些核心词提升优先级的需求。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32304" y="4755705"/>
            <a:ext cx="2162810" cy="989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49800"/>
              </a:lnSpc>
              <a:spcBef>
                <a:spcPts val="130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本系统支持纯私有化部署、支持纯无卡部署，帮助企业</a:t>
            </a: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灵活开展</a:t>
            </a:r>
            <a:r>
              <a:rPr sz="1400" dirty="0">
                <a:solidFill>
                  <a:srgbClr val="404040"/>
                </a:solidFill>
                <a:latin typeface="Microsoft YaHei"/>
                <a:cs typeface="Microsoft YaHei"/>
              </a:rPr>
              <a:t>Chat</a:t>
            </a:r>
            <a:r>
              <a:rPr sz="1400" spc="35" dirty="0">
                <a:solidFill>
                  <a:srgbClr val="404040"/>
                </a:solidFill>
                <a:latin typeface="Microsoft YaHei"/>
                <a:cs typeface="Microsoft YaHe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BI</a:t>
            </a:r>
            <a:r>
              <a:rPr sz="1400" spc="-25" dirty="0">
                <a:solidFill>
                  <a:srgbClr val="404040"/>
                </a:solidFill>
                <a:latin typeface="Microsoft YaHei"/>
                <a:cs typeface="Microsoft YaHei"/>
              </a:rPr>
              <a:t>建设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8234" y="4849378"/>
            <a:ext cx="3455035" cy="90360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677545">
              <a:lnSpc>
                <a:spcPct val="100000"/>
              </a:lnSpc>
              <a:spcBef>
                <a:spcPts val="295"/>
              </a:spcBef>
            </a:pPr>
            <a:r>
              <a:rPr sz="1400" spc="-5" dirty="0">
                <a:solidFill>
                  <a:srgbClr val="404040"/>
                </a:solidFill>
                <a:latin typeface="Microsoft YaHei"/>
                <a:cs typeface="Microsoft YaHei"/>
              </a:rPr>
              <a:t>数据权限分为表级别、行级别、列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676910" algn="l"/>
              </a:tabLst>
            </a:pPr>
            <a:r>
              <a:rPr sz="20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06</a:t>
            </a:r>
            <a:r>
              <a:rPr sz="2000" b="1" dirty="0">
                <a:solidFill>
                  <a:srgbClr val="FFFFFF"/>
                </a:solidFill>
                <a:latin typeface="Microsoft YaHei"/>
                <a:cs typeface="Microsoft YaHei"/>
              </a:rPr>
              <a:t>	</a:t>
            </a:r>
            <a:r>
              <a:rPr sz="1400" dirty="0">
                <a:solidFill>
                  <a:srgbClr val="404040"/>
                </a:solidFill>
                <a:latin typeface="Microsoft YaHei"/>
                <a:cs typeface="Microsoft YaHei"/>
              </a:rPr>
              <a:t>级别，实现面向每个用户、精确控</a:t>
            </a:r>
            <a:endParaRPr sz="1400">
              <a:latin typeface="Microsoft YaHei"/>
              <a:cs typeface="Microsoft YaHei"/>
            </a:endParaRPr>
          </a:p>
          <a:p>
            <a:pPr marL="677545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制每一个数据单元格的权限。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2144" y="2026270"/>
            <a:ext cx="3808729" cy="179705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6000" spc="-45" dirty="0">
                <a:solidFill>
                  <a:srgbClr val="000000"/>
                </a:solidFill>
              </a:rPr>
              <a:t>PART</a:t>
            </a:r>
            <a:r>
              <a:rPr sz="6000" spc="-375" dirty="0">
                <a:solidFill>
                  <a:srgbClr val="000000"/>
                </a:solidFill>
              </a:rPr>
              <a:t> </a:t>
            </a:r>
            <a:r>
              <a:rPr sz="6000" spc="-25" dirty="0">
                <a:solidFill>
                  <a:srgbClr val="FD7B77"/>
                </a:solidFill>
              </a:rPr>
              <a:t>04</a:t>
            </a:r>
            <a:endParaRPr sz="6000"/>
          </a:p>
          <a:p>
            <a:pPr marL="74295">
              <a:lnSpc>
                <a:spcPct val="100000"/>
              </a:lnSpc>
              <a:spcBef>
                <a:spcPts val="815"/>
              </a:spcBef>
            </a:pPr>
            <a:r>
              <a:rPr sz="3950" spc="-5" dirty="0">
                <a:solidFill>
                  <a:srgbClr val="3623C5"/>
                </a:solidFill>
              </a:rPr>
              <a:t>开展</a:t>
            </a:r>
            <a:r>
              <a:rPr sz="3950" dirty="0">
                <a:solidFill>
                  <a:srgbClr val="3623C5"/>
                </a:solidFill>
              </a:rPr>
              <a:t>ChatBI</a:t>
            </a:r>
            <a:r>
              <a:rPr sz="3950" spc="-25" dirty="0">
                <a:solidFill>
                  <a:srgbClr val="3623C5"/>
                </a:solidFill>
              </a:rPr>
              <a:t>项目</a:t>
            </a:r>
            <a:endParaRPr sz="3950"/>
          </a:p>
        </p:txBody>
      </p:sp>
      <p:grpSp>
        <p:nvGrpSpPr>
          <p:cNvPr id="5" name="object 5"/>
          <p:cNvGrpSpPr/>
          <p:nvPr/>
        </p:nvGrpSpPr>
        <p:grpSpPr>
          <a:xfrm>
            <a:off x="6562725" y="-6350"/>
            <a:ext cx="5629275" cy="6870700"/>
            <a:chOff x="6562725" y="-6350"/>
            <a:chExt cx="5629275" cy="6870700"/>
          </a:xfrm>
        </p:grpSpPr>
        <p:sp>
          <p:nvSpPr>
            <p:cNvPr id="6" name="object 6"/>
            <p:cNvSpPr/>
            <p:nvPr/>
          </p:nvSpPr>
          <p:spPr>
            <a:xfrm>
              <a:off x="6562725" y="0"/>
              <a:ext cx="5629275" cy="6858000"/>
            </a:xfrm>
            <a:custGeom>
              <a:avLst/>
              <a:gdLst/>
              <a:ahLst/>
              <a:cxnLst/>
              <a:rect l="l" t="t" r="r" b="b"/>
              <a:pathLst>
                <a:path w="5629275" h="6858000">
                  <a:moveTo>
                    <a:pt x="5629275" y="0"/>
                  </a:moveTo>
                  <a:lnTo>
                    <a:pt x="1224922" y="0"/>
                  </a:lnTo>
                  <a:lnTo>
                    <a:pt x="1196611" y="39570"/>
                  </a:lnTo>
                  <a:lnTo>
                    <a:pt x="1167779" y="80528"/>
                  </a:lnTo>
                  <a:lnTo>
                    <a:pt x="1139256" y="121716"/>
                  </a:lnTo>
                  <a:lnTo>
                    <a:pt x="1111042" y="163134"/>
                  </a:lnTo>
                  <a:lnTo>
                    <a:pt x="1083140" y="204779"/>
                  </a:lnTo>
                  <a:lnTo>
                    <a:pt x="1055551" y="246650"/>
                  </a:lnTo>
                  <a:lnTo>
                    <a:pt x="1028276" y="288746"/>
                  </a:lnTo>
                  <a:lnTo>
                    <a:pt x="1001318" y="331064"/>
                  </a:lnTo>
                  <a:lnTo>
                    <a:pt x="974678" y="373603"/>
                  </a:lnTo>
                  <a:lnTo>
                    <a:pt x="948357" y="416362"/>
                  </a:lnTo>
                  <a:lnTo>
                    <a:pt x="922358" y="459337"/>
                  </a:lnTo>
                  <a:lnTo>
                    <a:pt x="896682" y="502529"/>
                  </a:lnTo>
                  <a:lnTo>
                    <a:pt x="871330" y="545935"/>
                  </a:lnTo>
                  <a:lnTo>
                    <a:pt x="846305" y="589554"/>
                  </a:lnTo>
                  <a:lnTo>
                    <a:pt x="821608" y="633383"/>
                  </a:lnTo>
                  <a:lnTo>
                    <a:pt x="797241" y="677422"/>
                  </a:lnTo>
                  <a:lnTo>
                    <a:pt x="773205" y="721668"/>
                  </a:lnTo>
                  <a:lnTo>
                    <a:pt x="749503" y="766120"/>
                  </a:lnTo>
                  <a:lnTo>
                    <a:pt x="726135" y="810776"/>
                  </a:lnTo>
                  <a:lnTo>
                    <a:pt x="703103" y="855635"/>
                  </a:lnTo>
                  <a:lnTo>
                    <a:pt x="680410" y="900694"/>
                  </a:lnTo>
                  <a:lnTo>
                    <a:pt x="658056" y="945953"/>
                  </a:lnTo>
                  <a:lnTo>
                    <a:pt x="636044" y="991409"/>
                  </a:lnTo>
                  <a:lnTo>
                    <a:pt x="614375" y="1037061"/>
                  </a:lnTo>
                  <a:lnTo>
                    <a:pt x="593051" y="1082907"/>
                  </a:lnTo>
                  <a:lnTo>
                    <a:pt x="572073" y="1128946"/>
                  </a:lnTo>
                  <a:lnTo>
                    <a:pt x="551444" y="1175175"/>
                  </a:lnTo>
                  <a:lnTo>
                    <a:pt x="531164" y="1221594"/>
                  </a:lnTo>
                  <a:lnTo>
                    <a:pt x="511236" y="1268200"/>
                  </a:lnTo>
                  <a:lnTo>
                    <a:pt x="491661" y="1314991"/>
                  </a:lnTo>
                  <a:lnTo>
                    <a:pt x="472441" y="1361967"/>
                  </a:lnTo>
                  <a:lnTo>
                    <a:pt x="453577" y="1409125"/>
                  </a:lnTo>
                  <a:lnTo>
                    <a:pt x="435072" y="1456464"/>
                  </a:lnTo>
                  <a:lnTo>
                    <a:pt x="416926" y="1503982"/>
                  </a:lnTo>
                  <a:lnTo>
                    <a:pt x="399142" y="1551677"/>
                  </a:lnTo>
                  <a:lnTo>
                    <a:pt x="381722" y="1599548"/>
                  </a:lnTo>
                  <a:lnTo>
                    <a:pt x="364666" y="1647594"/>
                  </a:lnTo>
                  <a:lnTo>
                    <a:pt x="347976" y="1695811"/>
                  </a:lnTo>
                  <a:lnTo>
                    <a:pt x="331655" y="1744199"/>
                  </a:lnTo>
                  <a:lnTo>
                    <a:pt x="315704" y="1792756"/>
                  </a:lnTo>
                  <a:lnTo>
                    <a:pt x="300125" y="1841481"/>
                  </a:lnTo>
                  <a:lnTo>
                    <a:pt x="284919" y="1890371"/>
                  </a:lnTo>
                  <a:lnTo>
                    <a:pt x="270087" y="1939425"/>
                  </a:lnTo>
                  <a:lnTo>
                    <a:pt x="255633" y="1988642"/>
                  </a:lnTo>
                  <a:lnTo>
                    <a:pt x="241556" y="2038019"/>
                  </a:lnTo>
                  <a:lnTo>
                    <a:pt x="227860" y="2087555"/>
                  </a:lnTo>
                  <a:lnTo>
                    <a:pt x="214545" y="2137249"/>
                  </a:lnTo>
                  <a:lnTo>
                    <a:pt x="201614" y="2187098"/>
                  </a:lnTo>
                  <a:lnTo>
                    <a:pt x="189067" y="2237101"/>
                  </a:lnTo>
                  <a:lnTo>
                    <a:pt x="176907" y="2287256"/>
                  </a:lnTo>
                  <a:lnTo>
                    <a:pt x="165136" y="2337562"/>
                  </a:lnTo>
                  <a:lnTo>
                    <a:pt x="153755" y="2388017"/>
                  </a:lnTo>
                  <a:lnTo>
                    <a:pt x="142765" y="2438619"/>
                  </a:lnTo>
                  <a:lnTo>
                    <a:pt x="132169" y="2489366"/>
                  </a:lnTo>
                  <a:lnTo>
                    <a:pt x="121967" y="2540258"/>
                  </a:lnTo>
                  <a:lnTo>
                    <a:pt x="112163" y="2591292"/>
                  </a:lnTo>
                  <a:lnTo>
                    <a:pt x="102756" y="2642466"/>
                  </a:lnTo>
                  <a:lnTo>
                    <a:pt x="93750" y="2693779"/>
                  </a:lnTo>
                  <a:lnTo>
                    <a:pt x="85146" y="2745230"/>
                  </a:lnTo>
                  <a:lnTo>
                    <a:pt x="76945" y="2796816"/>
                  </a:lnTo>
                  <a:lnTo>
                    <a:pt x="69149" y="2848536"/>
                  </a:lnTo>
                  <a:lnTo>
                    <a:pt x="61760" y="2900388"/>
                  </a:lnTo>
                  <a:lnTo>
                    <a:pt x="54779" y="2952370"/>
                  </a:lnTo>
                  <a:lnTo>
                    <a:pt x="48208" y="3004482"/>
                  </a:lnTo>
                  <a:lnTo>
                    <a:pt x="42049" y="3056720"/>
                  </a:lnTo>
                  <a:lnTo>
                    <a:pt x="36304" y="3109084"/>
                  </a:lnTo>
                  <a:lnTo>
                    <a:pt x="30974" y="3161572"/>
                  </a:lnTo>
                  <a:lnTo>
                    <a:pt x="26060" y="3214182"/>
                  </a:lnTo>
                  <a:lnTo>
                    <a:pt x="21565" y="3266913"/>
                  </a:lnTo>
                  <a:lnTo>
                    <a:pt x="17490" y="3319762"/>
                  </a:lnTo>
                  <a:lnTo>
                    <a:pt x="13837" y="3372728"/>
                  </a:lnTo>
                  <a:lnTo>
                    <a:pt x="10608" y="3425810"/>
                  </a:lnTo>
                  <a:lnTo>
                    <a:pt x="7803" y="3479006"/>
                  </a:lnTo>
                  <a:lnTo>
                    <a:pt x="5426" y="3532313"/>
                  </a:lnTo>
                  <a:lnTo>
                    <a:pt x="3477" y="3585731"/>
                  </a:lnTo>
                  <a:lnTo>
                    <a:pt x="1958" y="3639258"/>
                  </a:lnTo>
                  <a:lnTo>
                    <a:pt x="871" y="3692892"/>
                  </a:lnTo>
                  <a:lnTo>
                    <a:pt x="218" y="3746631"/>
                  </a:lnTo>
                  <a:lnTo>
                    <a:pt x="0" y="3800475"/>
                  </a:lnTo>
                  <a:lnTo>
                    <a:pt x="218" y="3854317"/>
                  </a:lnTo>
                  <a:lnTo>
                    <a:pt x="871" y="3908056"/>
                  </a:lnTo>
                  <a:lnTo>
                    <a:pt x="1958" y="3961690"/>
                  </a:lnTo>
                  <a:lnTo>
                    <a:pt x="3477" y="4015216"/>
                  </a:lnTo>
                  <a:lnTo>
                    <a:pt x="5426" y="4068634"/>
                  </a:lnTo>
                  <a:lnTo>
                    <a:pt x="7803" y="4121941"/>
                  </a:lnTo>
                  <a:lnTo>
                    <a:pt x="10608" y="4175137"/>
                  </a:lnTo>
                  <a:lnTo>
                    <a:pt x="13837" y="4228218"/>
                  </a:lnTo>
                  <a:lnTo>
                    <a:pt x="17490" y="4281184"/>
                  </a:lnTo>
                  <a:lnTo>
                    <a:pt x="21565" y="4334033"/>
                  </a:lnTo>
                  <a:lnTo>
                    <a:pt x="26060" y="4386763"/>
                  </a:lnTo>
                  <a:lnTo>
                    <a:pt x="30974" y="4439373"/>
                  </a:lnTo>
                  <a:lnTo>
                    <a:pt x="36304" y="4491860"/>
                  </a:lnTo>
                  <a:lnTo>
                    <a:pt x="42049" y="4544224"/>
                  </a:lnTo>
                  <a:lnTo>
                    <a:pt x="48208" y="4596462"/>
                  </a:lnTo>
                  <a:lnTo>
                    <a:pt x="54779" y="4648574"/>
                  </a:lnTo>
                  <a:lnTo>
                    <a:pt x="61760" y="4700556"/>
                  </a:lnTo>
                  <a:lnTo>
                    <a:pt x="69149" y="4752408"/>
                  </a:lnTo>
                  <a:lnTo>
                    <a:pt x="76945" y="4804127"/>
                  </a:lnTo>
                  <a:lnTo>
                    <a:pt x="85146" y="4855713"/>
                  </a:lnTo>
                  <a:lnTo>
                    <a:pt x="93750" y="4907163"/>
                  </a:lnTo>
                  <a:lnTo>
                    <a:pt x="102756" y="4958476"/>
                  </a:lnTo>
                  <a:lnTo>
                    <a:pt x="112163" y="5009650"/>
                  </a:lnTo>
                  <a:lnTo>
                    <a:pt x="121967" y="5060684"/>
                  </a:lnTo>
                  <a:lnTo>
                    <a:pt x="132169" y="5111575"/>
                  </a:lnTo>
                  <a:lnTo>
                    <a:pt x="142765" y="5162323"/>
                  </a:lnTo>
                  <a:lnTo>
                    <a:pt x="153755" y="5212925"/>
                  </a:lnTo>
                  <a:lnTo>
                    <a:pt x="165136" y="5263379"/>
                  </a:lnTo>
                  <a:lnTo>
                    <a:pt x="176907" y="5313685"/>
                  </a:lnTo>
                  <a:lnTo>
                    <a:pt x="189067" y="5363840"/>
                  </a:lnTo>
                  <a:lnTo>
                    <a:pt x="201614" y="5413843"/>
                  </a:lnTo>
                  <a:lnTo>
                    <a:pt x="214545" y="5463692"/>
                  </a:lnTo>
                  <a:lnTo>
                    <a:pt x="227860" y="5513385"/>
                  </a:lnTo>
                  <a:lnTo>
                    <a:pt x="241556" y="5562921"/>
                  </a:lnTo>
                  <a:lnTo>
                    <a:pt x="255633" y="5612298"/>
                  </a:lnTo>
                  <a:lnTo>
                    <a:pt x="270087" y="5661514"/>
                  </a:lnTo>
                  <a:lnTo>
                    <a:pt x="284919" y="5710569"/>
                  </a:lnTo>
                  <a:lnTo>
                    <a:pt x="300125" y="5759459"/>
                  </a:lnTo>
                  <a:lnTo>
                    <a:pt x="315704" y="5808183"/>
                  </a:lnTo>
                  <a:lnTo>
                    <a:pt x="331655" y="5856740"/>
                  </a:lnTo>
                  <a:lnTo>
                    <a:pt x="347976" y="5905128"/>
                  </a:lnTo>
                  <a:lnTo>
                    <a:pt x="364666" y="5953345"/>
                  </a:lnTo>
                  <a:lnTo>
                    <a:pt x="381722" y="6001390"/>
                  </a:lnTo>
                  <a:lnTo>
                    <a:pt x="399142" y="6049261"/>
                  </a:lnTo>
                  <a:lnTo>
                    <a:pt x="416926" y="6096957"/>
                  </a:lnTo>
                  <a:lnTo>
                    <a:pt x="435072" y="6144475"/>
                  </a:lnTo>
                  <a:lnTo>
                    <a:pt x="453577" y="6191813"/>
                  </a:lnTo>
                  <a:lnTo>
                    <a:pt x="472441" y="6238971"/>
                  </a:lnTo>
                  <a:lnTo>
                    <a:pt x="491661" y="6285947"/>
                  </a:lnTo>
                  <a:lnTo>
                    <a:pt x="511236" y="6332739"/>
                  </a:lnTo>
                  <a:lnTo>
                    <a:pt x="531164" y="6379344"/>
                  </a:lnTo>
                  <a:lnTo>
                    <a:pt x="551444" y="6425763"/>
                  </a:lnTo>
                  <a:lnTo>
                    <a:pt x="572073" y="6471992"/>
                  </a:lnTo>
                  <a:lnTo>
                    <a:pt x="593051" y="6518031"/>
                  </a:lnTo>
                  <a:lnTo>
                    <a:pt x="614375" y="6563877"/>
                  </a:lnTo>
                  <a:lnTo>
                    <a:pt x="636044" y="6609529"/>
                  </a:lnTo>
                  <a:lnTo>
                    <a:pt x="658056" y="6654985"/>
                  </a:lnTo>
                  <a:lnTo>
                    <a:pt x="680410" y="6700243"/>
                  </a:lnTo>
                  <a:lnTo>
                    <a:pt x="703103" y="6745303"/>
                  </a:lnTo>
                  <a:lnTo>
                    <a:pt x="726135" y="6790162"/>
                  </a:lnTo>
                  <a:lnTo>
                    <a:pt x="749503" y="6834818"/>
                  </a:lnTo>
                  <a:lnTo>
                    <a:pt x="761864" y="6858000"/>
                  </a:lnTo>
                  <a:lnTo>
                    <a:pt x="5629275" y="6858000"/>
                  </a:lnTo>
                  <a:lnTo>
                    <a:pt x="5629275" y="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3751" y="0"/>
              <a:ext cx="5548630" cy="6858000"/>
            </a:xfrm>
            <a:custGeom>
              <a:avLst/>
              <a:gdLst/>
              <a:ahLst/>
              <a:cxnLst/>
              <a:rect l="l" t="t" r="r" b="b"/>
              <a:pathLst>
                <a:path w="5548630" h="6858000">
                  <a:moveTo>
                    <a:pt x="5548249" y="0"/>
                  </a:moveTo>
                  <a:lnTo>
                    <a:pt x="1229269" y="0"/>
                  </a:lnTo>
                  <a:lnTo>
                    <a:pt x="1226649" y="3599"/>
                  </a:lnTo>
                  <a:lnTo>
                    <a:pt x="1197490" y="44324"/>
                  </a:lnTo>
                  <a:lnTo>
                    <a:pt x="1168638" y="85282"/>
                  </a:lnTo>
                  <a:lnTo>
                    <a:pt x="1140094" y="126471"/>
                  </a:lnTo>
                  <a:lnTo>
                    <a:pt x="1111859" y="167889"/>
                  </a:lnTo>
                  <a:lnTo>
                    <a:pt x="1083937" y="209534"/>
                  </a:lnTo>
                  <a:lnTo>
                    <a:pt x="1056327" y="251405"/>
                  </a:lnTo>
                  <a:lnTo>
                    <a:pt x="1029033" y="293501"/>
                  </a:lnTo>
                  <a:lnTo>
                    <a:pt x="1002055" y="335819"/>
                  </a:lnTo>
                  <a:lnTo>
                    <a:pt x="975395" y="378359"/>
                  </a:lnTo>
                  <a:lnTo>
                    <a:pt x="949055" y="421117"/>
                  </a:lnTo>
                  <a:lnTo>
                    <a:pt x="923037" y="464093"/>
                  </a:lnTo>
                  <a:lnTo>
                    <a:pt x="897342" y="507285"/>
                  </a:lnTo>
                  <a:lnTo>
                    <a:pt x="871972" y="550691"/>
                  </a:lnTo>
                  <a:lnTo>
                    <a:pt x="846928" y="594309"/>
                  </a:lnTo>
                  <a:lnTo>
                    <a:pt x="822213" y="638139"/>
                  </a:lnTo>
                  <a:lnTo>
                    <a:pt x="797828" y="682177"/>
                  </a:lnTo>
                  <a:lnTo>
                    <a:pt x="773775" y="726423"/>
                  </a:lnTo>
                  <a:lnTo>
                    <a:pt x="750055" y="770875"/>
                  </a:lnTo>
                  <a:lnTo>
                    <a:pt x="726670" y="815531"/>
                  </a:lnTo>
                  <a:lnTo>
                    <a:pt x="703621" y="860390"/>
                  </a:lnTo>
                  <a:lnTo>
                    <a:pt x="680911" y="905449"/>
                  </a:lnTo>
                  <a:lnTo>
                    <a:pt x="658541" y="950708"/>
                  </a:lnTo>
                  <a:lnTo>
                    <a:pt x="636513" y="996164"/>
                  </a:lnTo>
                  <a:lnTo>
                    <a:pt x="614828" y="1041815"/>
                  </a:lnTo>
                  <a:lnTo>
                    <a:pt x="593488" y="1087661"/>
                  </a:lnTo>
                  <a:lnTo>
                    <a:pt x="572495" y="1133700"/>
                  </a:lnTo>
                  <a:lnTo>
                    <a:pt x="551850" y="1179929"/>
                  </a:lnTo>
                  <a:lnTo>
                    <a:pt x="531556" y="1226347"/>
                  </a:lnTo>
                  <a:lnTo>
                    <a:pt x="511613" y="1272952"/>
                  </a:lnTo>
                  <a:lnTo>
                    <a:pt x="492024" y="1319744"/>
                  </a:lnTo>
                  <a:lnTo>
                    <a:pt x="472789" y="1366719"/>
                  </a:lnTo>
                  <a:lnTo>
                    <a:pt x="453912" y="1413877"/>
                  </a:lnTo>
                  <a:lnTo>
                    <a:pt x="435393" y="1461215"/>
                  </a:lnTo>
                  <a:lnTo>
                    <a:pt x="417234" y="1508733"/>
                  </a:lnTo>
                  <a:lnTo>
                    <a:pt x="399437" y="1556427"/>
                  </a:lnTo>
                  <a:lnTo>
                    <a:pt x="382003" y="1604298"/>
                  </a:lnTo>
                  <a:lnTo>
                    <a:pt x="364935" y="1652343"/>
                  </a:lnTo>
                  <a:lnTo>
                    <a:pt x="348233" y="1700559"/>
                  </a:lnTo>
                  <a:lnTo>
                    <a:pt x="331900" y="1748947"/>
                  </a:lnTo>
                  <a:lnTo>
                    <a:pt x="315937" y="1797504"/>
                  </a:lnTo>
                  <a:lnTo>
                    <a:pt x="300346" y="1846227"/>
                  </a:lnTo>
                  <a:lnTo>
                    <a:pt x="285129" y="1895117"/>
                  </a:lnTo>
                  <a:lnTo>
                    <a:pt x="270287" y="1944170"/>
                  </a:lnTo>
                  <a:lnTo>
                    <a:pt x="255821" y="1993386"/>
                  </a:lnTo>
                  <a:lnTo>
                    <a:pt x="241735" y="2042763"/>
                  </a:lnTo>
                  <a:lnTo>
                    <a:pt x="228028" y="2092298"/>
                  </a:lnTo>
                  <a:lnTo>
                    <a:pt x="214704" y="2141991"/>
                  </a:lnTo>
                  <a:lnTo>
                    <a:pt x="201763" y="2191839"/>
                  </a:lnTo>
                  <a:lnTo>
                    <a:pt x="189207" y="2241841"/>
                  </a:lnTo>
                  <a:lnTo>
                    <a:pt x="177038" y="2291995"/>
                  </a:lnTo>
                  <a:lnTo>
                    <a:pt x="165258" y="2342300"/>
                  </a:lnTo>
                  <a:lnTo>
                    <a:pt x="153868" y="2392754"/>
                  </a:lnTo>
                  <a:lnTo>
                    <a:pt x="142870" y="2443355"/>
                  </a:lnTo>
                  <a:lnTo>
                    <a:pt x="132266" y="2494102"/>
                  </a:lnTo>
                  <a:lnTo>
                    <a:pt x="122057" y="2544992"/>
                  </a:lnTo>
                  <a:lnTo>
                    <a:pt x="112246" y="2596025"/>
                  </a:lnTo>
                  <a:lnTo>
                    <a:pt x="102832" y="2647198"/>
                  </a:lnTo>
                  <a:lnTo>
                    <a:pt x="93820" y="2698510"/>
                  </a:lnTo>
                  <a:lnTo>
                    <a:pt x="85209" y="2749960"/>
                  </a:lnTo>
                  <a:lnTo>
                    <a:pt x="77002" y="2801544"/>
                  </a:lnTo>
                  <a:lnTo>
                    <a:pt x="69200" y="2853263"/>
                  </a:lnTo>
                  <a:lnTo>
                    <a:pt x="61805" y="2905114"/>
                  </a:lnTo>
                  <a:lnTo>
                    <a:pt x="54819" y="2957095"/>
                  </a:lnTo>
                  <a:lnTo>
                    <a:pt x="48244" y="3009205"/>
                  </a:lnTo>
                  <a:lnTo>
                    <a:pt x="42080" y="3061442"/>
                  </a:lnTo>
                  <a:lnTo>
                    <a:pt x="36331" y="3113805"/>
                  </a:lnTo>
                  <a:lnTo>
                    <a:pt x="30997" y="3166291"/>
                  </a:lnTo>
                  <a:lnTo>
                    <a:pt x="26079" y="3218900"/>
                  </a:lnTo>
                  <a:lnTo>
                    <a:pt x="21581" y="3271629"/>
                  </a:lnTo>
                  <a:lnTo>
                    <a:pt x="17503" y="3324476"/>
                  </a:lnTo>
                  <a:lnTo>
                    <a:pt x="13847" y="3377441"/>
                  </a:lnTo>
                  <a:lnTo>
                    <a:pt x="10616" y="3430521"/>
                  </a:lnTo>
                  <a:lnTo>
                    <a:pt x="7809" y="3483715"/>
                  </a:lnTo>
                  <a:lnTo>
                    <a:pt x="5430" y="3537021"/>
                  </a:lnTo>
                  <a:lnTo>
                    <a:pt x="3479" y="3590438"/>
                  </a:lnTo>
                  <a:lnTo>
                    <a:pt x="1959" y="3643963"/>
                  </a:lnTo>
                  <a:lnTo>
                    <a:pt x="872" y="3697595"/>
                  </a:lnTo>
                  <a:lnTo>
                    <a:pt x="218" y="3751332"/>
                  </a:lnTo>
                  <a:lnTo>
                    <a:pt x="0" y="3805174"/>
                  </a:lnTo>
                  <a:lnTo>
                    <a:pt x="218" y="3859017"/>
                  </a:lnTo>
                  <a:lnTo>
                    <a:pt x="872" y="3912757"/>
                  </a:lnTo>
                  <a:lnTo>
                    <a:pt x="1959" y="3966391"/>
                  </a:lnTo>
                  <a:lnTo>
                    <a:pt x="3479" y="4019919"/>
                  </a:lnTo>
                  <a:lnTo>
                    <a:pt x="5430" y="4073337"/>
                  </a:lnTo>
                  <a:lnTo>
                    <a:pt x="7809" y="4126646"/>
                  </a:lnTo>
                  <a:lnTo>
                    <a:pt x="10616" y="4179842"/>
                  </a:lnTo>
                  <a:lnTo>
                    <a:pt x="13847" y="4232924"/>
                  </a:lnTo>
                  <a:lnTo>
                    <a:pt x="17503" y="4285891"/>
                  </a:lnTo>
                  <a:lnTo>
                    <a:pt x="21581" y="4338741"/>
                  </a:lnTo>
                  <a:lnTo>
                    <a:pt x="26079" y="4391472"/>
                  </a:lnTo>
                  <a:lnTo>
                    <a:pt x="30997" y="4444082"/>
                  </a:lnTo>
                  <a:lnTo>
                    <a:pt x="36331" y="4496570"/>
                  </a:lnTo>
                  <a:lnTo>
                    <a:pt x="42080" y="4548935"/>
                  </a:lnTo>
                  <a:lnTo>
                    <a:pt x="48244" y="4601174"/>
                  </a:lnTo>
                  <a:lnTo>
                    <a:pt x="54819" y="4653285"/>
                  </a:lnTo>
                  <a:lnTo>
                    <a:pt x="61805" y="4705268"/>
                  </a:lnTo>
                  <a:lnTo>
                    <a:pt x="69200" y="4757121"/>
                  </a:lnTo>
                  <a:lnTo>
                    <a:pt x="77002" y="4808841"/>
                  </a:lnTo>
                  <a:lnTo>
                    <a:pt x="85209" y="4860427"/>
                  </a:lnTo>
                  <a:lnTo>
                    <a:pt x="93820" y="4911878"/>
                  </a:lnTo>
                  <a:lnTo>
                    <a:pt x="102832" y="4963192"/>
                  </a:lnTo>
                  <a:lnTo>
                    <a:pt x="112246" y="5014366"/>
                  </a:lnTo>
                  <a:lnTo>
                    <a:pt x="122057" y="5065401"/>
                  </a:lnTo>
                  <a:lnTo>
                    <a:pt x="132266" y="5116293"/>
                  </a:lnTo>
                  <a:lnTo>
                    <a:pt x="142870" y="5167040"/>
                  </a:lnTo>
                  <a:lnTo>
                    <a:pt x="153868" y="5217643"/>
                  </a:lnTo>
                  <a:lnTo>
                    <a:pt x="165258" y="5268098"/>
                  </a:lnTo>
                  <a:lnTo>
                    <a:pt x="177038" y="5318404"/>
                  </a:lnTo>
                  <a:lnTo>
                    <a:pt x="189207" y="5368560"/>
                  </a:lnTo>
                  <a:lnTo>
                    <a:pt x="201763" y="5418563"/>
                  </a:lnTo>
                  <a:lnTo>
                    <a:pt x="214704" y="5468412"/>
                  </a:lnTo>
                  <a:lnTo>
                    <a:pt x="228028" y="5518106"/>
                  </a:lnTo>
                  <a:lnTo>
                    <a:pt x="241735" y="5567642"/>
                  </a:lnTo>
                  <a:lnTo>
                    <a:pt x="255821" y="5617020"/>
                  </a:lnTo>
                  <a:lnTo>
                    <a:pt x="270287" y="5666237"/>
                  </a:lnTo>
                  <a:lnTo>
                    <a:pt x="285129" y="5715291"/>
                  </a:lnTo>
                  <a:lnTo>
                    <a:pt x="300346" y="5764181"/>
                  </a:lnTo>
                  <a:lnTo>
                    <a:pt x="315937" y="5812906"/>
                  </a:lnTo>
                  <a:lnTo>
                    <a:pt x="331900" y="5861463"/>
                  </a:lnTo>
                  <a:lnTo>
                    <a:pt x="348233" y="5909852"/>
                  </a:lnTo>
                  <a:lnTo>
                    <a:pt x="364935" y="5958069"/>
                  </a:lnTo>
                  <a:lnTo>
                    <a:pt x="382003" y="6006115"/>
                  </a:lnTo>
                  <a:lnTo>
                    <a:pt x="399437" y="6053986"/>
                  </a:lnTo>
                  <a:lnTo>
                    <a:pt x="417234" y="6101681"/>
                  </a:lnTo>
                  <a:lnTo>
                    <a:pt x="435393" y="6149199"/>
                  </a:lnTo>
                  <a:lnTo>
                    <a:pt x="453912" y="6196539"/>
                  </a:lnTo>
                  <a:lnTo>
                    <a:pt x="472789" y="6243697"/>
                  </a:lnTo>
                  <a:lnTo>
                    <a:pt x="492024" y="6290673"/>
                  </a:lnTo>
                  <a:lnTo>
                    <a:pt x="511613" y="6337464"/>
                  </a:lnTo>
                  <a:lnTo>
                    <a:pt x="531556" y="6384070"/>
                  </a:lnTo>
                  <a:lnTo>
                    <a:pt x="551850" y="6430489"/>
                  </a:lnTo>
                  <a:lnTo>
                    <a:pt x="572495" y="6476718"/>
                  </a:lnTo>
                  <a:lnTo>
                    <a:pt x="593488" y="6522757"/>
                  </a:lnTo>
                  <a:lnTo>
                    <a:pt x="614828" y="6568603"/>
                  </a:lnTo>
                  <a:lnTo>
                    <a:pt x="636513" y="6614255"/>
                  </a:lnTo>
                  <a:lnTo>
                    <a:pt x="658541" y="6659711"/>
                  </a:lnTo>
                  <a:lnTo>
                    <a:pt x="680911" y="6704970"/>
                  </a:lnTo>
                  <a:lnTo>
                    <a:pt x="703621" y="6750030"/>
                  </a:lnTo>
                  <a:lnTo>
                    <a:pt x="726670" y="6794889"/>
                  </a:lnTo>
                  <a:lnTo>
                    <a:pt x="750055" y="6839545"/>
                  </a:lnTo>
                  <a:lnTo>
                    <a:pt x="759902" y="6858000"/>
                  </a:lnTo>
                  <a:lnTo>
                    <a:pt x="5548249" y="6858000"/>
                  </a:lnTo>
                  <a:lnTo>
                    <a:pt x="5548249" y="0"/>
                  </a:lnTo>
                  <a:close/>
                </a:path>
              </a:pathLst>
            </a:custGeom>
            <a:solidFill>
              <a:srgbClr val="362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43751" y="0"/>
              <a:ext cx="1229360" cy="6858000"/>
            </a:xfrm>
            <a:custGeom>
              <a:avLst/>
              <a:gdLst/>
              <a:ahLst/>
              <a:cxnLst/>
              <a:rect l="l" t="t" r="r" b="b"/>
              <a:pathLst>
                <a:path w="1229359" h="6858000">
                  <a:moveTo>
                    <a:pt x="759902" y="6858000"/>
                  </a:moveTo>
                  <a:lnTo>
                    <a:pt x="726670" y="6794889"/>
                  </a:lnTo>
                  <a:lnTo>
                    <a:pt x="703621" y="6750030"/>
                  </a:lnTo>
                  <a:lnTo>
                    <a:pt x="680911" y="6704970"/>
                  </a:lnTo>
                  <a:lnTo>
                    <a:pt x="658541" y="6659711"/>
                  </a:lnTo>
                  <a:lnTo>
                    <a:pt x="636513" y="6614255"/>
                  </a:lnTo>
                  <a:lnTo>
                    <a:pt x="614828" y="6568603"/>
                  </a:lnTo>
                  <a:lnTo>
                    <a:pt x="593488" y="6522757"/>
                  </a:lnTo>
                  <a:lnTo>
                    <a:pt x="572495" y="6476718"/>
                  </a:lnTo>
                  <a:lnTo>
                    <a:pt x="551850" y="6430489"/>
                  </a:lnTo>
                  <a:lnTo>
                    <a:pt x="531556" y="6384070"/>
                  </a:lnTo>
                  <a:lnTo>
                    <a:pt x="511613" y="6337464"/>
                  </a:lnTo>
                  <a:lnTo>
                    <a:pt x="492024" y="6290673"/>
                  </a:lnTo>
                  <a:lnTo>
                    <a:pt x="472789" y="6243697"/>
                  </a:lnTo>
                  <a:lnTo>
                    <a:pt x="453912" y="6196539"/>
                  </a:lnTo>
                  <a:lnTo>
                    <a:pt x="435393" y="6149199"/>
                  </a:lnTo>
                  <a:lnTo>
                    <a:pt x="417234" y="6101681"/>
                  </a:lnTo>
                  <a:lnTo>
                    <a:pt x="399437" y="6053986"/>
                  </a:lnTo>
                  <a:lnTo>
                    <a:pt x="382003" y="6006115"/>
                  </a:lnTo>
                  <a:lnTo>
                    <a:pt x="364935" y="5958069"/>
                  </a:lnTo>
                  <a:lnTo>
                    <a:pt x="348233" y="5909852"/>
                  </a:lnTo>
                  <a:lnTo>
                    <a:pt x="331900" y="5861463"/>
                  </a:lnTo>
                  <a:lnTo>
                    <a:pt x="315937" y="5812906"/>
                  </a:lnTo>
                  <a:lnTo>
                    <a:pt x="300346" y="5764181"/>
                  </a:lnTo>
                  <a:lnTo>
                    <a:pt x="285129" y="5715291"/>
                  </a:lnTo>
                  <a:lnTo>
                    <a:pt x="270287" y="5666237"/>
                  </a:lnTo>
                  <a:lnTo>
                    <a:pt x="255821" y="5617020"/>
                  </a:lnTo>
                  <a:lnTo>
                    <a:pt x="241735" y="5567642"/>
                  </a:lnTo>
                  <a:lnTo>
                    <a:pt x="228028" y="5518106"/>
                  </a:lnTo>
                  <a:lnTo>
                    <a:pt x="214704" y="5468412"/>
                  </a:lnTo>
                  <a:lnTo>
                    <a:pt x="201763" y="5418563"/>
                  </a:lnTo>
                  <a:lnTo>
                    <a:pt x="189207" y="5368560"/>
                  </a:lnTo>
                  <a:lnTo>
                    <a:pt x="177038" y="5318404"/>
                  </a:lnTo>
                  <a:lnTo>
                    <a:pt x="165258" y="5268098"/>
                  </a:lnTo>
                  <a:lnTo>
                    <a:pt x="153868" y="5217643"/>
                  </a:lnTo>
                  <a:lnTo>
                    <a:pt x="142870" y="5167040"/>
                  </a:lnTo>
                  <a:lnTo>
                    <a:pt x="132266" y="5116293"/>
                  </a:lnTo>
                  <a:lnTo>
                    <a:pt x="122057" y="5065401"/>
                  </a:lnTo>
                  <a:lnTo>
                    <a:pt x="112246" y="5014366"/>
                  </a:lnTo>
                  <a:lnTo>
                    <a:pt x="102832" y="4963192"/>
                  </a:lnTo>
                  <a:lnTo>
                    <a:pt x="93820" y="4911878"/>
                  </a:lnTo>
                  <a:lnTo>
                    <a:pt x="85209" y="4860427"/>
                  </a:lnTo>
                  <a:lnTo>
                    <a:pt x="77002" y="4808841"/>
                  </a:lnTo>
                  <a:lnTo>
                    <a:pt x="69200" y="4757121"/>
                  </a:lnTo>
                  <a:lnTo>
                    <a:pt x="61805" y="4705268"/>
                  </a:lnTo>
                  <a:lnTo>
                    <a:pt x="54819" y="4653285"/>
                  </a:lnTo>
                  <a:lnTo>
                    <a:pt x="48244" y="4601174"/>
                  </a:lnTo>
                  <a:lnTo>
                    <a:pt x="42080" y="4548935"/>
                  </a:lnTo>
                  <a:lnTo>
                    <a:pt x="36331" y="4496570"/>
                  </a:lnTo>
                  <a:lnTo>
                    <a:pt x="30997" y="4444082"/>
                  </a:lnTo>
                  <a:lnTo>
                    <a:pt x="26079" y="4391472"/>
                  </a:lnTo>
                  <a:lnTo>
                    <a:pt x="21581" y="4338741"/>
                  </a:lnTo>
                  <a:lnTo>
                    <a:pt x="17503" y="4285891"/>
                  </a:lnTo>
                  <a:lnTo>
                    <a:pt x="13847" y="4232924"/>
                  </a:lnTo>
                  <a:lnTo>
                    <a:pt x="10616" y="4179842"/>
                  </a:lnTo>
                  <a:lnTo>
                    <a:pt x="7809" y="4126646"/>
                  </a:lnTo>
                  <a:lnTo>
                    <a:pt x="5430" y="4073337"/>
                  </a:lnTo>
                  <a:lnTo>
                    <a:pt x="3479" y="4019919"/>
                  </a:lnTo>
                  <a:lnTo>
                    <a:pt x="1959" y="3966391"/>
                  </a:lnTo>
                  <a:lnTo>
                    <a:pt x="872" y="3912757"/>
                  </a:lnTo>
                  <a:lnTo>
                    <a:pt x="218" y="3859017"/>
                  </a:lnTo>
                  <a:lnTo>
                    <a:pt x="0" y="3805174"/>
                  </a:lnTo>
                  <a:lnTo>
                    <a:pt x="218" y="3751332"/>
                  </a:lnTo>
                  <a:lnTo>
                    <a:pt x="872" y="3697595"/>
                  </a:lnTo>
                  <a:lnTo>
                    <a:pt x="1959" y="3643963"/>
                  </a:lnTo>
                  <a:lnTo>
                    <a:pt x="3479" y="3590438"/>
                  </a:lnTo>
                  <a:lnTo>
                    <a:pt x="5430" y="3537021"/>
                  </a:lnTo>
                  <a:lnTo>
                    <a:pt x="7809" y="3483715"/>
                  </a:lnTo>
                  <a:lnTo>
                    <a:pt x="10616" y="3430521"/>
                  </a:lnTo>
                  <a:lnTo>
                    <a:pt x="13847" y="3377441"/>
                  </a:lnTo>
                  <a:lnTo>
                    <a:pt x="17503" y="3324476"/>
                  </a:lnTo>
                  <a:lnTo>
                    <a:pt x="21581" y="3271629"/>
                  </a:lnTo>
                  <a:lnTo>
                    <a:pt x="26079" y="3218900"/>
                  </a:lnTo>
                  <a:lnTo>
                    <a:pt x="30997" y="3166291"/>
                  </a:lnTo>
                  <a:lnTo>
                    <a:pt x="36331" y="3113805"/>
                  </a:lnTo>
                  <a:lnTo>
                    <a:pt x="42080" y="3061442"/>
                  </a:lnTo>
                  <a:lnTo>
                    <a:pt x="48244" y="3009205"/>
                  </a:lnTo>
                  <a:lnTo>
                    <a:pt x="54819" y="2957095"/>
                  </a:lnTo>
                  <a:lnTo>
                    <a:pt x="61805" y="2905114"/>
                  </a:lnTo>
                  <a:lnTo>
                    <a:pt x="69200" y="2853263"/>
                  </a:lnTo>
                  <a:lnTo>
                    <a:pt x="77002" y="2801544"/>
                  </a:lnTo>
                  <a:lnTo>
                    <a:pt x="85209" y="2749960"/>
                  </a:lnTo>
                  <a:lnTo>
                    <a:pt x="93820" y="2698510"/>
                  </a:lnTo>
                  <a:lnTo>
                    <a:pt x="102832" y="2647198"/>
                  </a:lnTo>
                  <a:lnTo>
                    <a:pt x="112246" y="2596025"/>
                  </a:lnTo>
                  <a:lnTo>
                    <a:pt x="122057" y="2544992"/>
                  </a:lnTo>
                  <a:lnTo>
                    <a:pt x="132266" y="2494102"/>
                  </a:lnTo>
                  <a:lnTo>
                    <a:pt x="142870" y="2443355"/>
                  </a:lnTo>
                  <a:lnTo>
                    <a:pt x="153868" y="2392754"/>
                  </a:lnTo>
                  <a:lnTo>
                    <a:pt x="165258" y="2342300"/>
                  </a:lnTo>
                  <a:lnTo>
                    <a:pt x="177038" y="2291995"/>
                  </a:lnTo>
                  <a:lnTo>
                    <a:pt x="189207" y="2241841"/>
                  </a:lnTo>
                  <a:lnTo>
                    <a:pt x="201763" y="2191839"/>
                  </a:lnTo>
                  <a:lnTo>
                    <a:pt x="214704" y="2141991"/>
                  </a:lnTo>
                  <a:lnTo>
                    <a:pt x="228028" y="2092298"/>
                  </a:lnTo>
                  <a:lnTo>
                    <a:pt x="241735" y="2042763"/>
                  </a:lnTo>
                  <a:lnTo>
                    <a:pt x="255821" y="1993386"/>
                  </a:lnTo>
                  <a:lnTo>
                    <a:pt x="270287" y="1944170"/>
                  </a:lnTo>
                  <a:lnTo>
                    <a:pt x="285129" y="1895117"/>
                  </a:lnTo>
                  <a:lnTo>
                    <a:pt x="300346" y="1846227"/>
                  </a:lnTo>
                  <a:lnTo>
                    <a:pt x="315937" y="1797504"/>
                  </a:lnTo>
                  <a:lnTo>
                    <a:pt x="331900" y="1748947"/>
                  </a:lnTo>
                  <a:lnTo>
                    <a:pt x="348233" y="1700559"/>
                  </a:lnTo>
                  <a:lnTo>
                    <a:pt x="364935" y="1652343"/>
                  </a:lnTo>
                  <a:lnTo>
                    <a:pt x="382003" y="1604298"/>
                  </a:lnTo>
                  <a:lnTo>
                    <a:pt x="399437" y="1556427"/>
                  </a:lnTo>
                  <a:lnTo>
                    <a:pt x="417234" y="1508733"/>
                  </a:lnTo>
                  <a:lnTo>
                    <a:pt x="435393" y="1461215"/>
                  </a:lnTo>
                  <a:lnTo>
                    <a:pt x="453912" y="1413877"/>
                  </a:lnTo>
                  <a:lnTo>
                    <a:pt x="472789" y="1366719"/>
                  </a:lnTo>
                  <a:lnTo>
                    <a:pt x="492024" y="1319744"/>
                  </a:lnTo>
                  <a:lnTo>
                    <a:pt x="511613" y="1272952"/>
                  </a:lnTo>
                  <a:lnTo>
                    <a:pt x="531556" y="1226347"/>
                  </a:lnTo>
                  <a:lnTo>
                    <a:pt x="551850" y="1179929"/>
                  </a:lnTo>
                  <a:lnTo>
                    <a:pt x="572495" y="1133700"/>
                  </a:lnTo>
                  <a:lnTo>
                    <a:pt x="593488" y="1087661"/>
                  </a:lnTo>
                  <a:lnTo>
                    <a:pt x="614828" y="1041815"/>
                  </a:lnTo>
                  <a:lnTo>
                    <a:pt x="636513" y="996164"/>
                  </a:lnTo>
                  <a:lnTo>
                    <a:pt x="658541" y="950708"/>
                  </a:lnTo>
                  <a:lnTo>
                    <a:pt x="680911" y="905449"/>
                  </a:lnTo>
                  <a:lnTo>
                    <a:pt x="703621" y="860390"/>
                  </a:lnTo>
                  <a:lnTo>
                    <a:pt x="726670" y="815531"/>
                  </a:lnTo>
                  <a:lnTo>
                    <a:pt x="750055" y="770875"/>
                  </a:lnTo>
                  <a:lnTo>
                    <a:pt x="773775" y="726423"/>
                  </a:lnTo>
                  <a:lnTo>
                    <a:pt x="797828" y="682177"/>
                  </a:lnTo>
                  <a:lnTo>
                    <a:pt x="822213" y="638139"/>
                  </a:lnTo>
                  <a:lnTo>
                    <a:pt x="846928" y="594309"/>
                  </a:lnTo>
                  <a:lnTo>
                    <a:pt x="871972" y="550691"/>
                  </a:lnTo>
                  <a:lnTo>
                    <a:pt x="897342" y="507285"/>
                  </a:lnTo>
                  <a:lnTo>
                    <a:pt x="923037" y="464093"/>
                  </a:lnTo>
                  <a:lnTo>
                    <a:pt x="949055" y="421117"/>
                  </a:lnTo>
                  <a:lnTo>
                    <a:pt x="975395" y="378359"/>
                  </a:lnTo>
                  <a:lnTo>
                    <a:pt x="1002055" y="335819"/>
                  </a:lnTo>
                  <a:lnTo>
                    <a:pt x="1029033" y="293501"/>
                  </a:lnTo>
                  <a:lnTo>
                    <a:pt x="1056327" y="251405"/>
                  </a:lnTo>
                  <a:lnTo>
                    <a:pt x="1083937" y="209534"/>
                  </a:lnTo>
                  <a:lnTo>
                    <a:pt x="1111859" y="167889"/>
                  </a:lnTo>
                  <a:lnTo>
                    <a:pt x="1140094" y="126471"/>
                  </a:lnTo>
                  <a:lnTo>
                    <a:pt x="1168638" y="85282"/>
                  </a:lnTo>
                  <a:lnTo>
                    <a:pt x="1197490" y="44324"/>
                  </a:lnTo>
                  <a:lnTo>
                    <a:pt x="1226649" y="3599"/>
                  </a:lnTo>
                  <a:lnTo>
                    <a:pt x="1229269" y="0"/>
                  </a:lnTo>
                </a:path>
              </a:pathLst>
            </a:custGeom>
            <a:ln w="12699">
              <a:solidFill>
                <a:srgbClr val="1237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825" y="0"/>
              <a:ext cx="5210175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829175" cy="3305175"/>
            <a:chOff x="0" y="0"/>
            <a:chExt cx="4829175" cy="3305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04800"/>
              <a:ext cx="114300" cy="447675"/>
            </a:xfrm>
            <a:custGeom>
              <a:avLst/>
              <a:gdLst/>
              <a:ahLst/>
              <a:cxnLst/>
              <a:rect l="l" t="t" r="r" b="b"/>
              <a:pathLst>
                <a:path w="114300" h="447675">
                  <a:moveTo>
                    <a:pt x="1143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14300" y="4476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8612" y="342836"/>
            <a:ext cx="5874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如何快速识别某款</a:t>
            </a:r>
            <a:r>
              <a:rPr sz="2400" b="1" dirty="0">
                <a:solidFill>
                  <a:srgbClr val="1C4AE6"/>
                </a:solidFill>
                <a:latin typeface="Microsoft YaHei"/>
                <a:cs typeface="Microsoft YaHei"/>
              </a:rPr>
              <a:t>AI</a:t>
            </a:r>
            <a:r>
              <a:rPr sz="240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1C4AE6"/>
                </a:solidFill>
                <a:latin typeface="Microsoft YaHei"/>
                <a:cs typeface="Microsoft YaHei"/>
              </a:rPr>
              <a:t>for </a:t>
            </a:r>
            <a:r>
              <a:rPr sz="2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BI</a:t>
            </a:r>
            <a:r>
              <a:rPr sz="2400" b="1" spc="-20" dirty="0">
                <a:solidFill>
                  <a:srgbClr val="1C4AE6"/>
                </a:solidFill>
                <a:latin typeface="Microsoft YaHei"/>
                <a:cs typeface="Microsoft YaHei"/>
              </a:rPr>
              <a:t>类产品能否落地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1975" y="1716151"/>
            <a:ext cx="10774680" cy="4016375"/>
            <a:chOff x="561975" y="1716151"/>
            <a:chExt cx="10774680" cy="4016375"/>
          </a:xfrm>
        </p:grpSpPr>
        <p:sp>
          <p:nvSpPr>
            <p:cNvPr id="8" name="object 8"/>
            <p:cNvSpPr/>
            <p:nvPr/>
          </p:nvSpPr>
          <p:spPr>
            <a:xfrm>
              <a:off x="3290951" y="4767326"/>
              <a:ext cx="8039100" cy="504825"/>
            </a:xfrm>
            <a:custGeom>
              <a:avLst/>
              <a:gdLst/>
              <a:ahLst/>
              <a:cxnLst/>
              <a:rect l="l" t="t" r="r" b="b"/>
              <a:pathLst>
                <a:path w="8039100" h="504825">
                  <a:moveTo>
                    <a:pt x="0" y="504825"/>
                  </a:moveTo>
                  <a:lnTo>
                    <a:pt x="1592579" y="504825"/>
                  </a:lnTo>
                  <a:lnTo>
                    <a:pt x="2038096" y="0"/>
                  </a:lnTo>
                  <a:lnTo>
                    <a:pt x="8039100" y="0"/>
                  </a:lnTo>
                </a:path>
              </a:pathLst>
            </a:custGeom>
            <a:ln w="12700">
              <a:solidFill>
                <a:srgbClr val="1C4AE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90951" y="3148076"/>
              <a:ext cx="8039100" cy="504825"/>
            </a:xfrm>
            <a:custGeom>
              <a:avLst/>
              <a:gdLst/>
              <a:ahLst/>
              <a:cxnLst/>
              <a:rect l="l" t="t" r="r" b="b"/>
              <a:pathLst>
                <a:path w="8039100" h="504825">
                  <a:moveTo>
                    <a:pt x="0" y="504825"/>
                  </a:moveTo>
                  <a:lnTo>
                    <a:pt x="1592579" y="504825"/>
                  </a:lnTo>
                  <a:lnTo>
                    <a:pt x="2038096" y="0"/>
                  </a:lnTo>
                  <a:lnTo>
                    <a:pt x="8039100" y="0"/>
                  </a:lnTo>
                </a:path>
              </a:pathLst>
            </a:custGeom>
            <a:ln w="12700">
              <a:solidFill>
                <a:srgbClr val="4885F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975" y="2232025"/>
              <a:ext cx="3190875" cy="3187700"/>
            </a:xfrm>
            <a:custGeom>
              <a:avLst/>
              <a:gdLst/>
              <a:ahLst/>
              <a:cxnLst/>
              <a:rect l="l" t="t" r="r" b="b"/>
              <a:pathLst>
                <a:path w="3190875" h="3187700">
                  <a:moveTo>
                    <a:pt x="1831259" y="3175000"/>
                  </a:moveTo>
                  <a:lnTo>
                    <a:pt x="1359711" y="3175000"/>
                  </a:lnTo>
                  <a:lnTo>
                    <a:pt x="1406088" y="3187700"/>
                  </a:lnTo>
                  <a:lnTo>
                    <a:pt x="1784888" y="3187700"/>
                  </a:lnTo>
                  <a:lnTo>
                    <a:pt x="1831259" y="3175000"/>
                  </a:lnTo>
                  <a:close/>
                </a:path>
                <a:path w="3190875" h="3187700">
                  <a:moveTo>
                    <a:pt x="1877200" y="25400"/>
                  </a:moveTo>
                  <a:lnTo>
                    <a:pt x="1313763" y="25400"/>
                  </a:lnTo>
                  <a:lnTo>
                    <a:pt x="1178699" y="63500"/>
                  </a:lnTo>
                  <a:lnTo>
                    <a:pt x="964032" y="127000"/>
                  </a:lnTo>
                  <a:lnTo>
                    <a:pt x="922842" y="152400"/>
                  </a:lnTo>
                  <a:lnTo>
                    <a:pt x="882280" y="165100"/>
                  </a:lnTo>
                  <a:lnTo>
                    <a:pt x="842364" y="190500"/>
                  </a:lnTo>
                  <a:lnTo>
                    <a:pt x="803115" y="215900"/>
                  </a:lnTo>
                  <a:lnTo>
                    <a:pt x="764553" y="241300"/>
                  </a:lnTo>
                  <a:lnTo>
                    <a:pt x="726697" y="254000"/>
                  </a:lnTo>
                  <a:lnTo>
                    <a:pt x="689567" y="279400"/>
                  </a:lnTo>
                  <a:lnTo>
                    <a:pt x="653183" y="304800"/>
                  </a:lnTo>
                  <a:lnTo>
                    <a:pt x="617564" y="342900"/>
                  </a:lnTo>
                  <a:lnTo>
                    <a:pt x="582730" y="368300"/>
                  </a:lnTo>
                  <a:lnTo>
                    <a:pt x="548701" y="393700"/>
                  </a:lnTo>
                  <a:lnTo>
                    <a:pt x="515497" y="419100"/>
                  </a:lnTo>
                  <a:lnTo>
                    <a:pt x="483137" y="457200"/>
                  </a:lnTo>
                  <a:lnTo>
                    <a:pt x="451641" y="482600"/>
                  </a:lnTo>
                  <a:lnTo>
                    <a:pt x="421030" y="520700"/>
                  </a:lnTo>
                  <a:lnTo>
                    <a:pt x="391321" y="546100"/>
                  </a:lnTo>
                  <a:lnTo>
                    <a:pt x="362536" y="584200"/>
                  </a:lnTo>
                  <a:lnTo>
                    <a:pt x="334694" y="622300"/>
                  </a:lnTo>
                  <a:lnTo>
                    <a:pt x="307815" y="660400"/>
                  </a:lnTo>
                  <a:lnTo>
                    <a:pt x="281918" y="698500"/>
                  </a:lnTo>
                  <a:lnTo>
                    <a:pt x="257024" y="723900"/>
                  </a:lnTo>
                  <a:lnTo>
                    <a:pt x="233151" y="762000"/>
                  </a:lnTo>
                  <a:lnTo>
                    <a:pt x="210321" y="800100"/>
                  </a:lnTo>
                  <a:lnTo>
                    <a:pt x="188551" y="850900"/>
                  </a:lnTo>
                  <a:lnTo>
                    <a:pt x="167863" y="889000"/>
                  </a:lnTo>
                  <a:lnTo>
                    <a:pt x="148276" y="927100"/>
                  </a:lnTo>
                  <a:lnTo>
                    <a:pt x="129810" y="965200"/>
                  </a:lnTo>
                  <a:lnTo>
                    <a:pt x="112483" y="1003300"/>
                  </a:lnTo>
                  <a:lnTo>
                    <a:pt x="96317" y="1054100"/>
                  </a:lnTo>
                  <a:lnTo>
                    <a:pt x="81331" y="1092200"/>
                  </a:lnTo>
                  <a:lnTo>
                    <a:pt x="67545" y="1143000"/>
                  </a:lnTo>
                  <a:lnTo>
                    <a:pt x="54978" y="1181100"/>
                  </a:lnTo>
                  <a:lnTo>
                    <a:pt x="43650" y="1231900"/>
                  </a:lnTo>
                  <a:lnTo>
                    <a:pt x="33580" y="1270000"/>
                  </a:lnTo>
                  <a:lnTo>
                    <a:pt x="24789" y="1320800"/>
                  </a:lnTo>
                  <a:lnTo>
                    <a:pt x="17297" y="1358900"/>
                  </a:lnTo>
                  <a:lnTo>
                    <a:pt x="11123" y="1409700"/>
                  </a:lnTo>
                  <a:lnTo>
                    <a:pt x="6286" y="1460500"/>
                  </a:lnTo>
                  <a:lnTo>
                    <a:pt x="2807" y="1498600"/>
                  </a:lnTo>
                  <a:lnTo>
                    <a:pt x="705" y="1549400"/>
                  </a:lnTo>
                  <a:lnTo>
                    <a:pt x="0" y="1600200"/>
                  </a:lnTo>
                  <a:lnTo>
                    <a:pt x="705" y="1651000"/>
                  </a:lnTo>
                  <a:lnTo>
                    <a:pt x="2807" y="1689100"/>
                  </a:lnTo>
                  <a:lnTo>
                    <a:pt x="6286" y="1739900"/>
                  </a:lnTo>
                  <a:lnTo>
                    <a:pt x="11123" y="1790700"/>
                  </a:lnTo>
                  <a:lnTo>
                    <a:pt x="17297" y="1828800"/>
                  </a:lnTo>
                  <a:lnTo>
                    <a:pt x="24789" y="1879600"/>
                  </a:lnTo>
                  <a:lnTo>
                    <a:pt x="33580" y="1930400"/>
                  </a:lnTo>
                  <a:lnTo>
                    <a:pt x="43650" y="1968500"/>
                  </a:lnTo>
                  <a:lnTo>
                    <a:pt x="54978" y="2019300"/>
                  </a:lnTo>
                  <a:lnTo>
                    <a:pt x="67545" y="2057400"/>
                  </a:lnTo>
                  <a:lnTo>
                    <a:pt x="81331" y="2108200"/>
                  </a:lnTo>
                  <a:lnTo>
                    <a:pt x="96317" y="2146300"/>
                  </a:lnTo>
                  <a:lnTo>
                    <a:pt x="112483" y="2184400"/>
                  </a:lnTo>
                  <a:lnTo>
                    <a:pt x="129810" y="2235200"/>
                  </a:lnTo>
                  <a:lnTo>
                    <a:pt x="148276" y="2273300"/>
                  </a:lnTo>
                  <a:lnTo>
                    <a:pt x="167863" y="2311400"/>
                  </a:lnTo>
                  <a:lnTo>
                    <a:pt x="188551" y="2349500"/>
                  </a:lnTo>
                  <a:lnTo>
                    <a:pt x="210321" y="2387600"/>
                  </a:lnTo>
                  <a:lnTo>
                    <a:pt x="233151" y="2425700"/>
                  </a:lnTo>
                  <a:lnTo>
                    <a:pt x="257024" y="2463800"/>
                  </a:lnTo>
                  <a:lnTo>
                    <a:pt x="281918" y="2501900"/>
                  </a:lnTo>
                  <a:lnTo>
                    <a:pt x="307815" y="2540000"/>
                  </a:lnTo>
                  <a:lnTo>
                    <a:pt x="334694" y="2578100"/>
                  </a:lnTo>
                  <a:lnTo>
                    <a:pt x="362536" y="2616200"/>
                  </a:lnTo>
                  <a:lnTo>
                    <a:pt x="391321" y="2641600"/>
                  </a:lnTo>
                  <a:lnTo>
                    <a:pt x="421030" y="2679700"/>
                  </a:lnTo>
                  <a:lnTo>
                    <a:pt x="451641" y="2705100"/>
                  </a:lnTo>
                  <a:lnTo>
                    <a:pt x="483137" y="2743200"/>
                  </a:lnTo>
                  <a:lnTo>
                    <a:pt x="515497" y="2768600"/>
                  </a:lnTo>
                  <a:lnTo>
                    <a:pt x="548701" y="2806700"/>
                  </a:lnTo>
                  <a:lnTo>
                    <a:pt x="582730" y="2832100"/>
                  </a:lnTo>
                  <a:lnTo>
                    <a:pt x="617564" y="2857500"/>
                  </a:lnTo>
                  <a:lnTo>
                    <a:pt x="653183" y="2882900"/>
                  </a:lnTo>
                  <a:lnTo>
                    <a:pt x="689567" y="2908300"/>
                  </a:lnTo>
                  <a:lnTo>
                    <a:pt x="726697" y="2933700"/>
                  </a:lnTo>
                  <a:lnTo>
                    <a:pt x="764553" y="2959100"/>
                  </a:lnTo>
                  <a:lnTo>
                    <a:pt x="803115" y="2984500"/>
                  </a:lnTo>
                  <a:lnTo>
                    <a:pt x="842364" y="3009900"/>
                  </a:lnTo>
                  <a:lnTo>
                    <a:pt x="882280" y="3022600"/>
                  </a:lnTo>
                  <a:lnTo>
                    <a:pt x="922842" y="3048000"/>
                  </a:lnTo>
                  <a:lnTo>
                    <a:pt x="964032" y="3060700"/>
                  </a:lnTo>
                  <a:lnTo>
                    <a:pt x="1005829" y="3086100"/>
                  </a:lnTo>
                  <a:lnTo>
                    <a:pt x="1091167" y="3111500"/>
                  </a:lnTo>
                  <a:lnTo>
                    <a:pt x="1313763" y="3175000"/>
                  </a:lnTo>
                  <a:lnTo>
                    <a:pt x="1877200" y="3175000"/>
                  </a:lnTo>
                  <a:lnTo>
                    <a:pt x="2099772" y="3111500"/>
                  </a:lnTo>
                  <a:lnTo>
                    <a:pt x="2185102" y="3086100"/>
                  </a:lnTo>
                  <a:lnTo>
                    <a:pt x="2226895" y="3060700"/>
                  </a:lnTo>
                  <a:lnTo>
                    <a:pt x="2268081" y="3048000"/>
                  </a:lnTo>
                  <a:lnTo>
                    <a:pt x="2308640" y="3022600"/>
                  </a:lnTo>
                  <a:lnTo>
                    <a:pt x="2348552" y="3009900"/>
                  </a:lnTo>
                  <a:lnTo>
                    <a:pt x="2387797" y="2984500"/>
                  </a:lnTo>
                  <a:lnTo>
                    <a:pt x="2426356" y="2959100"/>
                  </a:lnTo>
                  <a:lnTo>
                    <a:pt x="2464210" y="2933700"/>
                  </a:lnTo>
                  <a:lnTo>
                    <a:pt x="2501337" y="2908300"/>
                  </a:lnTo>
                  <a:lnTo>
                    <a:pt x="2537719" y="2882900"/>
                  </a:lnTo>
                  <a:lnTo>
                    <a:pt x="2573335" y="2857500"/>
                  </a:lnTo>
                  <a:lnTo>
                    <a:pt x="2608167" y="2832100"/>
                  </a:lnTo>
                  <a:lnTo>
                    <a:pt x="2642193" y="2806700"/>
                  </a:lnTo>
                  <a:lnTo>
                    <a:pt x="2675396" y="2768600"/>
                  </a:lnTo>
                  <a:lnTo>
                    <a:pt x="2707754" y="2743200"/>
                  </a:lnTo>
                  <a:lnTo>
                    <a:pt x="2739248" y="2705100"/>
                  </a:lnTo>
                  <a:lnTo>
                    <a:pt x="2769858" y="2679700"/>
                  </a:lnTo>
                  <a:lnTo>
                    <a:pt x="1486798" y="2679700"/>
                  </a:lnTo>
                  <a:lnTo>
                    <a:pt x="1439276" y="2667000"/>
                  </a:lnTo>
                  <a:lnTo>
                    <a:pt x="1392388" y="2667000"/>
                  </a:lnTo>
                  <a:lnTo>
                    <a:pt x="1212058" y="2616200"/>
                  </a:lnTo>
                  <a:lnTo>
                    <a:pt x="1169003" y="2603500"/>
                  </a:lnTo>
                  <a:lnTo>
                    <a:pt x="1126848" y="2578100"/>
                  </a:lnTo>
                  <a:lnTo>
                    <a:pt x="1085638" y="2565400"/>
                  </a:lnTo>
                  <a:lnTo>
                    <a:pt x="1045416" y="2540000"/>
                  </a:lnTo>
                  <a:lnTo>
                    <a:pt x="1006227" y="2514600"/>
                  </a:lnTo>
                  <a:lnTo>
                    <a:pt x="968116" y="2489200"/>
                  </a:lnTo>
                  <a:lnTo>
                    <a:pt x="931127" y="2463800"/>
                  </a:lnTo>
                  <a:lnTo>
                    <a:pt x="895304" y="2438400"/>
                  </a:lnTo>
                  <a:lnTo>
                    <a:pt x="860692" y="2413000"/>
                  </a:lnTo>
                  <a:lnTo>
                    <a:pt x="827336" y="2374900"/>
                  </a:lnTo>
                  <a:lnTo>
                    <a:pt x="795279" y="2349500"/>
                  </a:lnTo>
                  <a:lnTo>
                    <a:pt x="764566" y="2311400"/>
                  </a:lnTo>
                  <a:lnTo>
                    <a:pt x="735242" y="2273300"/>
                  </a:lnTo>
                  <a:lnTo>
                    <a:pt x="707352" y="2235200"/>
                  </a:lnTo>
                  <a:lnTo>
                    <a:pt x="680938" y="2197100"/>
                  </a:lnTo>
                  <a:lnTo>
                    <a:pt x="656046" y="2159000"/>
                  </a:lnTo>
                  <a:lnTo>
                    <a:pt x="632721" y="2120900"/>
                  </a:lnTo>
                  <a:lnTo>
                    <a:pt x="611006" y="2082800"/>
                  </a:lnTo>
                  <a:lnTo>
                    <a:pt x="590947" y="2044700"/>
                  </a:lnTo>
                  <a:lnTo>
                    <a:pt x="572587" y="2006600"/>
                  </a:lnTo>
                  <a:lnTo>
                    <a:pt x="555971" y="1955800"/>
                  </a:lnTo>
                  <a:lnTo>
                    <a:pt x="541144" y="1917700"/>
                  </a:lnTo>
                  <a:lnTo>
                    <a:pt x="528149" y="1866900"/>
                  </a:lnTo>
                  <a:lnTo>
                    <a:pt x="517032" y="1828800"/>
                  </a:lnTo>
                  <a:lnTo>
                    <a:pt x="507836" y="1778000"/>
                  </a:lnTo>
                  <a:lnTo>
                    <a:pt x="500607" y="1727200"/>
                  </a:lnTo>
                  <a:lnTo>
                    <a:pt x="495388" y="1689100"/>
                  </a:lnTo>
                  <a:lnTo>
                    <a:pt x="492224" y="1638300"/>
                  </a:lnTo>
                  <a:lnTo>
                    <a:pt x="491159" y="1587500"/>
                  </a:lnTo>
                  <a:lnTo>
                    <a:pt x="492224" y="1536700"/>
                  </a:lnTo>
                  <a:lnTo>
                    <a:pt x="495388" y="1485900"/>
                  </a:lnTo>
                  <a:lnTo>
                    <a:pt x="500607" y="1447800"/>
                  </a:lnTo>
                  <a:lnTo>
                    <a:pt x="507836" y="1397000"/>
                  </a:lnTo>
                  <a:lnTo>
                    <a:pt x="517032" y="1346200"/>
                  </a:lnTo>
                  <a:lnTo>
                    <a:pt x="528149" y="1308100"/>
                  </a:lnTo>
                  <a:lnTo>
                    <a:pt x="541144" y="1257300"/>
                  </a:lnTo>
                  <a:lnTo>
                    <a:pt x="555971" y="1219200"/>
                  </a:lnTo>
                  <a:lnTo>
                    <a:pt x="572587" y="1168400"/>
                  </a:lnTo>
                  <a:lnTo>
                    <a:pt x="590947" y="1130300"/>
                  </a:lnTo>
                  <a:lnTo>
                    <a:pt x="611006" y="1092200"/>
                  </a:lnTo>
                  <a:lnTo>
                    <a:pt x="632721" y="1054100"/>
                  </a:lnTo>
                  <a:lnTo>
                    <a:pt x="656046" y="1016000"/>
                  </a:lnTo>
                  <a:lnTo>
                    <a:pt x="680938" y="977900"/>
                  </a:lnTo>
                  <a:lnTo>
                    <a:pt x="707352" y="939800"/>
                  </a:lnTo>
                  <a:lnTo>
                    <a:pt x="735242" y="901700"/>
                  </a:lnTo>
                  <a:lnTo>
                    <a:pt x="764566" y="863600"/>
                  </a:lnTo>
                  <a:lnTo>
                    <a:pt x="795279" y="825500"/>
                  </a:lnTo>
                  <a:lnTo>
                    <a:pt x="827336" y="800100"/>
                  </a:lnTo>
                  <a:lnTo>
                    <a:pt x="860692" y="774700"/>
                  </a:lnTo>
                  <a:lnTo>
                    <a:pt x="895304" y="736600"/>
                  </a:lnTo>
                  <a:lnTo>
                    <a:pt x="931127" y="711200"/>
                  </a:lnTo>
                  <a:lnTo>
                    <a:pt x="968116" y="685800"/>
                  </a:lnTo>
                  <a:lnTo>
                    <a:pt x="1006227" y="660400"/>
                  </a:lnTo>
                  <a:lnTo>
                    <a:pt x="1045416" y="635000"/>
                  </a:lnTo>
                  <a:lnTo>
                    <a:pt x="1085638" y="609600"/>
                  </a:lnTo>
                  <a:lnTo>
                    <a:pt x="1126848" y="596900"/>
                  </a:lnTo>
                  <a:lnTo>
                    <a:pt x="1169003" y="571500"/>
                  </a:lnTo>
                  <a:lnTo>
                    <a:pt x="1300690" y="533400"/>
                  </a:lnTo>
                  <a:lnTo>
                    <a:pt x="1392388" y="508000"/>
                  </a:lnTo>
                  <a:lnTo>
                    <a:pt x="1439276" y="508000"/>
                  </a:lnTo>
                  <a:lnTo>
                    <a:pt x="1486798" y="495300"/>
                  </a:lnTo>
                  <a:lnTo>
                    <a:pt x="2749451" y="495300"/>
                  </a:lnTo>
                  <a:lnTo>
                    <a:pt x="2739248" y="482600"/>
                  </a:lnTo>
                  <a:lnTo>
                    <a:pt x="2707754" y="457200"/>
                  </a:lnTo>
                  <a:lnTo>
                    <a:pt x="2675396" y="419100"/>
                  </a:lnTo>
                  <a:lnTo>
                    <a:pt x="2642193" y="393700"/>
                  </a:lnTo>
                  <a:lnTo>
                    <a:pt x="2608167" y="368300"/>
                  </a:lnTo>
                  <a:lnTo>
                    <a:pt x="2573335" y="342900"/>
                  </a:lnTo>
                  <a:lnTo>
                    <a:pt x="2537719" y="304800"/>
                  </a:lnTo>
                  <a:lnTo>
                    <a:pt x="2501337" y="279400"/>
                  </a:lnTo>
                  <a:lnTo>
                    <a:pt x="2464210" y="254000"/>
                  </a:lnTo>
                  <a:lnTo>
                    <a:pt x="2426356" y="241300"/>
                  </a:lnTo>
                  <a:lnTo>
                    <a:pt x="2387797" y="215900"/>
                  </a:lnTo>
                  <a:lnTo>
                    <a:pt x="2348552" y="190500"/>
                  </a:lnTo>
                  <a:lnTo>
                    <a:pt x="2308640" y="165100"/>
                  </a:lnTo>
                  <a:lnTo>
                    <a:pt x="2268081" y="152400"/>
                  </a:lnTo>
                  <a:lnTo>
                    <a:pt x="2226895" y="127000"/>
                  </a:lnTo>
                  <a:lnTo>
                    <a:pt x="2012249" y="63500"/>
                  </a:lnTo>
                  <a:lnTo>
                    <a:pt x="1877200" y="25400"/>
                  </a:lnTo>
                  <a:close/>
                </a:path>
                <a:path w="3190875" h="3187700">
                  <a:moveTo>
                    <a:pt x="2749451" y="495300"/>
                  </a:moveTo>
                  <a:lnTo>
                    <a:pt x="1680347" y="495300"/>
                  </a:lnTo>
                  <a:lnTo>
                    <a:pt x="1727878" y="508000"/>
                  </a:lnTo>
                  <a:lnTo>
                    <a:pt x="1774775" y="508000"/>
                  </a:lnTo>
                  <a:lnTo>
                    <a:pt x="1866491" y="533400"/>
                  </a:lnTo>
                  <a:lnTo>
                    <a:pt x="1998201" y="571500"/>
                  </a:lnTo>
                  <a:lnTo>
                    <a:pt x="2040364" y="596900"/>
                  </a:lnTo>
                  <a:lnTo>
                    <a:pt x="2081581" y="609600"/>
                  </a:lnTo>
                  <a:lnTo>
                    <a:pt x="2121810" y="635000"/>
                  </a:lnTo>
                  <a:lnTo>
                    <a:pt x="2161005" y="660400"/>
                  </a:lnTo>
                  <a:lnTo>
                    <a:pt x="2199122" y="685800"/>
                  </a:lnTo>
                  <a:lnTo>
                    <a:pt x="2236117" y="711200"/>
                  </a:lnTo>
                  <a:lnTo>
                    <a:pt x="2271945" y="736600"/>
                  </a:lnTo>
                  <a:lnTo>
                    <a:pt x="2306562" y="774700"/>
                  </a:lnTo>
                  <a:lnTo>
                    <a:pt x="2339923" y="800100"/>
                  </a:lnTo>
                  <a:lnTo>
                    <a:pt x="2371985" y="825500"/>
                  </a:lnTo>
                  <a:lnTo>
                    <a:pt x="2402702" y="863600"/>
                  </a:lnTo>
                  <a:lnTo>
                    <a:pt x="2432030" y="901700"/>
                  </a:lnTo>
                  <a:lnTo>
                    <a:pt x="2459925" y="939800"/>
                  </a:lnTo>
                  <a:lnTo>
                    <a:pt x="2486342" y="977900"/>
                  </a:lnTo>
                  <a:lnTo>
                    <a:pt x="2511236" y="1016000"/>
                  </a:lnTo>
                  <a:lnTo>
                    <a:pt x="2534565" y="1054100"/>
                  </a:lnTo>
                  <a:lnTo>
                    <a:pt x="2556282" y="1092200"/>
                  </a:lnTo>
                  <a:lnTo>
                    <a:pt x="2576344" y="1130300"/>
                  </a:lnTo>
                  <a:lnTo>
                    <a:pt x="2594706" y="1168400"/>
                  </a:lnTo>
                  <a:lnTo>
                    <a:pt x="2611324" y="1219200"/>
                  </a:lnTo>
                  <a:lnTo>
                    <a:pt x="2626153" y="1257300"/>
                  </a:lnTo>
                  <a:lnTo>
                    <a:pt x="2639150" y="1308100"/>
                  </a:lnTo>
                  <a:lnTo>
                    <a:pt x="2650268" y="1346200"/>
                  </a:lnTo>
                  <a:lnTo>
                    <a:pt x="2659465" y="1397000"/>
                  </a:lnTo>
                  <a:lnTo>
                    <a:pt x="2666695" y="1447800"/>
                  </a:lnTo>
                  <a:lnTo>
                    <a:pt x="2671915" y="1485900"/>
                  </a:lnTo>
                  <a:lnTo>
                    <a:pt x="2675079" y="1536700"/>
                  </a:lnTo>
                  <a:lnTo>
                    <a:pt x="2676144" y="1587500"/>
                  </a:lnTo>
                  <a:lnTo>
                    <a:pt x="2675079" y="1638300"/>
                  </a:lnTo>
                  <a:lnTo>
                    <a:pt x="2671915" y="1689100"/>
                  </a:lnTo>
                  <a:lnTo>
                    <a:pt x="2666695" y="1727200"/>
                  </a:lnTo>
                  <a:lnTo>
                    <a:pt x="2659465" y="1778000"/>
                  </a:lnTo>
                  <a:lnTo>
                    <a:pt x="2650268" y="1828800"/>
                  </a:lnTo>
                  <a:lnTo>
                    <a:pt x="2639150" y="1866900"/>
                  </a:lnTo>
                  <a:lnTo>
                    <a:pt x="2626153" y="1917700"/>
                  </a:lnTo>
                  <a:lnTo>
                    <a:pt x="2611324" y="1955800"/>
                  </a:lnTo>
                  <a:lnTo>
                    <a:pt x="2594706" y="2006600"/>
                  </a:lnTo>
                  <a:lnTo>
                    <a:pt x="2576344" y="2044700"/>
                  </a:lnTo>
                  <a:lnTo>
                    <a:pt x="2556282" y="2082800"/>
                  </a:lnTo>
                  <a:lnTo>
                    <a:pt x="2534565" y="2120900"/>
                  </a:lnTo>
                  <a:lnTo>
                    <a:pt x="2511236" y="2159000"/>
                  </a:lnTo>
                  <a:lnTo>
                    <a:pt x="2486342" y="2197100"/>
                  </a:lnTo>
                  <a:lnTo>
                    <a:pt x="2459925" y="2235200"/>
                  </a:lnTo>
                  <a:lnTo>
                    <a:pt x="2432030" y="2273300"/>
                  </a:lnTo>
                  <a:lnTo>
                    <a:pt x="2402702" y="2311400"/>
                  </a:lnTo>
                  <a:lnTo>
                    <a:pt x="2371985" y="2349500"/>
                  </a:lnTo>
                  <a:lnTo>
                    <a:pt x="2339923" y="2374900"/>
                  </a:lnTo>
                  <a:lnTo>
                    <a:pt x="2306562" y="2413000"/>
                  </a:lnTo>
                  <a:lnTo>
                    <a:pt x="2271945" y="2438400"/>
                  </a:lnTo>
                  <a:lnTo>
                    <a:pt x="2236117" y="2463800"/>
                  </a:lnTo>
                  <a:lnTo>
                    <a:pt x="2199122" y="2489200"/>
                  </a:lnTo>
                  <a:lnTo>
                    <a:pt x="2161005" y="2514600"/>
                  </a:lnTo>
                  <a:lnTo>
                    <a:pt x="2121810" y="2540000"/>
                  </a:lnTo>
                  <a:lnTo>
                    <a:pt x="2081581" y="2565400"/>
                  </a:lnTo>
                  <a:lnTo>
                    <a:pt x="2040364" y="2578100"/>
                  </a:lnTo>
                  <a:lnTo>
                    <a:pt x="1998201" y="2603500"/>
                  </a:lnTo>
                  <a:lnTo>
                    <a:pt x="1955139" y="2616200"/>
                  </a:lnTo>
                  <a:lnTo>
                    <a:pt x="1774775" y="2667000"/>
                  </a:lnTo>
                  <a:lnTo>
                    <a:pt x="1727878" y="2667000"/>
                  </a:lnTo>
                  <a:lnTo>
                    <a:pt x="1680347" y="2679700"/>
                  </a:lnTo>
                  <a:lnTo>
                    <a:pt x="2769858" y="2679700"/>
                  </a:lnTo>
                  <a:lnTo>
                    <a:pt x="2799565" y="2641600"/>
                  </a:lnTo>
                  <a:lnTo>
                    <a:pt x="2828348" y="2616200"/>
                  </a:lnTo>
                  <a:lnTo>
                    <a:pt x="2856189" y="2578100"/>
                  </a:lnTo>
                  <a:lnTo>
                    <a:pt x="2883067" y="2540000"/>
                  </a:lnTo>
                  <a:lnTo>
                    <a:pt x="2908963" y="2501900"/>
                  </a:lnTo>
                  <a:lnTo>
                    <a:pt x="2933856" y="2463800"/>
                  </a:lnTo>
                  <a:lnTo>
                    <a:pt x="2957728" y="2425700"/>
                  </a:lnTo>
                  <a:lnTo>
                    <a:pt x="2980558" y="2387600"/>
                  </a:lnTo>
                  <a:lnTo>
                    <a:pt x="3002326" y="2349500"/>
                  </a:lnTo>
                  <a:lnTo>
                    <a:pt x="3023014" y="2311400"/>
                  </a:lnTo>
                  <a:lnTo>
                    <a:pt x="3042601" y="2273300"/>
                  </a:lnTo>
                  <a:lnTo>
                    <a:pt x="3061067" y="2235200"/>
                  </a:lnTo>
                  <a:lnTo>
                    <a:pt x="3078392" y="2184400"/>
                  </a:lnTo>
                  <a:lnTo>
                    <a:pt x="3094558" y="2146300"/>
                  </a:lnTo>
                  <a:lnTo>
                    <a:pt x="3109544" y="2108200"/>
                  </a:lnTo>
                  <a:lnTo>
                    <a:pt x="3123330" y="2057400"/>
                  </a:lnTo>
                  <a:lnTo>
                    <a:pt x="3135897" y="2019300"/>
                  </a:lnTo>
                  <a:lnTo>
                    <a:pt x="3147225" y="1968500"/>
                  </a:lnTo>
                  <a:lnTo>
                    <a:pt x="3157294" y="1930400"/>
                  </a:lnTo>
                  <a:lnTo>
                    <a:pt x="3166085" y="1879600"/>
                  </a:lnTo>
                  <a:lnTo>
                    <a:pt x="3173577" y="1828800"/>
                  </a:lnTo>
                  <a:lnTo>
                    <a:pt x="3179752" y="1790700"/>
                  </a:lnTo>
                  <a:lnTo>
                    <a:pt x="3184588" y="1739900"/>
                  </a:lnTo>
                  <a:lnTo>
                    <a:pt x="3188067" y="1689100"/>
                  </a:lnTo>
                  <a:lnTo>
                    <a:pt x="3190169" y="1651000"/>
                  </a:lnTo>
                  <a:lnTo>
                    <a:pt x="3190875" y="1600200"/>
                  </a:lnTo>
                  <a:lnTo>
                    <a:pt x="3190169" y="1549400"/>
                  </a:lnTo>
                  <a:lnTo>
                    <a:pt x="3188067" y="1498600"/>
                  </a:lnTo>
                  <a:lnTo>
                    <a:pt x="3184588" y="1460500"/>
                  </a:lnTo>
                  <a:lnTo>
                    <a:pt x="3179752" y="1409700"/>
                  </a:lnTo>
                  <a:lnTo>
                    <a:pt x="3173577" y="1358900"/>
                  </a:lnTo>
                  <a:lnTo>
                    <a:pt x="3166085" y="1320800"/>
                  </a:lnTo>
                  <a:lnTo>
                    <a:pt x="3157294" y="1270000"/>
                  </a:lnTo>
                  <a:lnTo>
                    <a:pt x="3147225" y="1231900"/>
                  </a:lnTo>
                  <a:lnTo>
                    <a:pt x="3135897" y="1181100"/>
                  </a:lnTo>
                  <a:lnTo>
                    <a:pt x="3123330" y="1143000"/>
                  </a:lnTo>
                  <a:lnTo>
                    <a:pt x="3109544" y="1092200"/>
                  </a:lnTo>
                  <a:lnTo>
                    <a:pt x="3094558" y="1054100"/>
                  </a:lnTo>
                  <a:lnTo>
                    <a:pt x="3078392" y="1003300"/>
                  </a:lnTo>
                  <a:lnTo>
                    <a:pt x="3061067" y="965200"/>
                  </a:lnTo>
                  <a:lnTo>
                    <a:pt x="3042601" y="927100"/>
                  </a:lnTo>
                  <a:lnTo>
                    <a:pt x="3023014" y="889000"/>
                  </a:lnTo>
                  <a:lnTo>
                    <a:pt x="3002326" y="850900"/>
                  </a:lnTo>
                  <a:lnTo>
                    <a:pt x="2980558" y="800100"/>
                  </a:lnTo>
                  <a:lnTo>
                    <a:pt x="2957728" y="762000"/>
                  </a:lnTo>
                  <a:lnTo>
                    <a:pt x="2933856" y="723900"/>
                  </a:lnTo>
                  <a:lnTo>
                    <a:pt x="2908963" y="698500"/>
                  </a:lnTo>
                  <a:lnTo>
                    <a:pt x="2883067" y="660400"/>
                  </a:lnTo>
                  <a:lnTo>
                    <a:pt x="2856189" y="622300"/>
                  </a:lnTo>
                  <a:lnTo>
                    <a:pt x="2828348" y="584200"/>
                  </a:lnTo>
                  <a:lnTo>
                    <a:pt x="2799565" y="546100"/>
                  </a:lnTo>
                  <a:lnTo>
                    <a:pt x="2769858" y="520700"/>
                  </a:lnTo>
                  <a:lnTo>
                    <a:pt x="2749451" y="495300"/>
                  </a:lnTo>
                  <a:close/>
                </a:path>
                <a:path w="3190875" h="3187700">
                  <a:moveTo>
                    <a:pt x="1784888" y="12700"/>
                  </a:moveTo>
                  <a:lnTo>
                    <a:pt x="1406088" y="12700"/>
                  </a:lnTo>
                  <a:lnTo>
                    <a:pt x="1359711" y="25400"/>
                  </a:lnTo>
                  <a:lnTo>
                    <a:pt x="1831259" y="25400"/>
                  </a:lnTo>
                  <a:lnTo>
                    <a:pt x="1784888" y="12700"/>
                  </a:lnTo>
                  <a:close/>
                </a:path>
                <a:path w="3190875" h="3187700">
                  <a:moveTo>
                    <a:pt x="1690935" y="0"/>
                  </a:moveTo>
                  <a:lnTo>
                    <a:pt x="1500053" y="0"/>
                  </a:lnTo>
                  <a:lnTo>
                    <a:pt x="1452875" y="12700"/>
                  </a:lnTo>
                  <a:lnTo>
                    <a:pt x="1738106" y="12700"/>
                  </a:lnTo>
                  <a:lnTo>
                    <a:pt x="1690935" y="0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6525" y="4367276"/>
              <a:ext cx="1628139" cy="1352550"/>
            </a:xfrm>
            <a:custGeom>
              <a:avLst/>
              <a:gdLst/>
              <a:ahLst/>
              <a:cxnLst/>
              <a:rect l="l" t="t" r="r" b="b"/>
              <a:pathLst>
                <a:path w="1628139" h="1352550">
                  <a:moveTo>
                    <a:pt x="925957" y="0"/>
                  </a:moveTo>
                  <a:lnTo>
                    <a:pt x="883285" y="69850"/>
                  </a:lnTo>
                  <a:lnTo>
                    <a:pt x="854464" y="110321"/>
                  </a:lnTo>
                  <a:lnTo>
                    <a:pt x="823867" y="149400"/>
                  </a:lnTo>
                  <a:lnTo>
                    <a:pt x="791553" y="187028"/>
                  </a:lnTo>
                  <a:lnTo>
                    <a:pt x="757580" y="223148"/>
                  </a:lnTo>
                  <a:lnTo>
                    <a:pt x="722007" y="257701"/>
                  </a:lnTo>
                  <a:lnTo>
                    <a:pt x="684891" y="290629"/>
                  </a:lnTo>
                  <a:lnTo>
                    <a:pt x="646292" y="321874"/>
                  </a:lnTo>
                  <a:lnTo>
                    <a:pt x="606268" y="351377"/>
                  </a:lnTo>
                  <a:lnTo>
                    <a:pt x="564876" y="379080"/>
                  </a:lnTo>
                  <a:lnTo>
                    <a:pt x="522177" y="404926"/>
                  </a:lnTo>
                  <a:lnTo>
                    <a:pt x="478227" y="428855"/>
                  </a:lnTo>
                  <a:lnTo>
                    <a:pt x="433086" y="450810"/>
                  </a:lnTo>
                  <a:lnTo>
                    <a:pt x="386812" y="470732"/>
                  </a:lnTo>
                  <a:lnTo>
                    <a:pt x="339463" y="488564"/>
                  </a:lnTo>
                  <a:lnTo>
                    <a:pt x="291098" y="504246"/>
                  </a:lnTo>
                  <a:lnTo>
                    <a:pt x="241776" y="517721"/>
                  </a:lnTo>
                  <a:lnTo>
                    <a:pt x="191554" y="528931"/>
                  </a:lnTo>
                  <a:lnTo>
                    <a:pt x="140491" y="537817"/>
                  </a:lnTo>
                  <a:lnTo>
                    <a:pt x="88646" y="544322"/>
                  </a:lnTo>
                  <a:lnTo>
                    <a:pt x="0" y="548767"/>
                  </a:lnTo>
                  <a:lnTo>
                    <a:pt x="0" y="1288694"/>
                  </a:lnTo>
                  <a:lnTo>
                    <a:pt x="4714" y="1314038"/>
                  </a:lnTo>
                  <a:lnTo>
                    <a:pt x="17144" y="1334258"/>
                  </a:lnTo>
                  <a:lnTo>
                    <a:pt x="34718" y="1347644"/>
                  </a:lnTo>
                  <a:lnTo>
                    <a:pt x="54863" y="1352486"/>
                  </a:lnTo>
                  <a:lnTo>
                    <a:pt x="102671" y="1351733"/>
                  </a:lnTo>
                  <a:lnTo>
                    <a:pt x="150727" y="1349488"/>
                  </a:lnTo>
                  <a:lnTo>
                    <a:pt x="198975" y="1345777"/>
                  </a:lnTo>
                  <a:lnTo>
                    <a:pt x="247358" y="1340623"/>
                  </a:lnTo>
                  <a:lnTo>
                    <a:pt x="295822" y="1334050"/>
                  </a:lnTo>
                  <a:lnTo>
                    <a:pt x="344310" y="1326082"/>
                  </a:lnTo>
                  <a:lnTo>
                    <a:pt x="392765" y="1316743"/>
                  </a:lnTo>
                  <a:lnTo>
                    <a:pt x="441133" y="1306056"/>
                  </a:lnTo>
                  <a:lnTo>
                    <a:pt x="489357" y="1294046"/>
                  </a:lnTo>
                  <a:lnTo>
                    <a:pt x="537380" y="1280737"/>
                  </a:lnTo>
                  <a:lnTo>
                    <a:pt x="585148" y="1266152"/>
                  </a:lnTo>
                  <a:lnTo>
                    <a:pt x="632604" y="1250315"/>
                  </a:lnTo>
                  <a:lnTo>
                    <a:pt x="679692" y="1233251"/>
                  </a:lnTo>
                  <a:lnTo>
                    <a:pt x="726356" y="1214983"/>
                  </a:lnTo>
                  <a:lnTo>
                    <a:pt x="772540" y="1195535"/>
                  </a:lnTo>
                  <a:lnTo>
                    <a:pt x="818188" y="1174931"/>
                  </a:lnTo>
                  <a:lnTo>
                    <a:pt x="863244" y="1153196"/>
                  </a:lnTo>
                  <a:lnTo>
                    <a:pt x="907652" y="1130352"/>
                  </a:lnTo>
                  <a:lnTo>
                    <a:pt x="951357" y="1106424"/>
                  </a:lnTo>
                  <a:lnTo>
                    <a:pt x="994308" y="1080063"/>
                  </a:lnTo>
                  <a:lnTo>
                    <a:pt x="1036483" y="1052803"/>
                  </a:lnTo>
                  <a:lnTo>
                    <a:pt x="1077866" y="1024651"/>
                  </a:lnTo>
                  <a:lnTo>
                    <a:pt x="1118442" y="995614"/>
                  </a:lnTo>
                  <a:lnTo>
                    <a:pt x="1158193" y="965702"/>
                  </a:lnTo>
                  <a:lnTo>
                    <a:pt x="1197105" y="934922"/>
                  </a:lnTo>
                  <a:lnTo>
                    <a:pt x="1235161" y="903281"/>
                  </a:lnTo>
                  <a:lnTo>
                    <a:pt x="1272345" y="870788"/>
                  </a:lnTo>
                  <a:lnTo>
                    <a:pt x="1308641" y="837450"/>
                  </a:lnTo>
                  <a:lnTo>
                    <a:pt x="1344033" y="803276"/>
                  </a:lnTo>
                  <a:lnTo>
                    <a:pt x="1378505" y="768273"/>
                  </a:lnTo>
                  <a:lnTo>
                    <a:pt x="1412042" y="732449"/>
                  </a:lnTo>
                  <a:lnTo>
                    <a:pt x="1444627" y="695812"/>
                  </a:lnTo>
                  <a:lnTo>
                    <a:pt x="1476243" y="658370"/>
                  </a:lnTo>
                  <a:lnTo>
                    <a:pt x="1506876" y="620130"/>
                  </a:lnTo>
                  <a:lnTo>
                    <a:pt x="1536509" y="581102"/>
                  </a:lnTo>
                  <a:lnTo>
                    <a:pt x="1565127" y="541291"/>
                  </a:lnTo>
                  <a:lnTo>
                    <a:pt x="1592712" y="500708"/>
                  </a:lnTo>
                  <a:lnTo>
                    <a:pt x="1619250" y="459359"/>
                  </a:lnTo>
                  <a:lnTo>
                    <a:pt x="1627963" y="439003"/>
                  </a:lnTo>
                  <a:lnTo>
                    <a:pt x="1627235" y="419481"/>
                  </a:lnTo>
                  <a:lnTo>
                    <a:pt x="1617910" y="401673"/>
                  </a:lnTo>
                  <a:lnTo>
                    <a:pt x="1600835" y="386461"/>
                  </a:lnTo>
                  <a:lnTo>
                    <a:pt x="925957" y="0"/>
                  </a:lnTo>
                  <a:close/>
                </a:path>
              </a:pathLst>
            </a:custGeom>
            <a:solidFill>
              <a:srgbClr val="D2D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76525" y="4367276"/>
              <a:ext cx="1628139" cy="1352550"/>
            </a:xfrm>
            <a:custGeom>
              <a:avLst/>
              <a:gdLst/>
              <a:ahLst/>
              <a:cxnLst/>
              <a:rect l="l" t="t" r="r" b="b"/>
              <a:pathLst>
                <a:path w="1628139" h="1352550">
                  <a:moveTo>
                    <a:pt x="925957" y="0"/>
                  </a:moveTo>
                  <a:lnTo>
                    <a:pt x="1600835" y="386461"/>
                  </a:lnTo>
                  <a:lnTo>
                    <a:pt x="1617910" y="401673"/>
                  </a:lnTo>
                  <a:lnTo>
                    <a:pt x="1627235" y="419481"/>
                  </a:lnTo>
                  <a:lnTo>
                    <a:pt x="1627963" y="439003"/>
                  </a:lnTo>
                  <a:lnTo>
                    <a:pt x="1619250" y="459359"/>
                  </a:lnTo>
                  <a:lnTo>
                    <a:pt x="1592712" y="500708"/>
                  </a:lnTo>
                  <a:lnTo>
                    <a:pt x="1565127" y="541291"/>
                  </a:lnTo>
                  <a:lnTo>
                    <a:pt x="1536509" y="581102"/>
                  </a:lnTo>
                  <a:lnTo>
                    <a:pt x="1506876" y="620130"/>
                  </a:lnTo>
                  <a:lnTo>
                    <a:pt x="1476243" y="658370"/>
                  </a:lnTo>
                  <a:lnTo>
                    <a:pt x="1444627" y="695812"/>
                  </a:lnTo>
                  <a:lnTo>
                    <a:pt x="1412042" y="732449"/>
                  </a:lnTo>
                  <a:lnTo>
                    <a:pt x="1378505" y="768273"/>
                  </a:lnTo>
                  <a:lnTo>
                    <a:pt x="1344033" y="803276"/>
                  </a:lnTo>
                  <a:lnTo>
                    <a:pt x="1308641" y="837450"/>
                  </a:lnTo>
                  <a:lnTo>
                    <a:pt x="1272345" y="870788"/>
                  </a:lnTo>
                  <a:lnTo>
                    <a:pt x="1235161" y="903281"/>
                  </a:lnTo>
                  <a:lnTo>
                    <a:pt x="1197105" y="934922"/>
                  </a:lnTo>
                  <a:lnTo>
                    <a:pt x="1158193" y="965702"/>
                  </a:lnTo>
                  <a:lnTo>
                    <a:pt x="1118442" y="995614"/>
                  </a:lnTo>
                  <a:lnTo>
                    <a:pt x="1077866" y="1024651"/>
                  </a:lnTo>
                  <a:lnTo>
                    <a:pt x="1036483" y="1052803"/>
                  </a:lnTo>
                  <a:lnTo>
                    <a:pt x="994308" y="1080063"/>
                  </a:lnTo>
                  <a:lnTo>
                    <a:pt x="951357" y="1106424"/>
                  </a:lnTo>
                  <a:lnTo>
                    <a:pt x="907652" y="1130352"/>
                  </a:lnTo>
                  <a:lnTo>
                    <a:pt x="863244" y="1153196"/>
                  </a:lnTo>
                  <a:lnTo>
                    <a:pt x="818188" y="1174931"/>
                  </a:lnTo>
                  <a:lnTo>
                    <a:pt x="772540" y="1195535"/>
                  </a:lnTo>
                  <a:lnTo>
                    <a:pt x="726356" y="1214983"/>
                  </a:lnTo>
                  <a:lnTo>
                    <a:pt x="679692" y="1233251"/>
                  </a:lnTo>
                  <a:lnTo>
                    <a:pt x="632604" y="1250315"/>
                  </a:lnTo>
                  <a:lnTo>
                    <a:pt x="585148" y="1266152"/>
                  </a:lnTo>
                  <a:lnTo>
                    <a:pt x="537380" y="1280737"/>
                  </a:lnTo>
                  <a:lnTo>
                    <a:pt x="489357" y="1294046"/>
                  </a:lnTo>
                  <a:lnTo>
                    <a:pt x="441133" y="1306056"/>
                  </a:lnTo>
                  <a:lnTo>
                    <a:pt x="392765" y="1316743"/>
                  </a:lnTo>
                  <a:lnTo>
                    <a:pt x="344310" y="1326082"/>
                  </a:lnTo>
                  <a:lnTo>
                    <a:pt x="295822" y="1334050"/>
                  </a:lnTo>
                  <a:lnTo>
                    <a:pt x="247358" y="1340623"/>
                  </a:lnTo>
                  <a:lnTo>
                    <a:pt x="198975" y="1345777"/>
                  </a:lnTo>
                  <a:lnTo>
                    <a:pt x="150727" y="1349488"/>
                  </a:lnTo>
                  <a:lnTo>
                    <a:pt x="102671" y="1351733"/>
                  </a:lnTo>
                  <a:lnTo>
                    <a:pt x="54863" y="1352486"/>
                  </a:lnTo>
                  <a:lnTo>
                    <a:pt x="34718" y="1347644"/>
                  </a:lnTo>
                  <a:lnTo>
                    <a:pt x="17144" y="1334258"/>
                  </a:lnTo>
                  <a:lnTo>
                    <a:pt x="4714" y="1314038"/>
                  </a:lnTo>
                  <a:lnTo>
                    <a:pt x="0" y="1288694"/>
                  </a:lnTo>
                  <a:lnTo>
                    <a:pt x="0" y="548767"/>
                  </a:lnTo>
                  <a:lnTo>
                    <a:pt x="88646" y="544322"/>
                  </a:lnTo>
                  <a:lnTo>
                    <a:pt x="140491" y="537817"/>
                  </a:lnTo>
                  <a:lnTo>
                    <a:pt x="191554" y="528931"/>
                  </a:lnTo>
                  <a:lnTo>
                    <a:pt x="241776" y="517721"/>
                  </a:lnTo>
                  <a:lnTo>
                    <a:pt x="291098" y="504246"/>
                  </a:lnTo>
                  <a:lnTo>
                    <a:pt x="339463" y="488564"/>
                  </a:lnTo>
                  <a:lnTo>
                    <a:pt x="386812" y="470732"/>
                  </a:lnTo>
                  <a:lnTo>
                    <a:pt x="433086" y="450810"/>
                  </a:lnTo>
                  <a:lnTo>
                    <a:pt x="478227" y="428855"/>
                  </a:lnTo>
                  <a:lnTo>
                    <a:pt x="522177" y="404926"/>
                  </a:lnTo>
                  <a:lnTo>
                    <a:pt x="564876" y="379080"/>
                  </a:lnTo>
                  <a:lnTo>
                    <a:pt x="606268" y="351377"/>
                  </a:lnTo>
                  <a:lnTo>
                    <a:pt x="646292" y="321874"/>
                  </a:lnTo>
                  <a:lnTo>
                    <a:pt x="684891" y="290629"/>
                  </a:lnTo>
                  <a:lnTo>
                    <a:pt x="722007" y="257701"/>
                  </a:lnTo>
                  <a:lnTo>
                    <a:pt x="757580" y="223148"/>
                  </a:lnTo>
                  <a:lnTo>
                    <a:pt x="791553" y="187028"/>
                  </a:lnTo>
                  <a:lnTo>
                    <a:pt x="823867" y="149400"/>
                  </a:lnTo>
                  <a:lnTo>
                    <a:pt x="854464" y="110321"/>
                  </a:lnTo>
                  <a:lnTo>
                    <a:pt x="883285" y="69850"/>
                  </a:lnTo>
                  <a:lnTo>
                    <a:pt x="925957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0926" y="2843690"/>
              <a:ext cx="1066800" cy="1961514"/>
            </a:xfrm>
            <a:custGeom>
              <a:avLst/>
              <a:gdLst/>
              <a:ahLst/>
              <a:cxnLst/>
              <a:rect l="l" t="t" r="r" b="b"/>
              <a:pathLst>
                <a:path w="1066800" h="1961514">
                  <a:moveTo>
                    <a:pt x="791737" y="0"/>
                  </a:moveTo>
                  <a:lnTo>
                    <a:pt x="776986" y="347"/>
                  </a:lnTo>
                  <a:lnTo>
                    <a:pt x="770254" y="1617"/>
                  </a:lnTo>
                  <a:lnTo>
                    <a:pt x="763397" y="4411"/>
                  </a:lnTo>
                  <a:lnTo>
                    <a:pt x="756538" y="8983"/>
                  </a:lnTo>
                  <a:lnTo>
                    <a:pt x="8762" y="443323"/>
                  </a:lnTo>
                  <a:lnTo>
                    <a:pt x="64769" y="546701"/>
                  </a:lnTo>
                  <a:lnTo>
                    <a:pt x="82226" y="590738"/>
                  </a:lnTo>
                  <a:lnTo>
                    <a:pt x="97817" y="635694"/>
                  </a:lnTo>
                  <a:lnTo>
                    <a:pt x="111491" y="681518"/>
                  </a:lnTo>
                  <a:lnTo>
                    <a:pt x="123200" y="728161"/>
                  </a:lnTo>
                  <a:lnTo>
                    <a:pt x="132892" y="775573"/>
                  </a:lnTo>
                  <a:lnTo>
                    <a:pt x="140518" y="823702"/>
                  </a:lnTo>
                  <a:lnTo>
                    <a:pt x="146027" y="872499"/>
                  </a:lnTo>
                  <a:lnTo>
                    <a:pt x="149369" y="921914"/>
                  </a:lnTo>
                  <a:lnTo>
                    <a:pt x="150494" y="971897"/>
                  </a:lnTo>
                  <a:lnTo>
                    <a:pt x="149369" y="1021913"/>
                  </a:lnTo>
                  <a:lnTo>
                    <a:pt x="146027" y="1071346"/>
                  </a:lnTo>
                  <a:lnTo>
                    <a:pt x="140518" y="1120148"/>
                  </a:lnTo>
                  <a:lnTo>
                    <a:pt x="132892" y="1168273"/>
                  </a:lnTo>
                  <a:lnTo>
                    <a:pt x="123200" y="1215674"/>
                  </a:lnTo>
                  <a:lnTo>
                    <a:pt x="111491" y="1262303"/>
                  </a:lnTo>
                  <a:lnTo>
                    <a:pt x="97817" y="1308114"/>
                  </a:lnTo>
                  <a:lnTo>
                    <a:pt x="82226" y="1353060"/>
                  </a:lnTo>
                  <a:lnTo>
                    <a:pt x="64769" y="1397093"/>
                  </a:lnTo>
                  <a:lnTo>
                    <a:pt x="0" y="1516854"/>
                  </a:lnTo>
                  <a:lnTo>
                    <a:pt x="756538" y="1956147"/>
                  </a:lnTo>
                  <a:lnTo>
                    <a:pt x="776950" y="1961005"/>
                  </a:lnTo>
                  <a:lnTo>
                    <a:pt x="796480" y="1960719"/>
                  </a:lnTo>
                  <a:lnTo>
                    <a:pt x="814296" y="1953575"/>
                  </a:lnTo>
                  <a:lnTo>
                    <a:pt x="852276" y="1893716"/>
                  </a:lnTo>
                  <a:lnTo>
                    <a:pt x="873887" y="1849044"/>
                  </a:lnTo>
                  <a:lnTo>
                    <a:pt x="894392" y="1803866"/>
                  </a:lnTo>
                  <a:lnTo>
                    <a:pt x="913782" y="1758199"/>
                  </a:lnTo>
                  <a:lnTo>
                    <a:pt x="932051" y="1712067"/>
                  </a:lnTo>
                  <a:lnTo>
                    <a:pt x="949191" y="1665488"/>
                  </a:lnTo>
                  <a:lnTo>
                    <a:pt x="965196" y="1618483"/>
                  </a:lnTo>
                  <a:lnTo>
                    <a:pt x="980060" y="1571073"/>
                  </a:lnTo>
                  <a:lnTo>
                    <a:pt x="993774" y="1523278"/>
                  </a:lnTo>
                  <a:lnTo>
                    <a:pt x="1006332" y="1475118"/>
                  </a:lnTo>
                  <a:lnTo>
                    <a:pt x="1017727" y="1426615"/>
                  </a:lnTo>
                  <a:lnTo>
                    <a:pt x="1027952" y="1377789"/>
                  </a:lnTo>
                  <a:lnTo>
                    <a:pt x="1037000" y="1328659"/>
                  </a:lnTo>
                  <a:lnTo>
                    <a:pt x="1044864" y="1279248"/>
                  </a:lnTo>
                  <a:lnTo>
                    <a:pt x="1051538" y="1229574"/>
                  </a:lnTo>
                  <a:lnTo>
                    <a:pt x="1057013" y="1179659"/>
                  </a:lnTo>
                  <a:lnTo>
                    <a:pt x="1061284" y="1129522"/>
                  </a:lnTo>
                  <a:lnTo>
                    <a:pt x="1064344" y="1079186"/>
                  </a:lnTo>
                  <a:lnTo>
                    <a:pt x="1066184" y="1028669"/>
                  </a:lnTo>
                  <a:lnTo>
                    <a:pt x="1066800" y="977993"/>
                  </a:lnTo>
                  <a:lnTo>
                    <a:pt x="1066184" y="928639"/>
                  </a:lnTo>
                  <a:lnTo>
                    <a:pt x="1064344" y="879312"/>
                  </a:lnTo>
                  <a:lnTo>
                    <a:pt x="1061284" y="830040"/>
                  </a:lnTo>
                  <a:lnTo>
                    <a:pt x="1057013" y="780850"/>
                  </a:lnTo>
                  <a:lnTo>
                    <a:pt x="1051538" y="731770"/>
                  </a:lnTo>
                  <a:lnTo>
                    <a:pt x="1044864" y="682826"/>
                  </a:lnTo>
                  <a:lnTo>
                    <a:pt x="1037000" y="634046"/>
                  </a:lnTo>
                  <a:lnTo>
                    <a:pt x="1027952" y="585457"/>
                  </a:lnTo>
                  <a:lnTo>
                    <a:pt x="1017727" y="537087"/>
                  </a:lnTo>
                  <a:lnTo>
                    <a:pt x="1006332" y="488963"/>
                  </a:lnTo>
                  <a:lnTo>
                    <a:pt x="993774" y="441113"/>
                  </a:lnTo>
                  <a:lnTo>
                    <a:pt x="980060" y="393563"/>
                  </a:lnTo>
                  <a:lnTo>
                    <a:pt x="965196" y="346341"/>
                  </a:lnTo>
                  <a:lnTo>
                    <a:pt x="949191" y="299475"/>
                  </a:lnTo>
                  <a:lnTo>
                    <a:pt x="932051" y="252991"/>
                  </a:lnTo>
                  <a:lnTo>
                    <a:pt x="913782" y="206918"/>
                  </a:lnTo>
                  <a:lnTo>
                    <a:pt x="894392" y="161282"/>
                  </a:lnTo>
                  <a:lnTo>
                    <a:pt x="873887" y="116110"/>
                  </a:lnTo>
                  <a:lnTo>
                    <a:pt x="852276" y="71431"/>
                  </a:lnTo>
                  <a:lnTo>
                    <a:pt x="829563" y="27271"/>
                  </a:lnTo>
                  <a:lnTo>
                    <a:pt x="805656" y="4617"/>
                  </a:lnTo>
                  <a:lnTo>
                    <a:pt x="791737" y="0"/>
                  </a:lnTo>
                  <a:close/>
                </a:path>
              </a:pathLst>
            </a:custGeom>
            <a:solidFill>
              <a:srgbClr val="92B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0926" y="2843690"/>
              <a:ext cx="1066800" cy="1961514"/>
            </a:xfrm>
            <a:custGeom>
              <a:avLst/>
              <a:gdLst/>
              <a:ahLst/>
              <a:cxnLst/>
              <a:rect l="l" t="t" r="r" b="b"/>
              <a:pathLst>
                <a:path w="1066800" h="1961514">
                  <a:moveTo>
                    <a:pt x="776986" y="347"/>
                  </a:moveTo>
                  <a:lnTo>
                    <a:pt x="818384" y="13831"/>
                  </a:lnTo>
                  <a:lnTo>
                    <a:pt x="852276" y="71431"/>
                  </a:lnTo>
                  <a:lnTo>
                    <a:pt x="873887" y="116110"/>
                  </a:lnTo>
                  <a:lnTo>
                    <a:pt x="894392" y="161282"/>
                  </a:lnTo>
                  <a:lnTo>
                    <a:pt x="913782" y="206918"/>
                  </a:lnTo>
                  <a:lnTo>
                    <a:pt x="932051" y="252991"/>
                  </a:lnTo>
                  <a:lnTo>
                    <a:pt x="949191" y="299475"/>
                  </a:lnTo>
                  <a:lnTo>
                    <a:pt x="965196" y="346341"/>
                  </a:lnTo>
                  <a:lnTo>
                    <a:pt x="980060" y="393563"/>
                  </a:lnTo>
                  <a:lnTo>
                    <a:pt x="993774" y="441113"/>
                  </a:lnTo>
                  <a:lnTo>
                    <a:pt x="1006332" y="488963"/>
                  </a:lnTo>
                  <a:lnTo>
                    <a:pt x="1017727" y="537087"/>
                  </a:lnTo>
                  <a:lnTo>
                    <a:pt x="1027952" y="585457"/>
                  </a:lnTo>
                  <a:lnTo>
                    <a:pt x="1037000" y="634046"/>
                  </a:lnTo>
                  <a:lnTo>
                    <a:pt x="1044864" y="682826"/>
                  </a:lnTo>
                  <a:lnTo>
                    <a:pt x="1051538" y="731770"/>
                  </a:lnTo>
                  <a:lnTo>
                    <a:pt x="1057013" y="780850"/>
                  </a:lnTo>
                  <a:lnTo>
                    <a:pt x="1061284" y="830040"/>
                  </a:lnTo>
                  <a:lnTo>
                    <a:pt x="1064344" y="879312"/>
                  </a:lnTo>
                  <a:lnTo>
                    <a:pt x="1066184" y="928639"/>
                  </a:lnTo>
                  <a:lnTo>
                    <a:pt x="1066800" y="977993"/>
                  </a:lnTo>
                  <a:lnTo>
                    <a:pt x="1066184" y="1028669"/>
                  </a:lnTo>
                  <a:lnTo>
                    <a:pt x="1064344" y="1079186"/>
                  </a:lnTo>
                  <a:lnTo>
                    <a:pt x="1061284" y="1129522"/>
                  </a:lnTo>
                  <a:lnTo>
                    <a:pt x="1057013" y="1179659"/>
                  </a:lnTo>
                  <a:lnTo>
                    <a:pt x="1051538" y="1229574"/>
                  </a:lnTo>
                  <a:lnTo>
                    <a:pt x="1044864" y="1279248"/>
                  </a:lnTo>
                  <a:lnTo>
                    <a:pt x="1037000" y="1328659"/>
                  </a:lnTo>
                  <a:lnTo>
                    <a:pt x="1027952" y="1377789"/>
                  </a:lnTo>
                  <a:lnTo>
                    <a:pt x="1017727" y="1426615"/>
                  </a:lnTo>
                  <a:lnTo>
                    <a:pt x="1006332" y="1475118"/>
                  </a:lnTo>
                  <a:lnTo>
                    <a:pt x="993774" y="1523278"/>
                  </a:lnTo>
                  <a:lnTo>
                    <a:pt x="980060" y="1571073"/>
                  </a:lnTo>
                  <a:lnTo>
                    <a:pt x="965196" y="1618483"/>
                  </a:lnTo>
                  <a:lnTo>
                    <a:pt x="949191" y="1665488"/>
                  </a:lnTo>
                  <a:lnTo>
                    <a:pt x="932051" y="1712067"/>
                  </a:lnTo>
                  <a:lnTo>
                    <a:pt x="913782" y="1758199"/>
                  </a:lnTo>
                  <a:lnTo>
                    <a:pt x="894392" y="1803866"/>
                  </a:lnTo>
                  <a:lnTo>
                    <a:pt x="873887" y="1849044"/>
                  </a:lnTo>
                  <a:lnTo>
                    <a:pt x="852276" y="1893716"/>
                  </a:lnTo>
                  <a:lnTo>
                    <a:pt x="829563" y="1937859"/>
                  </a:lnTo>
                  <a:lnTo>
                    <a:pt x="796480" y="1960719"/>
                  </a:lnTo>
                  <a:lnTo>
                    <a:pt x="776950" y="1961005"/>
                  </a:lnTo>
                  <a:lnTo>
                    <a:pt x="756538" y="1956147"/>
                  </a:lnTo>
                  <a:lnTo>
                    <a:pt x="0" y="1516854"/>
                  </a:lnTo>
                  <a:lnTo>
                    <a:pt x="64769" y="1397093"/>
                  </a:lnTo>
                  <a:lnTo>
                    <a:pt x="82226" y="1353060"/>
                  </a:lnTo>
                  <a:lnTo>
                    <a:pt x="97817" y="1308114"/>
                  </a:lnTo>
                  <a:lnTo>
                    <a:pt x="111491" y="1262303"/>
                  </a:lnTo>
                  <a:lnTo>
                    <a:pt x="123200" y="1215674"/>
                  </a:lnTo>
                  <a:lnTo>
                    <a:pt x="132892" y="1168273"/>
                  </a:lnTo>
                  <a:lnTo>
                    <a:pt x="140518" y="1120148"/>
                  </a:lnTo>
                  <a:lnTo>
                    <a:pt x="146027" y="1071346"/>
                  </a:lnTo>
                  <a:lnTo>
                    <a:pt x="149369" y="1021913"/>
                  </a:lnTo>
                  <a:lnTo>
                    <a:pt x="150494" y="971897"/>
                  </a:lnTo>
                  <a:lnTo>
                    <a:pt x="149369" y="921914"/>
                  </a:lnTo>
                  <a:lnTo>
                    <a:pt x="146027" y="872499"/>
                  </a:lnTo>
                  <a:lnTo>
                    <a:pt x="140518" y="823702"/>
                  </a:lnTo>
                  <a:lnTo>
                    <a:pt x="132892" y="775573"/>
                  </a:lnTo>
                  <a:lnTo>
                    <a:pt x="123200" y="728161"/>
                  </a:lnTo>
                  <a:lnTo>
                    <a:pt x="111491" y="681518"/>
                  </a:lnTo>
                  <a:lnTo>
                    <a:pt x="97817" y="635694"/>
                  </a:lnTo>
                  <a:lnTo>
                    <a:pt x="82226" y="590738"/>
                  </a:lnTo>
                  <a:lnTo>
                    <a:pt x="64769" y="546701"/>
                  </a:lnTo>
                  <a:lnTo>
                    <a:pt x="8762" y="443323"/>
                  </a:lnTo>
                  <a:lnTo>
                    <a:pt x="756538" y="8983"/>
                  </a:lnTo>
                  <a:lnTo>
                    <a:pt x="763397" y="4411"/>
                  </a:lnTo>
                  <a:lnTo>
                    <a:pt x="770254" y="1617"/>
                  </a:lnTo>
                  <a:lnTo>
                    <a:pt x="776986" y="34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58751" y="1728851"/>
              <a:ext cx="1798320" cy="1552575"/>
            </a:xfrm>
            <a:custGeom>
              <a:avLst/>
              <a:gdLst/>
              <a:ahLst/>
              <a:cxnLst/>
              <a:rect l="l" t="t" r="r" b="b"/>
              <a:pathLst>
                <a:path w="1798320" h="1552575">
                  <a:moveTo>
                    <a:pt x="55239" y="0"/>
                  </a:moveTo>
                  <a:lnTo>
                    <a:pt x="29968" y="3266"/>
                  </a:lnTo>
                  <a:lnTo>
                    <a:pt x="10709" y="12509"/>
                  </a:lnTo>
                  <a:lnTo>
                    <a:pt x="0" y="26896"/>
                  </a:lnTo>
                  <a:lnTo>
                    <a:pt x="375" y="45593"/>
                  </a:lnTo>
                  <a:lnTo>
                    <a:pt x="44698" y="995807"/>
                  </a:lnTo>
                  <a:lnTo>
                    <a:pt x="103499" y="998854"/>
                  </a:lnTo>
                  <a:lnTo>
                    <a:pt x="155225" y="1005360"/>
                  </a:lnTo>
                  <a:lnTo>
                    <a:pt x="206170" y="1014249"/>
                  </a:lnTo>
                  <a:lnTo>
                    <a:pt x="256278" y="1025465"/>
                  </a:lnTo>
                  <a:lnTo>
                    <a:pt x="305488" y="1038949"/>
                  </a:lnTo>
                  <a:lnTo>
                    <a:pt x="353743" y="1054643"/>
                  </a:lnTo>
                  <a:lnTo>
                    <a:pt x="400985" y="1072490"/>
                  </a:lnTo>
                  <a:lnTo>
                    <a:pt x="447155" y="1092430"/>
                  </a:lnTo>
                  <a:lnTo>
                    <a:pt x="492195" y="1114407"/>
                  </a:lnTo>
                  <a:lnTo>
                    <a:pt x="536046" y="1138363"/>
                  </a:lnTo>
                  <a:lnTo>
                    <a:pt x="578650" y="1164238"/>
                  </a:lnTo>
                  <a:lnTo>
                    <a:pt x="619950" y="1191976"/>
                  </a:lnTo>
                  <a:lnTo>
                    <a:pt x="659885" y="1221518"/>
                  </a:lnTo>
                  <a:lnTo>
                    <a:pt x="698399" y="1252806"/>
                  </a:lnTo>
                  <a:lnTo>
                    <a:pt x="735433" y="1285783"/>
                  </a:lnTo>
                  <a:lnTo>
                    <a:pt x="770929" y="1320390"/>
                  </a:lnTo>
                  <a:lnTo>
                    <a:pt x="804827" y="1356569"/>
                  </a:lnTo>
                  <a:lnTo>
                    <a:pt x="837071" y="1394263"/>
                  </a:lnTo>
                  <a:lnTo>
                    <a:pt x="867601" y="1433413"/>
                  </a:lnTo>
                  <a:lnTo>
                    <a:pt x="896360" y="1473962"/>
                  </a:lnTo>
                  <a:lnTo>
                    <a:pt x="943985" y="1552575"/>
                  </a:lnTo>
                  <a:lnTo>
                    <a:pt x="1771136" y="1076833"/>
                  </a:lnTo>
                  <a:lnTo>
                    <a:pt x="1788120" y="1061547"/>
                  </a:lnTo>
                  <a:lnTo>
                    <a:pt x="1797377" y="1043701"/>
                  </a:lnTo>
                  <a:lnTo>
                    <a:pt x="1798085" y="1024165"/>
                  </a:lnTo>
                  <a:lnTo>
                    <a:pt x="1789424" y="1003808"/>
                  </a:lnTo>
                  <a:lnTo>
                    <a:pt x="1762841" y="961148"/>
                  </a:lnTo>
                  <a:lnTo>
                    <a:pt x="1735285" y="919246"/>
                  </a:lnTo>
                  <a:lnTo>
                    <a:pt x="1706771" y="878115"/>
                  </a:lnTo>
                  <a:lnTo>
                    <a:pt x="1677319" y="837765"/>
                  </a:lnTo>
                  <a:lnTo>
                    <a:pt x="1646946" y="798209"/>
                  </a:lnTo>
                  <a:lnTo>
                    <a:pt x="1615668" y="759458"/>
                  </a:lnTo>
                  <a:lnTo>
                    <a:pt x="1583505" y="721524"/>
                  </a:lnTo>
                  <a:lnTo>
                    <a:pt x="1550473" y="684419"/>
                  </a:lnTo>
                  <a:lnTo>
                    <a:pt x="1516590" y="648155"/>
                  </a:lnTo>
                  <a:lnTo>
                    <a:pt x="1481873" y="612742"/>
                  </a:lnTo>
                  <a:lnTo>
                    <a:pt x="1446341" y="578194"/>
                  </a:lnTo>
                  <a:lnTo>
                    <a:pt x="1410011" y="544522"/>
                  </a:lnTo>
                  <a:lnTo>
                    <a:pt x="1372901" y="511738"/>
                  </a:lnTo>
                  <a:lnTo>
                    <a:pt x="1335027" y="479853"/>
                  </a:lnTo>
                  <a:lnTo>
                    <a:pt x="1296408" y="448879"/>
                  </a:lnTo>
                  <a:lnTo>
                    <a:pt x="1257061" y="418828"/>
                  </a:lnTo>
                  <a:lnTo>
                    <a:pt x="1217005" y="389711"/>
                  </a:lnTo>
                  <a:lnTo>
                    <a:pt x="1176256" y="361541"/>
                  </a:lnTo>
                  <a:lnTo>
                    <a:pt x="1134832" y="334330"/>
                  </a:lnTo>
                  <a:lnTo>
                    <a:pt x="1092750" y="308088"/>
                  </a:lnTo>
                  <a:lnTo>
                    <a:pt x="1006707" y="257377"/>
                  </a:lnTo>
                  <a:lnTo>
                    <a:pt x="962792" y="233160"/>
                  </a:lnTo>
                  <a:lnTo>
                    <a:pt x="918314" y="210172"/>
                  </a:lnTo>
                  <a:lnTo>
                    <a:pt x="873302" y="188407"/>
                  </a:lnTo>
                  <a:lnTo>
                    <a:pt x="827788" y="167860"/>
                  </a:lnTo>
                  <a:lnTo>
                    <a:pt x="781799" y="148525"/>
                  </a:lnTo>
                  <a:lnTo>
                    <a:pt x="735366" y="130396"/>
                  </a:lnTo>
                  <a:lnTo>
                    <a:pt x="688518" y="113467"/>
                  </a:lnTo>
                  <a:lnTo>
                    <a:pt x="641285" y="97732"/>
                  </a:lnTo>
                  <a:lnTo>
                    <a:pt x="593697" y="83187"/>
                  </a:lnTo>
                  <a:lnTo>
                    <a:pt x="545783" y="69825"/>
                  </a:lnTo>
                  <a:lnTo>
                    <a:pt x="497573" y="57639"/>
                  </a:lnTo>
                  <a:lnTo>
                    <a:pt x="449096" y="46626"/>
                  </a:lnTo>
                  <a:lnTo>
                    <a:pt x="400382" y="36778"/>
                  </a:lnTo>
                  <a:lnTo>
                    <a:pt x="351461" y="28090"/>
                  </a:lnTo>
                  <a:lnTo>
                    <a:pt x="302362" y="20556"/>
                  </a:lnTo>
                  <a:lnTo>
                    <a:pt x="253115" y="14171"/>
                  </a:lnTo>
                  <a:lnTo>
                    <a:pt x="203750" y="8928"/>
                  </a:lnTo>
                  <a:lnTo>
                    <a:pt x="154295" y="4823"/>
                  </a:lnTo>
                  <a:lnTo>
                    <a:pt x="104782" y="1848"/>
                  </a:lnTo>
                  <a:lnTo>
                    <a:pt x="55239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58751" y="1728851"/>
              <a:ext cx="1798320" cy="1552575"/>
            </a:xfrm>
            <a:custGeom>
              <a:avLst/>
              <a:gdLst/>
              <a:ahLst/>
              <a:cxnLst/>
              <a:rect l="l" t="t" r="r" b="b"/>
              <a:pathLst>
                <a:path w="1798320" h="1552575">
                  <a:moveTo>
                    <a:pt x="55239" y="0"/>
                  </a:moveTo>
                  <a:lnTo>
                    <a:pt x="104782" y="1848"/>
                  </a:lnTo>
                  <a:lnTo>
                    <a:pt x="154295" y="4823"/>
                  </a:lnTo>
                  <a:lnTo>
                    <a:pt x="203750" y="8928"/>
                  </a:lnTo>
                  <a:lnTo>
                    <a:pt x="253115" y="14171"/>
                  </a:lnTo>
                  <a:lnTo>
                    <a:pt x="302362" y="20556"/>
                  </a:lnTo>
                  <a:lnTo>
                    <a:pt x="351461" y="28090"/>
                  </a:lnTo>
                  <a:lnTo>
                    <a:pt x="400382" y="36778"/>
                  </a:lnTo>
                  <a:lnTo>
                    <a:pt x="449096" y="46626"/>
                  </a:lnTo>
                  <a:lnTo>
                    <a:pt x="497573" y="57639"/>
                  </a:lnTo>
                  <a:lnTo>
                    <a:pt x="545783" y="69825"/>
                  </a:lnTo>
                  <a:lnTo>
                    <a:pt x="593697" y="83187"/>
                  </a:lnTo>
                  <a:lnTo>
                    <a:pt x="641285" y="97732"/>
                  </a:lnTo>
                  <a:lnTo>
                    <a:pt x="688518" y="113467"/>
                  </a:lnTo>
                  <a:lnTo>
                    <a:pt x="735366" y="130396"/>
                  </a:lnTo>
                  <a:lnTo>
                    <a:pt x="781799" y="148525"/>
                  </a:lnTo>
                  <a:lnTo>
                    <a:pt x="827788" y="167860"/>
                  </a:lnTo>
                  <a:lnTo>
                    <a:pt x="873302" y="188407"/>
                  </a:lnTo>
                  <a:lnTo>
                    <a:pt x="918314" y="210172"/>
                  </a:lnTo>
                  <a:lnTo>
                    <a:pt x="962792" y="233160"/>
                  </a:lnTo>
                  <a:lnTo>
                    <a:pt x="1006707" y="257377"/>
                  </a:lnTo>
                  <a:lnTo>
                    <a:pt x="1050030" y="282828"/>
                  </a:lnTo>
                  <a:lnTo>
                    <a:pt x="1092750" y="308088"/>
                  </a:lnTo>
                  <a:lnTo>
                    <a:pt x="1134832" y="334330"/>
                  </a:lnTo>
                  <a:lnTo>
                    <a:pt x="1176256" y="361541"/>
                  </a:lnTo>
                  <a:lnTo>
                    <a:pt x="1217005" y="389711"/>
                  </a:lnTo>
                  <a:lnTo>
                    <a:pt x="1257061" y="418828"/>
                  </a:lnTo>
                  <a:lnTo>
                    <a:pt x="1296408" y="448879"/>
                  </a:lnTo>
                  <a:lnTo>
                    <a:pt x="1335027" y="479853"/>
                  </a:lnTo>
                  <a:lnTo>
                    <a:pt x="1372901" y="511738"/>
                  </a:lnTo>
                  <a:lnTo>
                    <a:pt x="1410011" y="544522"/>
                  </a:lnTo>
                  <a:lnTo>
                    <a:pt x="1446341" y="578194"/>
                  </a:lnTo>
                  <a:lnTo>
                    <a:pt x="1481873" y="612742"/>
                  </a:lnTo>
                  <a:lnTo>
                    <a:pt x="1516590" y="648155"/>
                  </a:lnTo>
                  <a:lnTo>
                    <a:pt x="1550473" y="684419"/>
                  </a:lnTo>
                  <a:lnTo>
                    <a:pt x="1583505" y="721524"/>
                  </a:lnTo>
                  <a:lnTo>
                    <a:pt x="1615668" y="759458"/>
                  </a:lnTo>
                  <a:lnTo>
                    <a:pt x="1646946" y="798209"/>
                  </a:lnTo>
                  <a:lnTo>
                    <a:pt x="1677319" y="837765"/>
                  </a:lnTo>
                  <a:lnTo>
                    <a:pt x="1706771" y="878115"/>
                  </a:lnTo>
                  <a:lnTo>
                    <a:pt x="1735285" y="919246"/>
                  </a:lnTo>
                  <a:lnTo>
                    <a:pt x="1762841" y="961148"/>
                  </a:lnTo>
                  <a:lnTo>
                    <a:pt x="1789424" y="1003808"/>
                  </a:lnTo>
                  <a:lnTo>
                    <a:pt x="1798085" y="1024165"/>
                  </a:lnTo>
                  <a:lnTo>
                    <a:pt x="1797377" y="1043701"/>
                  </a:lnTo>
                  <a:lnTo>
                    <a:pt x="1788120" y="1061547"/>
                  </a:lnTo>
                  <a:lnTo>
                    <a:pt x="1771136" y="1076833"/>
                  </a:lnTo>
                  <a:lnTo>
                    <a:pt x="943985" y="1552575"/>
                  </a:lnTo>
                  <a:lnTo>
                    <a:pt x="896360" y="1473962"/>
                  </a:lnTo>
                  <a:lnTo>
                    <a:pt x="867601" y="1433413"/>
                  </a:lnTo>
                  <a:lnTo>
                    <a:pt x="837071" y="1394263"/>
                  </a:lnTo>
                  <a:lnTo>
                    <a:pt x="804827" y="1356569"/>
                  </a:lnTo>
                  <a:lnTo>
                    <a:pt x="770929" y="1320390"/>
                  </a:lnTo>
                  <a:lnTo>
                    <a:pt x="735433" y="1285783"/>
                  </a:lnTo>
                  <a:lnTo>
                    <a:pt x="698399" y="1252806"/>
                  </a:lnTo>
                  <a:lnTo>
                    <a:pt x="659885" y="1221518"/>
                  </a:lnTo>
                  <a:lnTo>
                    <a:pt x="619950" y="1191976"/>
                  </a:lnTo>
                  <a:lnTo>
                    <a:pt x="578650" y="1164238"/>
                  </a:lnTo>
                  <a:lnTo>
                    <a:pt x="536046" y="1138363"/>
                  </a:lnTo>
                  <a:lnTo>
                    <a:pt x="492195" y="1114407"/>
                  </a:lnTo>
                  <a:lnTo>
                    <a:pt x="447155" y="1092430"/>
                  </a:lnTo>
                  <a:lnTo>
                    <a:pt x="400985" y="1072490"/>
                  </a:lnTo>
                  <a:lnTo>
                    <a:pt x="353743" y="1054643"/>
                  </a:lnTo>
                  <a:lnTo>
                    <a:pt x="305488" y="1038949"/>
                  </a:lnTo>
                  <a:lnTo>
                    <a:pt x="256278" y="1025465"/>
                  </a:lnTo>
                  <a:lnTo>
                    <a:pt x="206170" y="1014249"/>
                  </a:lnTo>
                  <a:lnTo>
                    <a:pt x="155225" y="1005360"/>
                  </a:lnTo>
                  <a:lnTo>
                    <a:pt x="103499" y="998854"/>
                  </a:lnTo>
                  <a:lnTo>
                    <a:pt x="44698" y="995807"/>
                  </a:lnTo>
                  <a:lnTo>
                    <a:pt x="375" y="45593"/>
                  </a:lnTo>
                  <a:lnTo>
                    <a:pt x="0" y="26896"/>
                  </a:lnTo>
                  <a:lnTo>
                    <a:pt x="10709" y="12509"/>
                  </a:lnTo>
                  <a:lnTo>
                    <a:pt x="29968" y="3266"/>
                  </a:lnTo>
                  <a:lnTo>
                    <a:pt x="55239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2525" y="2819400"/>
              <a:ext cx="2000250" cy="2000250"/>
            </a:xfrm>
            <a:custGeom>
              <a:avLst/>
              <a:gdLst/>
              <a:ahLst/>
              <a:cxnLst/>
              <a:rect l="l" t="t" r="r" b="b"/>
              <a:pathLst>
                <a:path w="2000250" h="2000250">
                  <a:moveTo>
                    <a:pt x="1022985" y="0"/>
                  </a:moveTo>
                  <a:lnTo>
                    <a:pt x="986408" y="0"/>
                  </a:lnTo>
                  <a:lnTo>
                    <a:pt x="986408" y="27432"/>
                  </a:lnTo>
                  <a:lnTo>
                    <a:pt x="1022985" y="27432"/>
                  </a:lnTo>
                  <a:lnTo>
                    <a:pt x="1022985" y="0"/>
                  </a:lnTo>
                  <a:close/>
                </a:path>
                <a:path w="2000250" h="2000250">
                  <a:moveTo>
                    <a:pt x="940816" y="0"/>
                  </a:moveTo>
                  <a:lnTo>
                    <a:pt x="932529" y="142"/>
                  </a:lnTo>
                  <a:lnTo>
                    <a:pt x="922527" y="1143"/>
                  </a:lnTo>
                  <a:lnTo>
                    <a:pt x="912526" y="3857"/>
                  </a:lnTo>
                  <a:lnTo>
                    <a:pt x="904239" y="9144"/>
                  </a:lnTo>
                  <a:lnTo>
                    <a:pt x="904239" y="27432"/>
                  </a:lnTo>
                  <a:lnTo>
                    <a:pt x="940816" y="27432"/>
                  </a:lnTo>
                  <a:lnTo>
                    <a:pt x="940816" y="0"/>
                  </a:lnTo>
                  <a:close/>
                </a:path>
                <a:path w="2000250" h="2000250">
                  <a:moveTo>
                    <a:pt x="1059433" y="0"/>
                  </a:moveTo>
                  <a:lnTo>
                    <a:pt x="1059433" y="27432"/>
                  </a:lnTo>
                  <a:lnTo>
                    <a:pt x="1096010" y="27432"/>
                  </a:lnTo>
                  <a:lnTo>
                    <a:pt x="1096010" y="9144"/>
                  </a:lnTo>
                  <a:lnTo>
                    <a:pt x="1089009" y="3857"/>
                  </a:lnTo>
                  <a:lnTo>
                    <a:pt x="1081151" y="1143"/>
                  </a:lnTo>
                  <a:lnTo>
                    <a:pt x="1071578" y="142"/>
                  </a:lnTo>
                  <a:lnTo>
                    <a:pt x="1059433" y="0"/>
                  </a:lnTo>
                  <a:close/>
                </a:path>
                <a:path w="2000250" h="2000250">
                  <a:moveTo>
                    <a:pt x="867663" y="9144"/>
                  </a:moveTo>
                  <a:lnTo>
                    <a:pt x="855378" y="9286"/>
                  </a:lnTo>
                  <a:lnTo>
                    <a:pt x="844819" y="10287"/>
                  </a:lnTo>
                  <a:lnTo>
                    <a:pt x="834284" y="13001"/>
                  </a:lnTo>
                  <a:lnTo>
                    <a:pt x="822070" y="18287"/>
                  </a:lnTo>
                  <a:lnTo>
                    <a:pt x="831214" y="36575"/>
                  </a:lnTo>
                  <a:lnTo>
                    <a:pt x="867663" y="36575"/>
                  </a:lnTo>
                  <a:lnTo>
                    <a:pt x="867663" y="9144"/>
                  </a:lnTo>
                  <a:close/>
                </a:path>
                <a:path w="2000250" h="2000250">
                  <a:moveTo>
                    <a:pt x="1141730" y="9144"/>
                  </a:moveTo>
                  <a:lnTo>
                    <a:pt x="1132586" y="36575"/>
                  </a:lnTo>
                  <a:lnTo>
                    <a:pt x="1178179" y="36575"/>
                  </a:lnTo>
                  <a:lnTo>
                    <a:pt x="1178179" y="18287"/>
                  </a:lnTo>
                  <a:lnTo>
                    <a:pt x="1169912" y="13001"/>
                  </a:lnTo>
                  <a:lnTo>
                    <a:pt x="1159954" y="10287"/>
                  </a:lnTo>
                  <a:lnTo>
                    <a:pt x="1149996" y="9286"/>
                  </a:lnTo>
                  <a:lnTo>
                    <a:pt x="1141730" y="9144"/>
                  </a:lnTo>
                  <a:close/>
                </a:path>
                <a:path w="2000250" h="2000250">
                  <a:moveTo>
                    <a:pt x="785494" y="27432"/>
                  </a:moveTo>
                  <a:lnTo>
                    <a:pt x="777208" y="27574"/>
                  </a:lnTo>
                  <a:lnTo>
                    <a:pt x="767207" y="28575"/>
                  </a:lnTo>
                  <a:lnTo>
                    <a:pt x="757205" y="31289"/>
                  </a:lnTo>
                  <a:lnTo>
                    <a:pt x="748919" y="36575"/>
                  </a:lnTo>
                  <a:lnTo>
                    <a:pt x="757991" y="54721"/>
                  </a:lnTo>
                  <a:lnTo>
                    <a:pt x="758063" y="54863"/>
                  </a:lnTo>
                  <a:lnTo>
                    <a:pt x="765063" y="54721"/>
                  </a:lnTo>
                  <a:lnTo>
                    <a:pt x="772921" y="53721"/>
                  </a:lnTo>
                  <a:lnTo>
                    <a:pt x="782494" y="51006"/>
                  </a:lnTo>
                  <a:lnTo>
                    <a:pt x="794638" y="45720"/>
                  </a:lnTo>
                  <a:lnTo>
                    <a:pt x="785566" y="27574"/>
                  </a:lnTo>
                  <a:lnTo>
                    <a:pt x="785494" y="27432"/>
                  </a:lnTo>
                  <a:close/>
                </a:path>
                <a:path w="2000250" h="2000250">
                  <a:moveTo>
                    <a:pt x="1214755" y="27432"/>
                  </a:moveTo>
                  <a:lnTo>
                    <a:pt x="1214755" y="45720"/>
                  </a:lnTo>
                  <a:lnTo>
                    <a:pt x="1221755" y="51006"/>
                  </a:lnTo>
                  <a:lnTo>
                    <a:pt x="1229614" y="53720"/>
                  </a:lnTo>
                  <a:lnTo>
                    <a:pt x="1239186" y="54721"/>
                  </a:lnTo>
                  <a:lnTo>
                    <a:pt x="1251331" y="54863"/>
                  </a:lnTo>
                  <a:lnTo>
                    <a:pt x="1251331" y="36575"/>
                  </a:lnTo>
                  <a:lnTo>
                    <a:pt x="1244330" y="31289"/>
                  </a:lnTo>
                  <a:lnTo>
                    <a:pt x="1236472" y="28575"/>
                  </a:lnTo>
                  <a:lnTo>
                    <a:pt x="1226899" y="27574"/>
                  </a:lnTo>
                  <a:lnTo>
                    <a:pt x="1214755" y="27432"/>
                  </a:lnTo>
                  <a:close/>
                </a:path>
                <a:path w="2000250" h="2000250">
                  <a:moveTo>
                    <a:pt x="712469" y="45720"/>
                  </a:moveTo>
                  <a:lnTo>
                    <a:pt x="700325" y="47148"/>
                  </a:lnTo>
                  <a:lnTo>
                    <a:pt x="690753" y="50291"/>
                  </a:lnTo>
                  <a:lnTo>
                    <a:pt x="682894" y="53435"/>
                  </a:lnTo>
                  <a:lnTo>
                    <a:pt x="675894" y="54863"/>
                  </a:lnTo>
                  <a:lnTo>
                    <a:pt x="685038" y="82169"/>
                  </a:lnTo>
                  <a:lnTo>
                    <a:pt x="692038" y="76739"/>
                  </a:lnTo>
                  <a:lnTo>
                    <a:pt x="699896" y="73025"/>
                  </a:lnTo>
                  <a:lnTo>
                    <a:pt x="709469" y="69310"/>
                  </a:lnTo>
                  <a:lnTo>
                    <a:pt x="721613" y="63880"/>
                  </a:lnTo>
                  <a:lnTo>
                    <a:pt x="712469" y="45720"/>
                  </a:lnTo>
                  <a:close/>
                </a:path>
                <a:path w="2000250" h="2000250">
                  <a:moveTo>
                    <a:pt x="1296924" y="45720"/>
                  </a:moveTo>
                  <a:lnTo>
                    <a:pt x="1287780" y="63880"/>
                  </a:lnTo>
                  <a:lnTo>
                    <a:pt x="1294780" y="69310"/>
                  </a:lnTo>
                  <a:lnTo>
                    <a:pt x="1302639" y="73025"/>
                  </a:lnTo>
                  <a:lnTo>
                    <a:pt x="1312211" y="76739"/>
                  </a:lnTo>
                  <a:lnTo>
                    <a:pt x="1324356" y="82169"/>
                  </a:lnTo>
                  <a:lnTo>
                    <a:pt x="1333500" y="54863"/>
                  </a:lnTo>
                  <a:lnTo>
                    <a:pt x="1321355" y="53435"/>
                  </a:lnTo>
                  <a:lnTo>
                    <a:pt x="1311783" y="50292"/>
                  </a:lnTo>
                  <a:lnTo>
                    <a:pt x="1303924" y="47148"/>
                  </a:lnTo>
                  <a:lnTo>
                    <a:pt x="1296924" y="45720"/>
                  </a:lnTo>
                  <a:close/>
                </a:path>
                <a:path w="2000250" h="2000250">
                  <a:moveTo>
                    <a:pt x="639318" y="73025"/>
                  </a:moveTo>
                  <a:lnTo>
                    <a:pt x="627175" y="74453"/>
                  </a:lnTo>
                  <a:lnTo>
                    <a:pt x="617616" y="77597"/>
                  </a:lnTo>
                  <a:lnTo>
                    <a:pt x="609796" y="80740"/>
                  </a:lnTo>
                  <a:lnTo>
                    <a:pt x="602869" y="82169"/>
                  </a:lnTo>
                  <a:lnTo>
                    <a:pt x="611886" y="109600"/>
                  </a:lnTo>
                  <a:lnTo>
                    <a:pt x="618886" y="104171"/>
                  </a:lnTo>
                  <a:lnTo>
                    <a:pt x="626744" y="100457"/>
                  </a:lnTo>
                  <a:lnTo>
                    <a:pt x="636317" y="96742"/>
                  </a:lnTo>
                  <a:lnTo>
                    <a:pt x="648462" y="91312"/>
                  </a:lnTo>
                  <a:lnTo>
                    <a:pt x="639318" y="73025"/>
                  </a:lnTo>
                  <a:close/>
                </a:path>
                <a:path w="2000250" h="2000250">
                  <a:moveTo>
                    <a:pt x="1370076" y="73025"/>
                  </a:moveTo>
                  <a:lnTo>
                    <a:pt x="1360932" y="91312"/>
                  </a:lnTo>
                  <a:lnTo>
                    <a:pt x="1367930" y="96742"/>
                  </a:lnTo>
                  <a:lnTo>
                    <a:pt x="1375775" y="100456"/>
                  </a:lnTo>
                  <a:lnTo>
                    <a:pt x="1385310" y="104171"/>
                  </a:lnTo>
                  <a:lnTo>
                    <a:pt x="1397381" y="109600"/>
                  </a:lnTo>
                  <a:lnTo>
                    <a:pt x="1406525" y="82169"/>
                  </a:lnTo>
                  <a:lnTo>
                    <a:pt x="1394454" y="80740"/>
                  </a:lnTo>
                  <a:lnTo>
                    <a:pt x="1384919" y="77597"/>
                  </a:lnTo>
                  <a:lnTo>
                    <a:pt x="1377074" y="74453"/>
                  </a:lnTo>
                  <a:lnTo>
                    <a:pt x="1370076" y="73025"/>
                  </a:lnTo>
                  <a:close/>
                </a:path>
                <a:path w="2000250" h="2000250">
                  <a:moveTo>
                    <a:pt x="566293" y="100457"/>
                  </a:moveTo>
                  <a:lnTo>
                    <a:pt x="558006" y="105886"/>
                  </a:lnTo>
                  <a:lnTo>
                    <a:pt x="538003" y="113315"/>
                  </a:lnTo>
                  <a:lnTo>
                    <a:pt x="529717" y="118745"/>
                  </a:lnTo>
                  <a:lnTo>
                    <a:pt x="538861" y="137033"/>
                  </a:lnTo>
                  <a:lnTo>
                    <a:pt x="551005" y="135461"/>
                  </a:lnTo>
                  <a:lnTo>
                    <a:pt x="560577" y="131318"/>
                  </a:lnTo>
                  <a:lnTo>
                    <a:pt x="568436" y="125460"/>
                  </a:lnTo>
                  <a:lnTo>
                    <a:pt x="575437" y="118745"/>
                  </a:lnTo>
                  <a:lnTo>
                    <a:pt x="566293" y="100457"/>
                  </a:lnTo>
                  <a:close/>
                </a:path>
                <a:path w="2000250" h="2000250">
                  <a:moveTo>
                    <a:pt x="1443101" y="100457"/>
                  </a:moveTo>
                  <a:lnTo>
                    <a:pt x="1424813" y="118745"/>
                  </a:lnTo>
                  <a:lnTo>
                    <a:pt x="1436957" y="125460"/>
                  </a:lnTo>
                  <a:lnTo>
                    <a:pt x="1446529" y="131317"/>
                  </a:lnTo>
                  <a:lnTo>
                    <a:pt x="1454388" y="135461"/>
                  </a:lnTo>
                  <a:lnTo>
                    <a:pt x="1461389" y="137033"/>
                  </a:lnTo>
                  <a:lnTo>
                    <a:pt x="1470533" y="118745"/>
                  </a:lnTo>
                  <a:lnTo>
                    <a:pt x="1463674" y="113315"/>
                  </a:lnTo>
                  <a:lnTo>
                    <a:pt x="1449958" y="105886"/>
                  </a:lnTo>
                  <a:lnTo>
                    <a:pt x="1443101" y="100457"/>
                  </a:lnTo>
                  <a:close/>
                </a:path>
                <a:path w="2000250" h="2000250">
                  <a:moveTo>
                    <a:pt x="493268" y="137033"/>
                  </a:moveTo>
                  <a:lnTo>
                    <a:pt x="486409" y="143748"/>
                  </a:lnTo>
                  <a:lnTo>
                    <a:pt x="479551" y="149605"/>
                  </a:lnTo>
                  <a:lnTo>
                    <a:pt x="472694" y="153749"/>
                  </a:lnTo>
                  <a:lnTo>
                    <a:pt x="465836" y="155321"/>
                  </a:lnTo>
                  <a:lnTo>
                    <a:pt x="474980" y="182625"/>
                  </a:lnTo>
                  <a:lnTo>
                    <a:pt x="481978" y="175787"/>
                  </a:lnTo>
                  <a:lnTo>
                    <a:pt x="489823" y="168973"/>
                  </a:lnTo>
                  <a:lnTo>
                    <a:pt x="499358" y="162159"/>
                  </a:lnTo>
                  <a:lnTo>
                    <a:pt x="511429" y="155321"/>
                  </a:lnTo>
                  <a:lnTo>
                    <a:pt x="493268" y="137033"/>
                  </a:lnTo>
                  <a:close/>
                </a:path>
                <a:path w="2000250" h="2000250">
                  <a:moveTo>
                    <a:pt x="1506982" y="137033"/>
                  </a:moveTo>
                  <a:lnTo>
                    <a:pt x="1497964" y="155321"/>
                  </a:lnTo>
                  <a:lnTo>
                    <a:pt x="1504749" y="162159"/>
                  </a:lnTo>
                  <a:lnTo>
                    <a:pt x="1525270" y="182625"/>
                  </a:lnTo>
                  <a:lnTo>
                    <a:pt x="1543558" y="155321"/>
                  </a:lnTo>
                  <a:lnTo>
                    <a:pt x="1535271" y="153749"/>
                  </a:lnTo>
                  <a:lnTo>
                    <a:pt x="1525270" y="149606"/>
                  </a:lnTo>
                  <a:lnTo>
                    <a:pt x="1515268" y="143748"/>
                  </a:lnTo>
                  <a:lnTo>
                    <a:pt x="1506982" y="137033"/>
                  </a:lnTo>
                  <a:close/>
                </a:path>
                <a:path w="2000250" h="2000250">
                  <a:moveTo>
                    <a:pt x="1570989" y="182625"/>
                  </a:moveTo>
                  <a:lnTo>
                    <a:pt x="1561845" y="200913"/>
                  </a:lnTo>
                  <a:lnTo>
                    <a:pt x="1568704" y="207629"/>
                  </a:lnTo>
                  <a:lnTo>
                    <a:pt x="1575562" y="213487"/>
                  </a:lnTo>
                  <a:lnTo>
                    <a:pt x="1582420" y="217630"/>
                  </a:lnTo>
                  <a:lnTo>
                    <a:pt x="1589277" y="219201"/>
                  </a:lnTo>
                  <a:lnTo>
                    <a:pt x="1607566" y="200913"/>
                  </a:lnTo>
                  <a:lnTo>
                    <a:pt x="1600565" y="195484"/>
                  </a:lnTo>
                  <a:lnTo>
                    <a:pt x="1592707" y="191770"/>
                  </a:lnTo>
                  <a:lnTo>
                    <a:pt x="1583134" y="188055"/>
                  </a:lnTo>
                  <a:lnTo>
                    <a:pt x="1570989" y="182625"/>
                  </a:lnTo>
                  <a:close/>
                </a:path>
                <a:path w="2000250" h="2000250">
                  <a:moveTo>
                    <a:pt x="429259" y="182625"/>
                  </a:moveTo>
                  <a:lnTo>
                    <a:pt x="422259" y="188055"/>
                  </a:lnTo>
                  <a:lnTo>
                    <a:pt x="414400" y="191769"/>
                  </a:lnTo>
                  <a:lnTo>
                    <a:pt x="404828" y="195484"/>
                  </a:lnTo>
                  <a:lnTo>
                    <a:pt x="392684" y="200913"/>
                  </a:lnTo>
                  <a:lnTo>
                    <a:pt x="410972" y="219201"/>
                  </a:lnTo>
                  <a:lnTo>
                    <a:pt x="417972" y="217630"/>
                  </a:lnTo>
                  <a:lnTo>
                    <a:pt x="425831" y="213487"/>
                  </a:lnTo>
                  <a:lnTo>
                    <a:pt x="435403" y="207629"/>
                  </a:lnTo>
                  <a:lnTo>
                    <a:pt x="447547" y="200913"/>
                  </a:lnTo>
                  <a:lnTo>
                    <a:pt x="429259" y="182625"/>
                  </a:lnTo>
                  <a:close/>
                </a:path>
                <a:path w="2000250" h="2000250">
                  <a:moveTo>
                    <a:pt x="1634870" y="228346"/>
                  </a:moveTo>
                  <a:lnTo>
                    <a:pt x="1625727" y="246634"/>
                  </a:lnTo>
                  <a:lnTo>
                    <a:pt x="1653158" y="274065"/>
                  </a:lnTo>
                  <a:lnTo>
                    <a:pt x="1671447" y="255777"/>
                  </a:lnTo>
                  <a:lnTo>
                    <a:pt x="1663160" y="248920"/>
                  </a:lnTo>
                  <a:lnTo>
                    <a:pt x="1643157" y="235203"/>
                  </a:lnTo>
                  <a:lnTo>
                    <a:pt x="1634870" y="228346"/>
                  </a:lnTo>
                  <a:close/>
                </a:path>
                <a:path w="2000250" h="2000250">
                  <a:moveTo>
                    <a:pt x="365378" y="228346"/>
                  </a:moveTo>
                  <a:lnTo>
                    <a:pt x="337947" y="255777"/>
                  </a:lnTo>
                  <a:lnTo>
                    <a:pt x="356234" y="274065"/>
                  </a:lnTo>
                  <a:lnTo>
                    <a:pt x="383666" y="246634"/>
                  </a:lnTo>
                  <a:lnTo>
                    <a:pt x="365378" y="228346"/>
                  </a:lnTo>
                  <a:close/>
                </a:path>
                <a:path w="2000250" h="2000250">
                  <a:moveTo>
                    <a:pt x="1698879" y="283083"/>
                  </a:moveTo>
                  <a:lnTo>
                    <a:pt x="1680591" y="301371"/>
                  </a:lnTo>
                  <a:lnTo>
                    <a:pt x="1708023" y="328802"/>
                  </a:lnTo>
                  <a:lnTo>
                    <a:pt x="1726183" y="310514"/>
                  </a:lnTo>
                  <a:lnTo>
                    <a:pt x="1698879" y="283083"/>
                  </a:lnTo>
                  <a:close/>
                </a:path>
                <a:path w="2000250" h="2000250">
                  <a:moveTo>
                    <a:pt x="310515" y="283083"/>
                  </a:moveTo>
                  <a:lnTo>
                    <a:pt x="283083" y="310514"/>
                  </a:lnTo>
                  <a:lnTo>
                    <a:pt x="301371" y="328802"/>
                  </a:lnTo>
                  <a:lnTo>
                    <a:pt x="328803" y="301371"/>
                  </a:lnTo>
                  <a:lnTo>
                    <a:pt x="310515" y="283083"/>
                  </a:lnTo>
                  <a:close/>
                </a:path>
                <a:path w="2000250" h="2000250">
                  <a:moveTo>
                    <a:pt x="1753616" y="337947"/>
                  </a:moveTo>
                  <a:lnTo>
                    <a:pt x="1735327" y="356235"/>
                  </a:lnTo>
                  <a:lnTo>
                    <a:pt x="1742043" y="363092"/>
                  </a:lnTo>
                  <a:lnTo>
                    <a:pt x="1747901" y="369950"/>
                  </a:lnTo>
                  <a:lnTo>
                    <a:pt x="1752044" y="376809"/>
                  </a:lnTo>
                  <a:lnTo>
                    <a:pt x="1753616" y="383666"/>
                  </a:lnTo>
                  <a:lnTo>
                    <a:pt x="1781048" y="365378"/>
                  </a:lnTo>
                  <a:lnTo>
                    <a:pt x="1753616" y="337947"/>
                  </a:lnTo>
                  <a:close/>
                </a:path>
                <a:path w="2000250" h="2000250">
                  <a:moveTo>
                    <a:pt x="255778" y="337947"/>
                  </a:moveTo>
                  <a:lnTo>
                    <a:pt x="228346" y="365378"/>
                  </a:lnTo>
                  <a:lnTo>
                    <a:pt x="246634" y="383666"/>
                  </a:lnTo>
                  <a:lnTo>
                    <a:pt x="274066" y="356235"/>
                  </a:lnTo>
                  <a:lnTo>
                    <a:pt x="255778" y="337947"/>
                  </a:lnTo>
                  <a:close/>
                </a:path>
                <a:path w="2000250" h="2000250">
                  <a:moveTo>
                    <a:pt x="1799336" y="392684"/>
                  </a:moveTo>
                  <a:lnTo>
                    <a:pt x="1781048" y="410972"/>
                  </a:lnTo>
                  <a:lnTo>
                    <a:pt x="1787763" y="417972"/>
                  </a:lnTo>
                  <a:lnTo>
                    <a:pt x="1793621" y="425830"/>
                  </a:lnTo>
                  <a:lnTo>
                    <a:pt x="1797764" y="435403"/>
                  </a:lnTo>
                  <a:lnTo>
                    <a:pt x="1799336" y="447548"/>
                  </a:lnTo>
                  <a:lnTo>
                    <a:pt x="1826768" y="429260"/>
                  </a:lnTo>
                  <a:lnTo>
                    <a:pt x="1819909" y="422259"/>
                  </a:lnTo>
                  <a:lnTo>
                    <a:pt x="1813052" y="414400"/>
                  </a:lnTo>
                  <a:lnTo>
                    <a:pt x="1806194" y="404828"/>
                  </a:lnTo>
                  <a:lnTo>
                    <a:pt x="1799336" y="392684"/>
                  </a:lnTo>
                  <a:close/>
                </a:path>
                <a:path w="2000250" h="2000250">
                  <a:moveTo>
                    <a:pt x="200913" y="392684"/>
                  </a:moveTo>
                  <a:lnTo>
                    <a:pt x="195484" y="404828"/>
                  </a:lnTo>
                  <a:lnTo>
                    <a:pt x="191769" y="414400"/>
                  </a:lnTo>
                  <a:lnTo>
                    <a:pt x="188055" y="422259"/>
                  </a:lnTo>
                  <a:lnTo>
                    <a:pt x="182625" y="429260"/>
                  </a:lnTo>
                  <a:lnTo>
                    <a:pt x="200913" y="447548"/>
                  </a:lnTo>
                  <a:lnTo>
                    <a:pt x="207629" y="435403"/>
                  </a:lnTo>
                  <a:lnTo>
                    <a:pt x="213487" y="425830"/>
                  </a:lnTo>
                  <a:lnTo>
                    <a:pt x="217630" y="417972"/>
                  </a:lnTo>
                  <a:lnTo>
                    <a:pt x="219202" y="410972"/>
                  </a:lnTo>
                  <a:lnTo>
                    <a:pt x="200913" y="392684"/>
                  </a:lnTo>
                  <a:close/>
                </a:path>
                <a:path w="2000250" h="2000250">
                  <a:moveTo>
                    <a:pt x="1844929" y="465836"/>
                  </a:moveTo>
                  <a:lnTo>
                    <a:pt x="1826768" y="474979"/>
                  </a:lnTo>
                  <a:lnTo>
                    <a:pt x="1832123" y="481978"/>
                  </a:lnTo>
                  <a:lnTo>
                    <a:pt x="1835800" y="489823"/>
                  </a:lnTo>
                  <a:lnTo>
                    <a:pt x="1839501" y="499358"/>
                  </a:lnTo>
                  <a:lnTo>
                    <a:pt x="1844929" y="511428"/>
                  </a:lnTo>
                  <a:lnTo>
                    <a:pt x="1863217" y="493267"/>
                  </a:lnTo>
                  <a:lnTo>
                    <a:pt x="1861645" y="486410"/>
                  </a:lnTo>
                  <a:lnTo>
                    <a:pt x="1857502" y="479551"/>
                  </a:lnTo>
                  <a:lnTo>
                    <a:pt x="1851644" y="472693"/>
                  </a:lnTo>
                  <a:lnTo>
                    <a:pt x="1844929" y="465836"/>
                  </a:lnTo>
                  <a:close/>
                </a:path>
                <a:path w="2000250" h="2000250">
                  <a:moveTo>
                    <a:pt x="155321" y="465836"/>
                  </a:moveTo>
                  <a:lnTo>
                    <a:pt x="153749" y="472693"/>
                  </a:lnTo>
                  <a:lnTo>
                    <a:pt x="149606" y="479551"/>
                  </a:lnTo>
                  <a:lnTo>
                    <a:pt x="143748" y="486410"/>
                  </a:lnTo>
                  <a:lnTo>
                    <a:pt x="137033" y="493267"/>
                  </a:lnTo>
                  <a:lnTo>
                    <a:pt x="155321" y="511428"/>
                  </a:lnTo>
                  <a:lnTo>
                    <a:pt x="162159" y="499358"/>
                  </a:lnTo>
                  <a:lnTo>
                    <a:pt x="168973" y="489823"/>
                  </a:lnTo>
                  <a:lnTo>
                    <a:pt x="175787" y="481978"/>
                  </a:lnTo>
                  <a:lnTo>
                    <a:pt x="182625" y="474979"/>
                  </a:lnTo>
                  <a:lnTo>
                    <a:pt x="155321" y="465836"/>
                  </a:lnTo>
                  <a:close/>
                </a:path>
                <a:path w="2000250" h="2000250">
                  <a:moveTo>
                    <a:pt x="118744" y="529716"/>
                  </a:moveTo>
                  <a:lnTo>
                    <a:pt x="113315" y="538003"/>
                  </a:lnTo>
                  <a:lnTo>
                    <a:pt x="105891" y="558006"/>
                  </a:lnTo>
                  <a:lnTo>
                    <a:pt x="100469" y="566292"/>
                  </a:lnTo>
                  <a:lnTo>
                    <a:pt x="118744" y="575437"/>
                  </a:lnTo>
                  <a:lnTo>
                    <a:pt x="125460" y="568436"/>
                  </a:lnTo>
                  <a:lnTo>
                    <a:pt x="131318" y="560577"/>
                  </a:lnTo>
                  <a:lnTo>
                    <a:pt x="135461" y="551005"/>
                  </a:lnTo>
                  <a:lnTo>
                    <a:pt x="137033" y="538861"/>
                  </a:lnTo>
                  <a:lnTo>
                    <a:pt x="118744" y="529716"/>
                  </a:lnTo>
                  <a:close/>
                </a:path>
                <a:path w="2000250" h="2000250">
                  <a:moveTo>
                    <a:pt x="1890649" y="529716"/>
                  </a:moveTo>
                  <a:lnTo>
                    <a:pt x="1863217" y="538861"/>
                  </a:lnTo>
                  <a:lnTo>
                    <a:pt x="1868646" y="551005"/>
                  </a:lnTo>
                  <a:lnTo>
                    <a:pt x="1872361" y="560577"/>
                  </a:lnTo>
                  <a:lnTo>
                    <a:pt x="1876075" y="568436"/>
                  </a:lnTo>
                  <a:lnTo>
                    <a:pt x="1881505" y="575437"/>
                  </a:lnTo>
                  <a:lnTo>
                    <a:pt x="1899793" y="566292"/>
                  </a:lnTo>
                  <a:lnTo>
                    <a:pt x="1898364" y="558006"/>
                  </a:lnTo>
                  <a:lnTo>
                    <a:pt x="1892077" y="538003"/>
                  </a:lnTo>
                  <a:lnTo>
                    <a:pt x="1890649" y="529716"/>
                  </a:lnTo>
                  <a:close/>
                </a:path>
                <a:path w="2000250" h="2000250">
                  <a:moveTo>
                    <a:pt x="82207" y="602869"/>
                  </a:moveTo>
                  <a:lnTo>
                    <a:pt x="80778" y="609796"/>
                  </a:lnTo>
                  <a:lnTo>
                    <a:pt x="77635" y="617616"/>
                  </a:lnTo>
                  <a:lnTo>
                    <a:pt x="74491" y="627175"/>
                  </a:lnTo>
                  <a:lnTo>
                    <a:pt x="73063" y="639317"/>
                  </a:lnTo>
                  <a:lnTo>
                    <a:pt x="91338" y="648462"/>
                  </a:lnTo>
                  <a:lnTo>
                    <a:pt x="96760" y="636317"/>
                  </a:lnTo>
                  <a:lnTo>
                    <a:pt x="100469" y="626744"/>
                  </a:lnTo>
                  <a:lnTo>
                    <a:pt x="104179" y="618886"/>
                  </a:lnTo>
                  <a:lnTo>
                    <a:pt x="109600" y="611886"/>
                  </a:lnTo>
                  <a:lnTo>
                    <a:pt x="82207" y="602869"/>
                  </a:lnTo>
                  <a:close/>
                </a:path>
                <a:path w="2000250" h="2000250">
                  <a:moveTo>
                    <a:pt x="1918081" y="602869"/>
                  </a:moveTo>
                  <a:lnTo>
                    <a:pt x="1899793" y="611886"/>
                  </a:lnTo>
                  <a:lnTo>
                    <a:pt x="1901221" y="618886"/>
                  </a:lnTo>
                  <a:lnTo>
                    <a:pt x="1904364" y="626744"/>
                  </a:lnTo>
                  <a:lnTo>
                    <a:pt x="1907508" y="636317"/>
                  </a:lnTo>
                  <a:lnTo>
                    <a:pt x="1908937" y="648462"/>
                  </a:lnTo>
                  <a:lnTo>
                    <a:pt x="1936369" y="639317"/>
                  </a:lnTo>
                  <a:lnTo>
                    <a:pt x="1930939" y="627175"/>
                  </a:lnTo>
                  <a:lnTo>
                    <a:pt x="1927225" y="617616"/>
                  </a:lnTo>
                  <a:lnTo>
                    <a:pt x="1923510" y="609796"/>
                  </a:lnTo>
                  <a:lnTo>
                    <a:pt x="1918081" y="602869"/>
                  </a:lnTo>
                  <a:close/>
                </a:path>
                <a:path w="2000250" h="2000250">
                  <a:moveTo>
                    <a:pt x="54800" y="675894"/>
                  </a:moveTo>
                  <a:lnTo>
                    <a:pt x="53373" y="682894"/>
                  </a:lnTo>
                  <a:lnTo>
                    <a:pt x="50234" y="690752"/>
                  </a:lnTo>
                  <a:lnTo>
                    <a:pt x="47095" y="700325"/>
                  </a:lnTo>
                  <a:lnTo>
                    <a:pt x="45669" y="712470"/>
                  </a:lnTo>
                  <a:lnTo>
                    <a:pt x="63931" y="721613"/>
                  </a:lnTo>
                  <a:lnTo>
                    <a:pt x="69353" y="709469"/>
                  </a:lnTo>
                  <a:lnTo>
                    <a:pt x="73064" y="699897"/>
                  </a:lnTo>
                  <a:lnTo>
                    <a:pt x="76778" y="692038"/>
                  </a:lnTo>
                  <a:lnTo>
                    <a:pt x="82207" y="685038"/>
                  </a:lnTo>
                  <a:lnTo>
                    <a:pt x="54800" y="675894"/>
                  </a:lnTo>
                  <a:close/>
                </a:path>
                <a:path w="2000250" h="2000250">
                  <a:moveTo>
                    <a:pt x="1945386" y="675894"/>
                  </a:moveTo>
                  <a:lnTo>
                    <a:pt x="1927225" y="685038"/>
                  </a:lnTo>
                  <a:lnTo>
                    <a:pt x="1928653" y="692038"/>
                  </a:lnTo>
                  <a:lnTo>
                    <a:pt x="1931796" y="699897"/>
                  </a:lnTo>
                  <a:lnTo>
                    <a:pt x="1934940" y="709469"/>
                  </a:lnTo>
                  <a:lnTo>
                    <a:pt x="1936369" y="721613"/>
                  </a:lnTo>
                  <a:lnTo>
                    <a:pt x="1963674" y="712470"/>
                  </a:lnTo>
                  <a:lnTo>
                    <a:pt x="1958244" y="700325"/>
                  </a:lnTo>
                  <a:lnTo>
                    <a:pt x="1954530" y="690752"/>
                  </a:lnTo>
                  <a:lnTo>
                    <a:pt x="1950815" y="682894"/>
                  </a:lnTo>
                  <a:lnTo>
                    <a:pt x="1945386" y="675894"/>
                  </a:lnTo>
                  <a:close/>
                </a:path>
                <a:path w="2000250" h="2000250">
                  <a:moveTo>
                    <a:pt x="36537" y="748919"/>
                  </a:moveTo>
                  <a:lnTo>
                    <a:pt x="27406" y="785495"/>
                  </a:lnTo>
                  <a:lnTo>
                    <a:pt x="45669" y="794638"/>
                  </a:lnTo>
                  <a:lnTo>
                    <a:pt x="50948" y="782494"/>
                  </a:lnTo>
                  <a:lnTo>
                    <a:pt x="53659" y="772922"/>
                  </a:lnTo>
                  <a:lnTo>
                    <a:pt x="54657" y="765063"/>
                  </a:lnTo>
                  <a:lnTo>
                    <a:pt x="54800" y="758063"/>
                  </a:lnTo>
                  <a:lnTo>
                    <a:pt x="36537" y="748919"/>
                  </a:lnTo>
                  <a:close/>
                </a:path>
                <a:path w="2000250" h="2000250">
                  <a:moveTo>
                    <a:pt x="1972818" y="748919"/>
                  </a:moveTo>
                  <a:lnTo>
                    <a:pt x="1945386" y="758063"/>
                  </a:lnTo>
                  <a:lnTo>
                    <a:pt x="1950672" y="765063"/>
                  </a:lnTo>
                  <a:lnTo>
                    <a:pt x="1953387" y="772922"/>
                  </a:lnTo>
                  <a:lnTo>
                    <a:pt x="1954387" y="782494"/>
                  </a:lnTo>
                  <a:lnTo>
                    <a:pt x="1954422" y="785495"/>
                  </a:lnTo>
                  <a:lnTo>
                    <a:pt x="1954530" y="794638"/>
                  </a:lnTo>
                  <a:lnTo>
                    <a:pt x="1981962" y="785495"/>
                  </a:lnTo>
                  <a:lnTo>
                    <a:pt x="1980533" y="777208"/>
                  </a:lnTo>
                  <a:lnTo>
                    <a:pt x="1974246" y="757205"/>
                  </a:lnTo>
                  <a:lnTo>
                    <a:pt x="1972818" y="748919"/>
                  </a:lnTo>
                  <a:close/>
                </a:path>
                <a:path w="2000250" h="2000250">
                  <a:moveTo>
                    <a:pt x="18262" y="822070"/>
                  </a:moveTo>
                  <a:lnTo>
                    <a:pt x="12983" y="834284"/>
                  </a:lnTo>
                  <a:lnTo>
                    <a:pt x="10272" y="844819"/>
                  </a:lnTo>
                  <a:lnTo>
                    <a:pt x="9273" y="855378"/>
                  </a:lnTo>
                  <a:lnTo>
                    <a:pt x="9131" y="867663"/>
                  </a:lnTo>
                  <a:lnTo>
                    <a:pt x="36537" y="867663"/>
                  </a:lnTo>
                  <a:lnTo>
                    <a:pt x="36537" y="831214"/>
                  </a:lnTo>
                  <a:lnTo>
                    <a:pt x="18262" y="822070"/>
                  </a:lnTo>
                  <a:close/>
                </a:path>
                <a:path w="2000250" h="2000250">
                  <a:moveTo>
                    <a:pt x="1991106" y="822070"/>
                  </a:moveTo>
                  <a:lnTo>
                    <a:pt x="1963674" y="831214"/>
                  </a:lnTo>
                  <a:lnTo>
                    <a:pt x="1963816" y="839428"/>
                  </a:lnTo>
                  <a:lnTo>
                    <a:pt x="1964817" y="849391"/>
                  </a:lnTo>
                  <a:lnTo>
                    <a:pt x="1967531" y="859379"/>
                  </a:lnTo>
                  <a:lnTo>
                    <a:pt x="1972818" y="867663"/>
                  </a:lnTo>
                  <a:lnTo>
                    <a:pt x="1991106" y="867663"/>
                  </a:lnTo>
                  <a:lnTo>
                    <a:pt x="1991106" y="822070"/>
                  </a:lnTo>
                  <a:close/>
                </a:path>
                <a:path w="2000250" h="2000250">
                  <a:moveTo>
                    <a:pt x="27406" y="904239"/>
                  </a:moveTo>
                  <a:lnTo>
                    <a:pt x="9131" y="904239"/>
                  </a:lnTo>
                  <a:lnTo>
                    <a:pt x="3852" y="912526"/>
                  </a:lnTo>
                  <a:lnTo>
                    <a:pt x="1141" y="922527"/>
                  </a:lnTo>
                  <a:lnTo>
                    <a:pt x="142" y="932529"/>
                  </a:lnTo>
                  <a:lnTo>
                    <a:pt x="0" y="940816"/>
                  </a:lnTo>
                  <a:lnTo>
                    <a:pt x="27406" y="940816"/>
                  </a:lnTo>
                  <a:lnTo>
                    <a:pt x="27406" y="904239"/>
                  </a:lnTo>
                  <a:close/>
                </a:path>
                <a:path w="2000250" h="2000250">
                  <a:moveTo>
                    <a:pt x="2000250" y="904239"/>
                  </a:moveTo>
                  <a:lnTo>
                    <a:pt x="1972818" y="904239"/>
                  </a:lnTo>
                  <a:lnTo>
                    <a:pt x="1972818" y="940816"/>
                  </a:lnTo>
                  <a:lnTo>
                    <a:pt x="2000250" y="940816"/>
                  </a:lnTo>
                  <a:lnTo>
                    <a:pt x="2000250" y="904239"/>
                  </a:lnTo>
                  <a:close/>
                </a:path>
                <a:path w="2000250" h="2000250">
                  <a:moveTo>
                    <a:pt x="27406" y="986408"/>
                  </a:moveTo>
                  <a:lnTo>
                    <a:pt x="0" y="986408"/>
                  </a:lnTo>
                  <a:lnTo>
                    <a:pt x="0" y="1022985"/>
                  </a:lnTo>
                  <a:lnTo>
                    <a:pt x="27406" y="1022985"/>
                  </a:lnTo>
                  <a:lnTo>
                    <a:pt x="27406" y="986408"/>
                  </a:lnTo>
                  <a:close/>
                </a:path>
                <a:path w="2000250" h="2000250">
                  <a:moveTo>
                    <a:pt x="2000250" y="986408"/>
                  </a:moveTo>
                  <a:lnTo>
                    <a:pt x="1981962" y="986408"/>
                  </a:lnTo>
                  <a:lnTo>
                    <a:pt x="1981962" y="1022985"/>
                  </a:lnTo>
                  <a:lnTo>
                    <a:pt x="2000250" y="1022985"/>
                  </a:lnTo>
                  <a:lnTo>
                    <a:pt x="2000250" y="986408"/>
                  </a:lnTo>
                  <a:close/>
                </a:path>
                <a:path w="2000250" h="2000250">
                  <a:moveTo>
                    <a:pt x="27406" y="1059433"/>
                  </a:moveTo>
                  <a:lnTo>
                    <a:pt x="0" y="1059433"/>
                  </a:lnTo>
                  <a:lnTo>
                    <a:pt x="142" y="1071578"/>
                  </a:lnTo>
                  <a:lnTo>
                    <a:pt x="1141" y="1081151"/>
                  </a:lnTo>
                  <a:lnTo>
                    <a:pt x="3852" y="1089009"/>
                  </a:lnTo>
                  <a:lnTo>
                    <a:pt x="9131" y="1096010"/>
                  </a:lnTo>
                  <a:lnTo>
                    <a:pt x="27406" y="1096010"/>
                  </a:lnTo>
                  <a:lnTo>
                    <a:pt x="27406" y="1059433"/>
                  </a:lnTo>
                  <a:close/>
                </a:path>
                <a:path w="2000250" h="2000250">
                  <a:moveTo>
                    <a:pt x="2000250" y="1059433"/>
                  </a:moveTo>
                  <a:lnTo>
                    <a:pt x="1972818" y="1059433"/>
                  </a:lnTo>
                  <a:lnTo>
                    <a:pt x="1972818" y="1096010"/>
                  </a:lnTo>
                  <a:lnTo>
                    <a:pt x="2000250" y="1096010"/>
                  </a:lnTo>
                  <a:lnTo>
                    <a:pt x="2000250" y="1059433"/>
                  </a:lnTo>
                  <a:close/>
                </a:path>
                <a:path w="2000250" h="2000250">
                  <a:moveTo>
                    <a:pt x="36537" y="1132586"/>
                  </a:moveTo>
                  <a:lnTo>
                    <a:pt x="9131" y="1141730"/>
                  </a:lnTo>
                  <a:lnTo>
                    <a:pt x="9273" y="1149996"/>
                  </a:lnTo>
                  <a:lnTo>
                    <a:pt x="10272" y="1159954"/>
                  </a:lnTo>
                  <a:lnTo>
                    <a:pt x="12983" y="1169912"/>
                  </a:lnTo>
                  <a:lnTo>
                    <a:pt x="18262" y="1178179"/>
                  </a:lnTo>
                  <a:lnTo>
                    <a:pt x="36537" y="1178179"/>
                  </a:lnTo>
                  <a:lnTo>
                    <a:pt x="36537" y="1132586"/>
                  </a:lnTo>
                  <a:close/>
                </a:path>
                <a:path w="2000250" h="2000250">
                  <a:moveTo>
                    <a:pt x="1972818" y="1132586"/>
                  </a:moveTo>
                  <a:lnTo>
                    <a:pt x="1967531" y="1144871"/>
                  </a:lnTo>
                  <a:lnTo>
                    <a:pt x="1964817" y="1155430"/>
                  </a:lnTo>
                  <a:lnTo>
                    <a:pt x="1963816" y="1165965"/>
                  </a:lnTo>
                  <a:lnTo>
                    <a:pt x="1963674" y="1178179"/>
                  </a:lnTo>
                  <a:lnTo>
                    <a:pt x="1991106" y="1178179"/>
                  </a:lnTo>
                  <a:lnTo>
                    <a:pt x="1991106" y="1141730"/>
                  </a:lnTo>
                  <a:lnTo>
                    <a:pt x="1972818" y="1132586"/>
                  </a:lnTo>
                  <a:close/>
                </a:path>
                <a:path w="2000250" h="2000250">
                  <a:moveTo>
                    <a:pt x="45669" y="1214755"/>
                  </a:moveTo>
                  <a:lnTo>
                    <a:pt x="27406" y="1214755"/>
                  </a:lnTo>
                  <a:lnTo>
                    <a:pt x="27488" y="1221755"/>
                  </a:lnTo>
                  <a:lnTo>
                    <a:pt x="27549" y="1226899"/>
                  </a:lnTo>
                  <a:lnTo>
                    <a:pt x="28548" y="1236471"/>
                  </a:lnTo>
                  <a:lnTo>
                    <a:pt x="31258" y="1244330"/>
                  </a:lnTo>
                  <a:lnTo>
                    <a:pt x="36537" y="1251331"/>
                  </a:lnTo>
                  <a:lnTo>
                    <a:pt x="54800" y="1251331"/>
                  </a:lnTo>
                  <a:lnTo>
                    <a:pt x="45669" y="1214755"/>
                  </a:lnTo>
                  <a:close/>
                </a:path>
                <a:path w="2000250" h="2000250">
                  <a:moveTo>
                    <a:pt x="1981962" y="1214755"/>
                  </a:moveTo>
                  <a:lnTo>
                    <a:pt x="1954530" y="1214755"/>
                  </a:lnTo>
                  <a:lnTo>
                    <a:pt x="1954387" y="1221755"/>
                  </a:lnTo>
                  <a:lnTo>
                    <a:pt x="1953387" y="1229614"/>
                  </a:lnTo>
                  <a:lnTo>
                    <a:pt x="1950672" y="1239186"/>
                  </a:lnTo>
                  <a:lnTo>
                    <a:pt x="1945386" y="1251331"/>
                  </a:lnTo>
                  <a:lnTo>
                    <a:pt x="1972818" y="1251331"/>
                  </a:lnTo>
                  <a:lnTo>
                    <a:pt x="1974246" y="1244330"/>
                  </a:lnTo>
                  <a:lnTo>
                    <a:pt x="1977389" y="1236472"/>
                  </a:lnTo>
                  <a:lnTo>
                    <a:pt x="1980533" y="1226899"/>
                  </a:lnTo>
                  <a:lnTo>
                    <a:pt x="1981962" y="1214755"/>
                  </a:lnTo>
                  <a:close/>
                </a:path>
                <a:path w="2000250" h="2000250">
                  <a:moveTo>
                    <a:pt x="63931" y="1287780"/>
                  </a:moveTo>
                  <a:lnTo>
                    <a:pt x="45669" y="1296924"/>
                  </a:lnTo>
                  <a:lnTo>
                    <a:pt x="47095" y="1303924"/>
                  </a:lnTo>
                  <a:lnTo>
                    <a:pt x="50234" y="1311783"/>
                  </a:lnTo>
                  <a:lnTo>
                    <a:pt x="53373" y="1321355"/>
                  </a:lnTo>
                  <a:lnTo>
                    <a:pt x="54800" y="1333500"/>
                  </a:lnTo>
                  <a:lnTo>
                    <a:pt x="82207" y="1324356"/>
                  </a:lnTo>
                  <a:lnTo>
                    <a:pt x="76778" y="1312211"/>
                  </a:lnTo>
                  <a:lnTo>
                    <a:pt x="73064" y="1302639"/>
                  </a:lnTo>
                  <a:lnTo>
                    <a:pt x="69353" y="1294780"/>
                  </a:lnTo>
                  <a:lnTo>
                    <a:pt x="63931" y="1287780"/>
                  </a:lnTo>
                  <a:close/>
                </a:path>
                <a:path w="2000250" h="2000250">
                  <a:moveTo>
                    <a:pt x="1936369" y="1287780"/>
                  </a:moveTo>
                  <a:lnTo>
                    <a:pt x="1934940" y="1294780"/>
                  </a:lnTo>
                  <a:lnTo>
                    <a:pt x="1931797" y="1302639"/>
                  </a:lnTo>
                  <a:lnTo>
                    <a:pt x="1928653" y="1312211"/>
                  </a:lnTo>
                  <a:lnTo>
                    <a:pt x="1927225" y="1324356"/>
                  </a:lnTo>
                  <a:lnTo>
                    <a:pt x="1945386" y="1333500"/>
                  </a:lnTo>
                  <a:lnTo>
                    <a:pt x="1950815" y="1321355"/>
                  </a:lnTo>
                  <a:lnTo>
                    <a:pt x="1954530" y="1311783"/>
                  </a:lnTo>
                  <a:lnTo>
                    <a:pt x="1958244" y="1303924"/>
                  </a:lnTo>
                  <a:lnTo>
                    <a:pt x="1963674" y="1296924"/>
                  </a:lnTo>
                  <a:lnTo>
                    <a:pt x="1936369" y="1287780"/>
                  </a:lnTo>
                  <a:close/>
                </a:path>
                <a:path w="2000250" h="2000250">
                  <a:moveTo>
                    <a:pt x="91338" y="1360932"/>
                  </a:moveTo>
                  <a:lnTo>
                    <a:pt x="73063" y="1370076"/>
                  </a:lnTo>
                  <a:lnTo>
                    <a:pt x="74491" y="1377074"/>
                  </a:lnTo>
                  <a:lnTo>
                    <a:pt x="77635" y="1384919"/>
                  </a:lnTo>
                  <a:lnTo>
                    <a:pt x="80778" y="1394454"/>
                  </a:lnTo>
                  <a:lnTo>
                    <a:pt x="82207" y="1406525"/>
                  </a:lnTo>
                  <a:lnTo>
                    <a:pt x="109600" y="1397381"/>
                  </a:lnTo>
                  <a:lnTo>
                    <a:pt x="104179" y="1385310"/>
                  </a:lnTo>
                  <a:lnTo>
                    <a:pt x="100469" y="1375775"/>
                  </a:lnTo>
                  <a:lnTo>
                    <a:pt x="96760" y="1367930"/>
                  </a:lnTo>
                  <a:lnTo>
                    <a:pt x="91338" y="1360932"/>
                  </a:lnTo>
                  <a:close/>
                </a:path>
                <a:path w="2000250" h="2000250">
                  <a:moveTo>
                    <a:pt x="1908937" y="1360932"/>
                  </a:moveTo>
                  <a:lnTo>
                    <a:pt x="1907508" y="1367930"/>
                  </a:lnTo>
                  <a:lnTo>
                    <a:pt x="1904365" y="1375775"/>
                  </a:lnTo>
                  <a:lnTo>
                    <a:pt x="1901221" y="1385310"/>
                  </a:lnTo>
                  <a:lnTo>
                    <a:pt x="1899793" y="1397381"/>
                  </a:lnTo>
                  <a:lnTo>
                    <a:pt x="1918081" y="1406525"/>
                  </a:lnTo>
                  <a:lnTo>
                    <a:pt x="1923510" y="1394454"/>
                  </a:lnTo>
                  <a:lnTo>
                    <a:pt x="1927225" y="1384919"/>
                  </a:lnTo>
                  <a:lnTo>
                    <a:pt x="1930939" y="1377074"/>
                  </a:lnTo>
                  <a:lnTo>
                    <a:pt x="1936369" y="1370076"/>
                  </a:lnTo>
                  <a:lnTo>
                    <a:pt x="1908937" y="1360932"/>
                  </a:lnTo>
                  <a:close/>
                </a:path>
                <a:path w="2000250" h="2000250">
                  <a:moveTo>
                    <a:pt x="118744" y="1424813"/>
                  </a:moveTo>
                  <a:lnTo>
                    <a:pt x="100469" y="1443101"/>
                  </a:lnTo>
                  <a:lnTo>
                    <a:pt x="105891" y="1449959"/>
                  </a:lnTo>
                  <a:lnTo>
                    <a:pt x="113315" y="1463675"/>
                  </a:lnTo>
                  <a:lnTo>
                    <a:pt x="118744" y="1470533"/>
                  </a:lnTo>
                  <a:lnTo>
                    <a:pt x="137033" y="1461389"/>
                  </a:lnTo>
                  <a:lnTo>
                    <a:pt x="135461" y="1454388"/>
                  </a:lnTo>
                  <a:lnTo>
                    <a:pt x="131318" y="1446530"/>
                  </a:lnTo>
                  <a:lnTo>
                    <a:pt x="125460" y="1436957"/>
                  </a:lnTo>
                  <a:lnTo>
                    <a:pt x="118744" y="1424813"/>
                  </a:lnTo>
                  <a:close/>
                </a:path>
                <a:path w="2000250" h="2000250">
                  <a:moveTo>
                    <a:pt x="1881505" y="1424813"/>
                  </a:moveTo>
                  <a:lnTo>
                    <a:pt x="1876075" y="1436957"/>
                  </a:lnTo>
                  <a:lnTo>
                    <a:pt x="1872361" y="1446529"/>
                  </a:lnTo>
                  <a:lnTo>
                    <a:pt x="1868646" y="1454388"/>
                  </a:lnTo>
                  <a:lnTo>
                    <a:pt x="1863217" y="1461389"/>
                  </a:lnTo>
                  <a:lnTo>
                    <a:pt x="1890649" y="1470533"/>
                  </a:lnTo>
                  <a:lnTo>
                    <a:pt x="1892077" y="1463674"/>
                  </a:lnTo>
                  <a:lnTo>
                    <a:pt x="1898364" y="1449958"/>
                  </a:lnTo>
                  <a:lnTo>
                    <a:pt x="1899793" y="1443101"/>
                  </a:lnTo>
                  <a:lnTo>
                    <a:pt x="1881505" y="1424813"/>
                  </a:lnTo>
                  <a:close/>
                </a:path>
                <a:path w="2000250" h="2000250">
                  <a:moveTo>
                    <a:pt x="155321" y="1497964"/>
                  </a:moveTo>
                  <a:lnTo>
                    <a:pt x="137033" y="1506982"/>
                  </a:lnTo>
                  <a:lnTo>
                    <a:pt x="143748" y="1515268"/>
                  </a:lnTo>
                  <a:lnTo>
                    <a:pt x="149606" y="1525270"/>
                  </a:lnTo>
                  <a:lnTo>
                    <a:pt x="153749" y="1535271"/>
                  </a:lnTo>
                  <a:lnTo>
                    <a:pt x="155321" y="1543558"/>
                  </a:lnTo>
                  <a:lnTo>
                    <a:pt x="182625" y="1525270"/>
                  </a:lnTo>
                  <a:lnTo>
                    <a:pt x="162159" y="1504749"/>
                  </a:lnTo>
                  <a:lnTo>
                    <a:pt x="155321" y="1497964"/>
                  </a:lnTo>
                  <a:close/>
                </a:path>
                <a:path w="2000250" h="2000250">
                  <a:moveTo>
                    <a:pt x="1844929" y="1497964"/>
                  </a:moveTo>
                  <a:lnTo>
                    <a:pt x="1839501" y="1504749"/>
                  </a:lnTo>
                  <a:lnTo>
                    <a:pt x="1835800" y="1511569"/>
                  </a:lnTo>
                  <a:lnTo>
                    <a:pt x="1832123" y="1518413"/>
                  </a:lnTo>
                  <a:lnTo>
                    <a:pt x="1826768" y="1525270"/>
                  </a:lnTo>
                  <a:lnTo>
                    <a:pt x="1844929" y="1543558"/>
                  </a:lnTo>
                  <a:lnTo>
                    <a:pt x="1851644" y="1535271"/>
                  </a:lnTo>
                  <a:lnTo>
                    <a:pt x="1857502" y="1525270"/>
                  </a:lnTo>
                  <a:lnTo>
                    <a:pt x="1861645" y="1515268"/>
                  </a:lnTo>
                  <a:lnTo>
                    <a:pt x="1863217" y="1506982"/>
                  </a:lnTo>
                  <a:lnTo>
                    <a:pt x="1844929" y="1497964"/>
                  </a:lnTo>
                  <a:close/>
                </a:path>
                <a:path w="2000250" h="2000250">
                  <a:moveTo>
                    <a:pt x="200913" y="1561845"/>
                  </a:moveTo>
                  <a:lnTo>
                    <a:pt x="182625" y="1570989"/>
                  </a:lnTo>
                  <a:lnTo>
                    <a:pt x="188055" y="1583134"/>
                  </a:lnTo>
                  <a:lnTo>
                    <a:pt x="191769" y="1592707"/>
                  </a:lnTo>
                  <a:lnTo>
                    <a:pt x="195484" y="1600565"/>
                  </a:lnTo>
                  <a:lnTo>
                    <a:pt x="200913" y="1607566"/>
                  </a:lnTo>
                  <a:lnTo>
                    <a:pt x="219202" y="1589277"/>
                  </a:lnTo>
                  <a:lnTo>
                    <a:pt x="217630" y="1582419"/>
                  </a:lnTo>
                  <a:lnTo>
                    <a:pt x="213487" y="1575561"/>
                  </a:lnTo>
                  <a:lnTo>
                    <a:pt x="207629" y="1568703"/>
                  </a:lnTo>
                  <a:lnTo>
                    <a:pt x="200913" y="1561845"/>
                  </a:lnTo>
                  <a:close/>
                </a:path>
                <a:path w="2000250" h="2000250">
                  <a:moveTo>
                    <a:pt x="1799336" y="1561845"/>
                  </a:moveTo>
                  <a:lnTo>
                    <a:pt x="1797764" y="1568704"/>
                  </a:lnTo>
                  <a:lnTo>
                    <a:pt x="1793621" y="1575562"/>
                  </a:lnTo>
                  <a:lnTo>
                    <a:pt x="1787763" y="1582420"/>
                  </a:lnTo>
                  <a:lnTo>
                    <a:pt x="1781048" y="1589277"/>
                  </a:lnTo>
                  <a:lnTo>
                    <a:pt x="1799336" y="1607566"/>
                  </a:lnTo>
                  <a:lnTo>
                    <a:pt x="1806194" y="1600565"/>
                  </a:lnTo>
                  <a:lnTo>
                    <a:pt x="1813052" y="1592707"/>
                  </a:lnTo>
                  <a:lnTo>
                    <a:pt x="1819910" y="1583134"/>
                  </a:lnTo>
                  <a:lnTo>
                    <a:pt x="1826768" y="1570989"/>
                  </a:lnTo>
                  <a:lnTo>
                    <a:pt x="1799336" y="1561845"/>
                  </a:lnTo>
                  <a:close/>
                </a:path>
                <a:path w="2000250" h="2000250">
                  <a:moveTo>
                    <a:pt x="1753616" y="1625727"/>
                  </a:moveTo>
                  <a:lnTo>
                    <a:pt x="1752044" y="1632585"/>
                  </a:lnTo>
                  <a:lnTo>
                    <a:pt x="1747901" y="1639443"/>
                  </a:lnTo>
                  <a:lnTo>
                    <a:pt x="1742043" y="1646301"/>
                  </a:lnTo>
                  <a:lnTo>
                    <a:pt x="1735327" y="1653158"/>
                  </a:lnTo>
                  <a:lnTo>
                    <a:pt x="1753616" y="1671447"/>
                  </a:lnTo>
                  <a:lnTo>
                    <a:pt x="1760474" y="1663160"/>
                  </a:lnTo>
                  <a:lnTo>
                    <a:pt x="1774190" y="1643157"/>
                  </a:lnTo>
                  <a:lnTo>
                    <a:pt x="1781048" y="1634870"/>
                  </a:lnTo>
                  <a:lnTo>
                    <a:pt x="1753616" y="1625727"/>
                  </a:lnTo>
                  <a:close/>
                </a:path>
                <a:path w="2000250" h="2000250">
                  <a:moveTo>
                    <a:pt x="246634" y="1625727"/>
                  </a:moveTo>
                  <a:lnTo>
                    <a:pt x="228346" y="1634870"/>
                  </a:lnTo>
                  <a:lnTo>
                    <a:pt x="235204" y="1643157"/>
                  </a:lnTo>
                  <a:lnTo>
                    <a:pt x="248919" y="1663160"/>
                  </a:lnTo>
                  <a:lnTo>
                    <a:pt x="255778" y="1671447"/>
                  </a:lnTo>
                  <a:lnTo>
                    <a:pt x="274066" y="1653158"/>
                  </a:lnTo>
                  <a:lnTo>
                    <a:pt x="246634" y="1625727"/>
                  </a:lnTo>
                  <a:close/>
                </a:path>
                <a:path w="2000250" h="2000250">
                  <a:moveTo>
                    <a:pt x="1708023" y="1680591"/>
                  </a:moveTo>
                  <a:lnTo>
                    <a:pt x="1680591" y="1708023"/>
                  </a:lnTo>
                  <a:lnTo>
                    <a:pt x="1698879" y="1726183"/>
                  </a:lnTo>
                  <a:lnTo>
                    <a:pt x="1712579" y="1712579"/>
                  </a:lnTo>
                  <a:lnTo>
                    <a:pt x="1726183" y="1698879"/>
                  </a:lnTo>
                  <a:lnTo>
                    <a:pt x="1708023" y="1680591"/>
                  </a:lnTo>
                  <a:close/>
                </a:path>
                <a:path w="2000250" h="2000250">
                  <a:moveTo>
                    <a:pt x="301371" y="1680591"/>
                  </a:moveTo>
                  <a:lnTo>
                    <a:pt x="283083" y="1698879"/>
                  </a:lnTo>
                  <a:lnTo>
                    <a:pt x="310515" y="1726183"/>
                  </a:lnTo>
                  <a:lnTo>
                    <a:pt x="328803" y="1708023"/>
                  </a:lnTo>
                  <a:lnTo>
                    <a:pt x="301371" y="1680591"/>
                  </a:lnTo>
                  <a:close/>
                </a:path>
                <a:path w="2000250" h="2000250">
                  <a:moveTo>
                    <a:pt x="356234" y="1735327"/>
                  </a:moveTo>
                  <a:lnTo>
                    <a:pt x="337947" y="1753616"/>
                  </a:lnTo>
                  <a:lnTo>
                    <a:pt x="365378" y="1781048"/>
                  </a:lnTo>
                  <a:lnTo>
                    <a:pt x="383666" y="1753616"/>
                  </a:lnTo>
                  <a:lnTo>
                    <a:pt x="376808" y="1752044"/>
                  </a:lnTo>
                  <a:lnTo>
                    <a:pt x="369950" y="1747901"/>
                  </a:lnTo>
                  <a:lnTo>
                    <a:pt x="363093" y="1742043"/>
                  </a:lnTo>
                  <a:lnTo>
                    <a:pt x="356234" y="1735327"/>
                  </a:lnTo>
                  <a:close/>
                </a:path>
                <a:path w="2000250" h="2000250">
                  <a:moveTo>
                    <a:pt x="1653158" y="1735327"/>
                  </a:moveTo>
                  <a:lnTo>
                    <a:pt x="1646300" y="1742043"/>
                  </a:lnTo>
                  <a:lnTo>
                    <a:pt x="1639442" y="1747901"/>
                  </a:lnTo>
                  <a:lnTo>
                    <a:pt x="1632584" y="1752044"/>
                  </a:lnTo>
                  <a:lnTo>
                    <a:pt x="1625727" y="1753616"/>
                  </a:lnTo>
                  <a:lnTo>
                    <a:pt x="1634870" y="1781048"/>
                  </a:lnTo>
                  <a:lnTo>
                    <a:pt x="1643157" y="1774189"/>
                  </a:lnTo>
                  <a:lnTo>
                    <a:pt x="1663160" y="1760474"/>
                  </a:lnTo>
                  <a:lnTo>
                    <a:pt x="1671447" y="1753616"/>
                  </a:lnTo>
                  <a:lnTo>
                    <a:pt x="1653158" y="1735327"/>
                  </a:lnTo>
                  <a:close/>
                </a:path>
                <a:path w="2000250" h="2000250">
                  <a:moveTo>
                    <a:pt x="410972" y="1781048"/>
                  </a:moveTo>
                  <a:lnTo>
                    <a:pt x="392684" y="1799336"/>
                  </a:lnTo>
                  <a:lnTo>
                    <a:pt x="404828" y="1806194"/>
                  </a:lnTo>
                  <a:lnTo>
                    <a:pt x="414400" y="1813052"/>
                  </a:lnTo>
                  <a:lnTo>
                    <a:pt x="422259" y="1819910"/>
                  </a:lnTo>
                  <a:lnTo>
                    <a:pt x="429259" y="1826768"/>
                  </a:lnTo>
                  <a:lnTo>
                    <a:pt x="447547" y="1799336"/>
                  </a:lnTo>
                  <a:lnTo>
                    <a:pt x="435403" y="1797764"/>
                  </a:lnTo>
                  <a:lnTo>
                    <a:pt x="425831" y="1793621"/>
                  </a:lnTo>
                  <a:lnTo>
                    <a:pt x="417972" y="1787763"/>
                  </a:lnTo>
                  <a:lnTo>
                    <a:pt x="410972" y="1781048"/>
                  </a:lnTo>
                  <a:close/>
                </a:path>
                <a:path w="2000250" h="2000250">
                  <a:moveTo>
                    <a:pt x="1589277" y="1781048"/>
                  </a:moveTo>
                  <a:lnTo>
                    <a:pt x="1582419" y="1787763"/>
                  </a:lnTo>
                  <a:lnTo>
                    <a:pt x="1575561" y="1793621"/>
                  </a:lnTo>
                  <a:lnTo>
                    <a:pt x="1568703" y="1797764"/>
                  </a:lnTo>
                  <a:lnTo>
                    <a:pt x="1561845" y="1799336"/>
                  </a:lnTo>
                  <a:lnTo>
                    <a:pt x="1570989" y="1826768"/>
                  </a:lnTo>
                  <a:lnTo>
                    <a:pt x="1583134" y="1819909"/>
                  </a:lnTo>
                  <a:lnTo>
                    <a:pt x="1592707" y="1813052"/>
                  </a:lnTo>
                  <a:lnTo>
                    <a:pt x="1600565" y="1806194"/>
                  </a:lnTo>
                  <a:lnTo>
                    <a:pt x="1607566" y="1799336"/>
                  </a:lnTo>
                  <a:lnTo>
                    <a:pt x="1589277" y="1781048"/>
                  </a:lnTo>
                  <a:close/>
                </a:path>
                <a:path w="2000250" h="2000250">
                  <a:moveTo>
                    <a:pt x="474980" y="1826768"/>
                  </a:moveTo>
                  <a:lnTo>
                    <a:pt x="465836" y="1844929"/>
                  </a:lnTo>
                  <a:lnTo>
                    <a:pt x="472694" y="1851644"/>
                  </a:lnTo>
                  <a:lnTo>
                    <a:pt x="479552" y="1857502"/>
                  </a:lnTo>
                  <a:lnTo>
                    <a:pt x="486410" y="1861645"/>
                  </a:lnTo>
                  <a:lnTo>
                    <a:pt x="493268" y="1863217"/>
                  </a:lnTo>
                  <a:lnTo>
                    <a:pt x="511429" y="1844929"/>
                  </a:lnTo>
                  <a:lnTo>
                    <a:pt x="499358" y="1839501"/>
                  </a:lnTo>
                  <a:lnTo>
                    <a:pt x="489823" y="1835800"/>
                  </a:lnTo>
                  <a:lnTo>
                    <a:pt x="481978" y="1832123"/>
                  </a:lnTo>
                  <a:lnTo>
                    <a:pt x="474980" y="1826768"/>
                  </a:lnTo>
                  <a:close/>
                </a:path>
                <a:path w="2000250" h="2000250">
                  <a:moveTo>
                    <a:pt x="1525270" y="1826768"/>
                  </a:moveTo>
                  <a:lnTo>
                    <a:pt x="1518413" y="1832123"/>
                  </a:lnTo>
                  <a:lnTo>
                    <a:pt x="1504749" y="1839501"/>
                  </a:lnTo>
                  <a:lnTo>
                    <a:pt x="1497964" y="1844929"/>
                  </a:lnTo>
                  <a:lnTo>
                    <a:pt x="1506982" y="1863217"/>
                  </a:lnTo>
                  <a:lnTo>
                    <a:pt x="1515268" y="1861645"/>
                  </a:lnTo>
                  <a:lnTo>
                    <a:pt x="1525270" y="1857502"/>
                  </a:lnTo>
                  <a:lnTo>
                    <a:pt x="1535271" y="1851644"/>
                  </a:lnTo>
                  <a:lnTo>
                    <a:pt x="1543558" y="1844929"/>
                  </a:lnTo>
                  <a:lnTo>
                    <a:pt x="1525270" y="1826768"/>
                  </a:lnTo>
                  <a:close/>
                </a:path>
                <a:path w="2000250" h="2000250">
                  <a:moveTo>
                    <a:pt x="538861" y="1863217"/>
                  </a:moveTo>
                  <a:lnTo>
                    <a:pt x="529717" y="1890649"/>
                  </a:lnTo>
                  <a:lnTo>
                    <a:pt x="538003" y="1892077"/>
                  </a:lnTo>
                  <a:lnTo>
                    <a:pt x="558006" y="1898364"/>
                  </a:lnTo>
                  <a:lnTo>
                    <a:pt x="566293" y="1899793"/>
                  </a:lnTo>
                  <a:lnTo>
                    <a:pt x="575437" y="1881505"/>
                  </a:lnTo>
                  <a:lnTo>
                    <a:pt x="568436" y="1876075"/>
                  </a:lnTo>
                  <a:lnTo>
                    <a:pt x="560578" y="1872361"/>
                  </a:lnTo>
                  <a:lnTo>
                    <a:pt x="551005" y="1868646"/>
                  </a:lnTo>
                  <a:lnTo>
                    <a:pt x="538861" y="1863217"/>
                  </a:lnTo>
                  <a:close/>
                </a:path>
                <a:path w="2000250" h="2000250">
                  <a:moveTo>
                    <a:pt x="1461389" y="1863217"/>
                  </a:moveTo>
                  <a:lnTo>
                    <a:pt x="1454388" y="1868646"/>
                  </a:lnTo>
                  <a:lnTo>
                    <a:pt x="1446530" y="1872361"/>
                  </a:lnTo>
                  <a:lnTo>
                    <a:pt x="1436957" y="1876075"/>
                  </a:lnTo>
                  <a:lnTo>
                    <a:pt x="1424813" y="1881505"/>
                  </a:lnTo>
                  <a:lnTo>
                    <a:pt x="1443101" y="1899793"/>
                  </a:lnTo>
                  <a:lnTo>
                    <a:pt x="1449959" y="1898364"/>
                  </a:lnTo>
                  <a:lnTo>
                    <a:pt x="1463675" y="1892077"/>
                  </a:lnTo>
                  <a:lnTo>
                    <a:pt x="1470533" y="1890649"/>
                  </a:lnTo>
                  <a:lnTo>
                    <a:pt x="1461389" y="1863217"/>
                  </a:lnTo>
                  <a:close/>
                </a:path>
                <a:path w="2000250" h="2000250">
                  <a:moveTo>
                    <a:pt x="611886" y="1899793"/>
                  </a:moveTo>
                  <a:lnTo>
                    <a:pt x="602869" y="1918081"/>
                  </a:lnTo>
                  <a:lnTo>
                    <a:pt x="609796" y="1923510"/>
                  </a:lnTo>
                  <a:lnTo>
                    <a:pt x="617616" y="1927225"/>
                  </a:lnTo>
                  <a:lnTo>
                    <a:pt x="627175" y="1930939"/>
                  </a:lnTo>
                  <a:lnTo>
                    <a:pt x="639318" y="1936369"/>
                  </a:lnTo>
                  <a:lnTo>
                    <a:pt x="648462" y="1908937"/>
                  </a:lnTo>
                  <a:lnTo>
                    <a:pt x="636317" y="1907508"/>
                  </a:lnTo>
                  <a:lnTo>
                    <a:pt x="626745" y="1904365"/>
                  </a:lnTo>
                  <a:lnTo>
                    <a:pt x="618886" y="1901221"/>
                  </a:lnTo>
                  <a:lnTo>
                    <a:pt x="611886" y="1899793"/>
                  </a:lnTo>
                  <a:close/>
                </a:path>
                <a:path w="2000250" h="2000250">
                  <a:moveTo>
                    <a:pt x="1397381" y="1899793"/>
                  </a:moveTo>
                  <a:lnTo>
                    <a:pt x="1385310" y="1901221"/>
                  </a:lnTo>
                  <a:lnTo>
                    <a:pt x="1375775" y="1904364"/>
                  </a:lnTo>
                  <a:lnTo>
                    <a:pt x="1367930" y="1907508"/>
                  </a:lnTo>
                  <a:lnTo>
                    <a:pt x="1360932" y="1908937"/>
                  </a:lnTo>
                  <a:lnTo>
                    <a:pt x="1370076" y="1936369"/>
                  </a:lnTo>
                  <a:lnTo>
                    <a:pt x="1377074" y="1930939"/>
                  </a:lnTo>
                  <a:lnTo>
                    <a:pt x="1384919" y="1927225"/>
                  </a:lnTo>
                  <a:lnTo>
                    <a:pt x="1394454" y="1923510"/>
                  </a:lnTo>
                  <a:lnTo>
                    <a:pt x="1406525" y="1918081"/>
                  </a:lnTo>
                  <a:lnTo>
                    <a:pt x="1397381" y="1899793"/>
                  </a:lnTo>
                  <a:close/>
                </a:path>
                <a:path w="2000250" h="2000250">
                  <a:moveTo>
                    <a:pt x="685038" y="1927225"/>
                  </a:moveTo>
                  <a:lnTo>
                    <a:pt x="675894" y="1945386"/>
                  </a:lnTo>
                  <a:lnTo>
                    <a:pt x="682894" y="1950815"/>
                  </a:lnTo>
                  <a:lnTo>
                    <a:pt x="690752" y="1954530"/>
                  </a:lnTo>
                  <a:lnTo>
                    <a:pt x="700325" y="1958244"/>
                  </a:lnTo>
                  <a:lnTo>
                    <a:pt x="712469" y="1963674"/>
                  </a:lnTo>
                  <a:lnTo>
                    <a:pt x="721613" y="1936369"/>
                  </a:lnTo>
                  <a:lnTo>
                    <a:pt x="709469" y="1934940"/>
                  </a:lnTo>
                  <a:lnTo>
                    <a:pt x="699897" y="1931797"/>
                  </a:lnTo>
                  <a:lnTo>
                    <a:pt x="692038" y="1928653"/>
                  </a:lnTo>
                  <a:lnTo>
                    <a:pt x="685038" y="1927225"/>
                  </a:lnTo>
                  <a:close/>
                </a:path>
                <a:path w="2000250" h="2000250">
                  <a:moveTo>
                    <a:pt x="1324356" y="1927225"/>
                  </a:moveTo>
                  <a:lnTo>
                    <a:pt x="1312211" y="1928653"/>
                  </a:lnTo>
                  <a:lnTo>
                    <a:pt x="1302639" y="1931796"/>
                  </a:lnTo>
                  <a:lnTo>
                    <a:pt x="1294780" y="1934940"/>
                  </a:lnTo>
                  <a:lnTo>
                    <a:pt x="1287780" y="1936369"/>
                  </a:lnTo>
                  <a:lnTo>
                    <a:pt x="1296924" y="1963674"/>
                  </a:lnTo>
                  <a:lnTo>
                    <a:pt x="1303924" y="1958244"/>
                  </a:lnTo>
                  <a:lnTo>
                    <a:pt x="1311783" y="1954530"/>
                  </a:lnTo>
                  <a:lnTo>
                    <a:pt x="1321355" y="1950815"/>
                  </a:lnTo>
                  <a:lnTo>
                    <a:pt x="1333500" y="1945386"/>
                  </a:lnTo>
                  <a:lnTo>
                    <a:pt x="1324356" y="1927225"/>
                  </a:lnTo>
                  <a:close/>
                </a:path>
                <a:path w="2000250" h="2000250">
                  <a:moveTo>
                    <a:pt x="758063" y="1945386"/>
                  </a:moveTo>
                  <a:lnTo>
                    <a:pt x="748919" y="1972818"/>
                  </a:lnTo>
                  <a:lnTo>
                    <a:pt x="757205" y="1974246"/>
                  </a:lnTo>
                  <a:lnTo>
                    <a:pt x="777208" y="1980533"/>
                  </a:lnTo>
                  <a:lnTo>
                    <a:pt x="785494" y="1981962"/>
                  </a:lnTo>
                  <a:lnTo>
                    <a:pt x="794638" y="1954530"/>
                  </a:lnTo>
                  <a:lnTo>
                    <a:pt x="782494" y="1954387"/>
                  </a:lnTo>
                  <a:lnTo>
                    <a:pt x="772922" y="1953387"/>
                  </a:lnTo>
                  <a:lnTo>
                    <a:pt x="765063" y="1950672"/>
                  </a:lnTo>
                  <a:lnTo>
                    <a:pt x="758063" y="1945386"/>
                  </a:lnTo>
                  <a:close/>
                </a:path>
                <a:path w="2000250" h="2000250">
                  <a:moveTo>
                    <a:pt x="1251331" y="1945386"/>
                  </a:moveTo>
                  <a:lnTo>
                    <a:pt x="1239186" y="1950672"/>
                  </a:lnTo>
                  <a:lnTo>
                    <a:pt x="1229614" y="1953387"/>
                  </a:lnTo>
                  <a:lnTo>
                    <a:pt x="1221755" y="1954387"/>
                  </a:lnTo>
                  <a:lnTo>
                    <a:pt x="1214755" y="1954530"/>
                  </a:lnTo>
                  <a:lnTo>
                    <a:pt x="1214755" y="1981962"/>
                  </a:lnTo>
                  <a:lnTo>
                    <a:pt x="1226899" y="1980533"/>
                  </a:lnTo>
                  <a:lnTo>
                    <a:pt x="1236471" y="1977390"/>
                  </a:lnTo>
                  <a:lnTo>
                    <a:pt x="1244330" y="1974246"/>
                  </a:lnTo>
                  <a:lnTo>
                    <a:pt x="1251331" y="1972818"/>
                  </a:lnTo>
                  <a:lnTo>
                    <a:pt x="1251331" y="1945386"/>
                  </a:lnTo>
                  <a:close/>
                </a:path>
                <a:path w="2000250" h="2000250">
                  <a:moveTo>
                    <a:pt x="831214" y="1963674"/>
                  </a:moveTo>
                  <a:lnTo>
                    <a:pt x="822070" y="1991106"/>
                  </a:lnTo>
                  <a:lnTo>
                    <a:pt x="867663" y="1991106"/>
                  </a:lnTo>
                  <a:lnTo>
                    <a:pt x="867663" y="1972818"/>
                  </a:lnTo>
                  <a:lnTo>
                    <a:pt x="859379" y="1967531"/>
                  </a:lnTo>
                  <a:lnTo>
                    <a:pt x="849391" y="1964817"/>
                  </a:lnTo>
                  <a:lnTo>
                    <a:pt x="839428" y="1963816"/>
                  </a:lnTo>
                  <a:lnTo>
                    <a:pt x="831214" y="1963674"/>
                  </a:lnTo>
                  <a:close/>
                </a:path>
                <a:path w="2000250" h="2000250">
                  <a:moveTo>
                    <a:pt x="1178179" y="1963674"/>
                  </a:moveTo>
                  <a:lnTo>
                    <a:pt x="1165965" y="1963816"/>
                  </a:lnTo>
                  <a:lnTo>
                    <a:pt x="1155430" y="1964817"/>
                  </a:lnTo>
                  <a:lnTo>
                    <a:pt x="1144871" y="1967531"/>
                  </a:lnTo>
                  <a:lnTo>
                    <a:pt x="1132586" y="1972818"/>
                  </a:lnTo>
                  <a:lnTo>
                    <a:pt x="1141730" y="1991106"/>
                  </a:lnTo>
                  <a:lnTo>
                    <a:pt x="1178179" y="1991106"/>
                  </a:lnTo>
                  <a:lnTo>
                    <a:pt x="1178179" y="1963674"/>
                  </a:lnTo>
                  <a:close/>
                </a:path>
                <a:path w="2000250" h="2000250">
                  <a:moveTo>
                    <a:pt x="940816" y="1972818"/>
                  </a:moveTo>
                  <a:lnTo>
                    <a:pt x="904239" y="1972818"/>
                  </a:lnTo>
                  <a:lnTo>
                    <a:pt x="904239" y="2000250"/>
                  </a:lnTo>
                  <a:lnTo>
                    <a:pt x="940816" y="2000250"/>
                  </a:lnTo>
                  <a:lnTo>
                    <a:pt x="940816" y="1972818"/>
                  </a:lnTo>
                  <a:close/>
                </a:path>
                <a:path w="2000250" h="2000250">
                  <a:moveTo>
                    <a:pt x="1096010" y="1972818"/>
                  </a:moveTo>
                  <a:lnTo>
                    <a:pt x="1059433" y="1972818"/>
                  </a:lnTo>
                  <a:lnTo>
                    <a:pt x="1059433" y="2000250"/>
                  </a:lnTo>
                  <a:lnTo>
                    <a:pt x="1096010" y="2000250"/>
                  </a:lnTo>
                  <a:lnTo>
                    <a:pt x="1096010" y="1972818"/>
                  </a:lnTo>
                  <a:close/>
                </a:path>
                <a:path w="2000250" h="2000250">
                  <a:moveTo>
                    <a:pt x="1022985" y="1981962"/>
                  </a:moveTo>
                  <a:lnTo>
                    <a:pt x="986408" y="1981962"/>
                  </a:lnTo>
                  <a:lnTo>
                    <a:pt x="986408" y="2000250"/>
                  </a:lnTo>
                  <a:lnTo>
                    <a:pt x="1022985" y="2000250"/>
                  </a:lnTo>
                  <a:lnTo>
                    <a:pt x="1022985" y="1981962"/>
                  </a:lnTo>
                  <a:close/>
                </a:path>
              </a:pathLst>
            </a:custGeom>
            <a:solidFill>
              <a:srgbClr val="1C4AE6">
                <a:alpha val="3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82191" y="3377882"/>
            <a:ext cx="730885" cy="87820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sz="275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稳定落地</a:t>
            </a:r>
            <a:endParaRPr sz="275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90951" y="1519300"/>
            <a:ext cx="8039100" cy="514350"/>
          </a:xfrm>
          <a:custGeom>
            <a:avLst/>
            <a:gdLst/>
            <a:ahLst/>
            <a:cxnLst/>
            <a:rect l="l" t="t" r="r" b="b"/>
            <a:pathLst>
              <a:path w="8039100" h="514350">
                <a:moveTo>
                  <a:pt x="0" y="514350"/>
                </a:moveTo>
                <a:lnTo>
                  <a:pt x="1592579" y="514350"/>
                </a:lnTo>
                <a:lnTo>
                  <a:pt x="2038096" y="0"/>
                </a:lnTo>
                <a:lnTo>
                  <a:pt x="8039100" y="0"/>
                </a:lnTo>
              </a:path>
            </a:pathLst>
          </a:custGeom>
          <a:ln w="12700">
            <a:solidFill>
              <a:srgbClr val="1C4AE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82640" y="1134110"/>
            <a:ext cx="504634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05"/>
              </a:spcBef>
            </a:pPr>
            <a:r>
              <a:rPr sz="24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01</a:t>
            </a: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800" b="1" spc="-5" dirty="0">
                <a:solidFill>
                  <a:srgbClr val="1747F9"/>
                </a:solidFill>
                <a:latin typeface="Microsoft YaHei"/>
                <a:cs typeface="Microsoft YaHei"/>
              </a:rPr>
              <a:t>是否支持低成本私有化并按需适配企业</a:t>
            </a:r>
            <a:r>
              <a:rPr sz="1800" b="1" spc="-10" dirty="0">
                <a:solidFill>
                  <a:srgbClr val="1747F9"/>
                </a:solidFill>
                <a:latin typeface="Microsoft YaHei"/>
                <a:cs typeface="Microsoft YaHei"/>
              </a:rPr>
              <a:t>AI</a:t>
            </a:r>
            <a:r>
              <a:rPr sz="1800" b="1" spc="-20" dirty="0">
                <a:solidFill>
                  <a:srgbClr val="1747F9"/>
                </a:solidFill>
                <a:latin typeface="Microsoft YaHei"/>
                <a:cs typeface="Microsoft YaHei"/>
              </a:rPr>
              <a:t>战略？</a:t>
            </a:r>
            <a:endParaRPr sz="1800">
              <a:latin typeface="Microsoft YaHei"/>
              <a:cs typeface="Microsoft YaHei"/>
            </a:endParaRPr>
          </a:p>
          <a:p>
            <a:pPr marL="45085">
              <a:lnSpc>
                <a:spcPct val="100000"/>
              </a:lnSpc>
              <a:spcBef>
                <a:spcPts val="1130"/>
              </a:spcBef>
            </a:pPr>
            <a:r>
              <a:rPr sz="1400" spc="-70" dirty="0">
                <a:solidFill>
                  <a:srgbClr val="252525"/>
                </a:solidFill>
                <a:latin typeface="Microsoft YaHei"/>
                <a:cs typeface="Microsoft YaHei"/>
              </a:rPr>
              <a:t>灵活使用不同混合模型方案，硬件成本从几千到数百万自由选择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5821" y="2643930"/>
            <a:ext cx="5466080" cy="147701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4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02</a:t>
            </a:r>
            <a:endParaRPr sz="2400">
              <a:latin typeface="Microsoft YaHei"/>
              <a:cs typeface="Microsoft YaHei"/>
            </a:endParaRPr>
          </a:p>
          <a:p>
            <a:pPr marL="28575">
              <a:lnSpc>
                <a:spcPct val="100000"/>
              </a:lnSpc>
              <a:spcBef>
                <a:spcPts val="700"/>
              </a:spcBef>
            </a:pPr>
            <a:r>
              <a:rPr sz="1800" b="1" spc="-5" dirty="0">
                <a:solidFill>
                  <a:srgbClr val="1747F9"/>
                </a:solidFill>
                <a:latin typeface="Microsoft YaHei"/>
                <a:cs typeface="Microsoft YaHei"/>
              </a:rPr>
              <a:t>能否解决数据幻觉问题同时确保问答灵活性？</a:t>
            </a:r>
            <a:endParaRPr sz="1800">
              <a:latin typeface="Microsoft YaHei"/>
              <a:cs typeface="Microsoft YaHei"/>
            </a:endParaRPr>
          </a:p>
          <a:p>
            <a:pPr marL="51435">
              <a:lnSpc>
                <a:spcPct val="100000"/>
              </a:lnSpc>
              <a:spcBef>
                <a:spcPts val="505"/>
              </a:spcBef>
            </a:pPr>
            <a:r>
              <a:rPr sz="1400" spc="-45" dirty="0">
                <a:solidFill>
                  <a:srgbClr val="252525"/>
                </a:solidFill>
                <a:latin typeface="Microsoft YaHei"/>
                <a:cs typeface="Microsoft YaHei"/>
              </a:rPr>
              <a:t>测试问题集：今年销售额超过</a:t>
            </a:r>
            <a:r>
              <a:rPr sz="1400" dirty="0">
                <a:solidFill>
                  <a:srgbClr val="252525"/>
                </a:solidFill>
                <a:latin typeface="Microsoft YaHei"/>
                <a:cs typeface="Microsoft YaHei"/>
              </a:rPr>
              <a:t>61.55</a:t>
            </a:r>
            <a:r>
              <a:rPr sz="1400" spc="-15" dirty="0">
                <a:solidFill>
                  <a:srgbClr val="252525"/>
                </a:solidFill>
                <a:latin typeface="Microsoft YaHei"/>
                <a:cs typeface="Microsoft YaHei"/>
              </a:rPr>
              <a:t> 百亿的产品有哪些？</a:t>
            </a:r>
            <a:endParaRPr sz="1400">
              <a:latin typeface="Microsoft YaHei"/>
              <a:cs typeface="Microsoft YaHei"/>
            </a:endParaRPr>
          </a:p>
          <a:p>
            <a:pPr marL="51435">
              <a:lnSpc>
                <a:spcPct val="100000"/>
              </a:lnSpc>
              <a:spcBef>
                <a:spcPts val="875"/>
              </a:spcBef>
            </a:pPr>
            <a:r>
              <a:rPr sz="1400" spc="-25" dirty="0">
                <a:solidFill>
                  <a:srgbClr val="252525"/>
                </a:solidFill>
                <a:latin typeface="Microsoft YaHei"/>
                <a:cs typeface="Microsoft YaHei"/>
              </a:rPr>
              <a:t>复杂探索：24</a:t>
            </a:r>
            <a:r>
              <a:rPr sz="1400" spc="-50" dirty="0">
                <a:solidFill>
                  <a:srgbClr val="252525"/>
                </a:solidFill>
                <a:latin typeface="Microsoft YaHei"/>
                <a:cs typeface="Microsoft YaHei"/>
              </a:rPr>
              <a:t>年整体业绩表现情况怎么样，如何开展</a:t>
            </a:r>
            <a:r>
              <a:rPr sz="1400" spc="-10" dirty="0">
                <a:solidFill>
                  <a:srgbClr val="252525"/>
                </a:solidFill>
                <a:latin typeface="Microsoft YaHei"/>
                <a:cs typeface="Microsoft YaHei"/>
              </a:rPr>
              <a:t>25</a:t>
            </a:r>
            <a:r>
              <a:rPr sz="1400" spc="-40" dirty="0">
                <a:solidFill>
                  <a:srgbClr val="252525"/>
                </a:solidFill>
                <a:latin typeface="Microsoft YaHei"/>
                <a:cs typeface="Microsoft YaHei"/>
              </a:rPr>
              <a:t>年市场策略？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28925" y="2352675"/>
            <a:ext cx="1009650" cy="2867025"/>
            <a:chOff x="2828925" y="2352675"/>
            <a:chExt cx="1009650" cy="286702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352675"/>
              <a:ext cx="314325" cy="3143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4250" y="3657600"/>
              <a:ext cx="314325" cy="3143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975" y="4905375"/>
              <a:ext cx="314325" cy="31432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425821" y="4250133"/>
            <a:ext cx="5306695" cy="153924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b="1" spc="-25" dirty="0">
                <a:solidFill>
                  <a:srgbClr val="FD7B77"/>
                </a:solidFill>
                <a:latin typeface="Microsoft YaHei"/>
                <a:cs typeface="Microsoft YaHei"/>
              </a:rPr>
              <a:t>03</a:t>
            </a:r>
            <a:endParaRPr sz="2400">
              <a:latin typeface="Microsoft YaHei"/>
              <a:cs typeface="Microsoft YaHei"/>
            </a:endParaRPr>
          </a:p>
          <a:p>
            <a:pPr marL="28575">
              <a:lnSpc>
                <a:spcPct val="100000"/>
              </a:lnSpc>
              <a:spcBef>
                <a:spcPts val="775"/>
              </a:spcBef>
            </a:pPr>
            <a:r>
              <a:rPr sz="1800" b="1" spc="-5" dirty="0">
                <a:solidFill>
                  <a:srgbClr val="1747F9"/>
                </a:solidFill>
                <a:latin typeface="Microsoft YaHei"/>
                <a:cs typeface="Microsoft YaHei"/>
              </a:rPr>
              <a:t>能否支持快速、低成本满足生产环境的复杂业务规则</a:t>
            </a:r>
            <a:endParaRPr sz="1800">
              <a:latin typeface="Microsoft YaHei"/>
              <a:cs typeface="Microsoft YaHei"/>
            </a:endParaRPr>
          </a:p>
          <a:p>
            <a:pPr marL="52069">
              <a:lnSpc>
                <a:spcPct val="100000"/>
              </a:lnSpc>
              <a:spcBef>
                <a:spcPts val="1055"/>
              </a:spcBef>
            </a:pPr>
            <a:r>
              <a:rPr sz="1400" spc="-60" dirty="0">
                <a:solidFill>
                  <a:srgbClr val="252525"/>
                </a:solidFill>
                <a:latin typeface="Microsoft YaHei"/>
                <a:cs typeface="Microsoft YaHei"/>
              </a:rPr>
              <a:t>业务逻辑新增及调整，灵活配置，敏捷迭代流程，低成本快速响</a:t>
            </a:r>
            <a:endParaRPr sz="1400">
              <a:latin typeface="Microsoft YaHei"/>
              <a:cs typeface="Microsoft YaHei"/>
            </a:endParaRPr>
          </a:p>
          <a:p>
            <a:pPr marL="52069">
              <a:lnSpc>
                <a:spcPct val="100000"/>
              </a:lnSpc>
              <a:spcBef>
                <a:spcPts val="645"/>
              </a:spcBef>
            </a:pPr>
            <a:r>
              <a:rPr sz="1400" spc="-60" dirty="0">
                <a:solidFill>
                  <a:srgbClr val="252525"/>
                </a:solidFill>
                <a:latin typeface="Microsoft YaHei"/>
                <a:cs typeface="Microsoft YaHei"/>
              </a:rPr>
              <a:t>应，满足⽣产化要求，避免出现买得起、用不好、⽤不起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33051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712" y="326072"/>
            <a:ext cx="100203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ChatBI</a:t>
            </a:r>
            <a:r>
              <a:rPr spc="-5" dirty="0" err="1"/>
              <a:t>建设流程：面向</a:t>
            </a:r>
            <a:r>
              <a:rPr spc="-10" dirty="0" err="1"/>
              <a:t>IT</a:t>
            </a:r>
            <a:r>
              <a:rPr spc="-10" dirty="0"/>
              <a:t>/分析师可视化建模，面向用户自然语言交互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04800"/>
            <a:ext cx="10953750" cy="6553200"/>
            <a:chOff x="0" y="304800"/>
            <a:chExt cx="10953750" cy="6553200"/>
          </a:xfrm>
        </p:grpSpPr>
        <p:sp>
          <p:nvSpPr>
            <p:cNvPr id="6" name="object 6"/>
            <p:cNvSpPr/>
            <p:nvPr/>
          </p:nvSpPr>
          <p:spPr>
            <a:xfrm>
              <a:off x="0" y="304800"/>
              <a:ext cx="161925" cy="447675"/>
            </a:xfrm>
            <a:custGeom>
              <a:avLst/>
              <a:gdLst/>
              <a:ahLst/>
              <a:cxnLst/>
              <a:rect l="l" t="t" r="r" b="b"/>
              <a:pathLst>
                <a:path w="161925" h="447675">
                  <a:moveTo>
                    <a:pt x="161925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161925" y="4476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1C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50" y="733424"/>
              <a:ext cx="9715500" cy="61245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29175" cy="64430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637" y="323278"/>
            <a:ext cx="6563359" cy="160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快速开展</a:t>
            </a:r>
            <a:r>
              <a:rPr sz="2400" b="1" dirty="0">
                <a:solidFill>
                  <a:srgbClr val="1C4AE6"/>
                </a:solidFill>
                <a:latin typeface="Microsoft YaHei"/>
                <a:cs typeface="Microsoft YaHei"/>
              </a:rPr>
              <a:t>Chat</a:t>
            </a:r>
            <a:r>
              <a:rPr sz="2400" b="1" spc="5" dirty="0">
                <a:solidFill>
                  <a:srgbClr val="1C4AE6"/>
                </a:solidFill>
                <a:latin typeface="Microsoft YaHei"/>
                <a:cs typeface="Microsoft YaHei"/>
              </a:rPr>
              <a:t> </a:t>
            </a:r>
            <a:r>
              <a:rPr sz="2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BI问数体验和落地准备</a:t>
            </a:r>
            <a:endParaRPr sz="2400">
              <a:latin typeface="Microsoft YaHei"/>
              <a:cs typeface="Microsoft YaHei"/>
            </a:endParaRPr>
          </a:p>
          <a:p>
            <a:pPr marL="1268730" marR="208915" indent="-1147445">
              <a:lnSpc>
                <a:spcPct val="150600"/>
              </a:lnSpc>
              <a:spcBef>
                <a:spcPts val="480"/>
              </a:spcBef>
            </a:pPr>
            <a:r>
              <a:rPr sz="1800" b="1" spc="-5" dirty="0">
                <a:solidFill>
                  <a:srgbClr val="1C4AE6"/>
                </a:solidFill>
                <a:latin typeface="Microsoft YaHei"/>
                <a:cs typeface="Microsoft YaHei"/>
              </a:rPr>
              <a:t>售前阶段：</a:t>
            </a:r>
            <a:r>
              <a:rPr sz="1550" spc="30" dirty="0">
                <a:latin typeface="Microsoft YaHei"/>
                <a:cs typeface="Microsoft YaHei"/>
              </a:rPr>
              <a:t>提供</a:t>
            </a:r>
            <a:r>
              <a:rPr sz="1550" dirty="0">
                <a:latin typeface="Microsoft YaHei"/>
                <a:cs typeface="Microsoft YaHei"/>
              </a:rPr>
              <a:t>Demo</a:t>
            </a:r>
            <a:r>
              <a:rPr sz="1550" spc="10" dirty="0">
                <a:latin typeface="Microsoft YaHei"/>
                <a:cs typeface="Microsoft YaHei"/>
              </a:rPr>
              <a:t>环境验证能力或双方配合</a:t>
            </a:r>
            <a:r>
              <a:rPr sz="1550" dirty="0">
                <a:latin typeface="Microsoft YaHei"/>
                <a:cs typeface="Microsoft YaHei"/>
              </a:rPr>
              <a:t>POC</a:t>
            </a:r>
            <a:r>
              <a:rPr sz="1550" spc="10" dirty="0">
                <a:latin typeface="Microsoft YaHei"/>
                <a:cs typeface="Microsoft YaHei"/>
              </a:rPr>
              <a:t>体验产品全流程</a:t>
            </a:r>
            <a:r>
              <a:rPr sz="1550" spc="30" dirty="0">
                <a:latin typeface="Microsoft YaHei"/>
                <a:cs typeface="Microsoft YaHei"/>
              </a:rPr>
              <a:t>提供</a:t>
            </a:r>
            <a:r>
              <a:rPr sz="1550" dirty="0">
                <a:latin typeface="Microsoft YaHei"/>
                <a:cs typeface="Microsoft YaHei"/>
              </a:rPr>
              <a:t>AI</a:t>
            </a:r>
            <a:r>
              <a:rPr sz="1550" spc="5" dirty="0">
                <a:latin typeface="Microsoft YaHei"/>
                <a:cs typeface="Microsoft YaHei"/>
              </a:rPr>
              <a:t>规划和系统架构及环境的咨询梳理</a:t>
            </a:r>
            <a:endParaRPr sz="1550">
              <a:latin typeface="Microsoft YaHei"/>
              <a:cs typeface="Microsoft YaHei"/>
            </a:endParaRPr>
          </a:p>
          <a:p>
            <a:pPr marL="1268730">
              <a:lnSpc>
                <a:spcPct val="100000"/>
              </a:lnSpc>
              <a:spcBef>
                <a:spcPts val="994"/>
              </a:spcBef>
            </a:pPr>
            <a:r>
              <a:rPr sz="1550" spc="30" dirty="0">
                <a:latin typeface="Microsoft YaHei"/>
                <a:cs typeface="Microsoft YaHei"/>
              </a:rPr>
              <a:t>提供</a:t>
            </a:r>
            <a:r>
              <a:rPr sz="1550" dirty="0">
                <a:latin typeface="Microsoft YaHei"/>
                <a:cs typeface="Microsoft YaHei"/>
              </a:rPr>
              <a:t>AI</a:t>
            </a:r>
            <a:r>
              <a:rPr sz="1550" spc="25" dirty="0">
                <a:latin typeface="Microsoft YaHei"/>
                <a:cs typeface="Microsoft YaHei"/>
              </a:rPr>
              <a:t>化数据建模的培训</a:t>
            </a:r>
            <a:r>
              <a:rPr sz="1550" dirty="0">
                <a:latin typeface="Microsoft YaHei"/>
                <a:cs typeface="Microsoft YaHei"/>
              </a:rPr>
              <a:t>（</a:t>
            </a:r>
            <a:r>
              <a:rPr sz="1550" spc="10" dirty="0">
                <a:latin typeface="Microsoft YaHei"/>
                <a:cs typeface="Microsoft YaHei"/>
              </a:rPr>
              <a:t>售后阶段可提供项目落地服务</a:t>
            </a:r>
            <a:r>
              <a:rPr sz="1550" spc="-50" dirty="0">
                <a:latin typeface="Microsoft YaHei"/>
                <a:cs typeface="Microsoft YaHei"/>
              </a:rPr>
              <a:t>）</a:t>
            </a:r>
            <a:endParaRPr sz="155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8134" y="3585209"/>
            <a:ext cx="1531620" cy="1490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600" b="1" spc="-25" dirty="0">
                <a:solidFill>
                  <a:srgbClr val="EEF3FF"/>
                </a:solidFill>
                <a:latin typeface="Microsoft YaHei"/>
                <a:cs typeface="Microsoft YaHei"/>
              </a:rPr>
              <a:t>02</a:t>
            </a:r>
            <a:endParaRPr sz="96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6829" y="2766377"/>
            <a:ext cx="1530985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b="1" spc="-25" dirty="0">
                <a:solidFill>
                  <a:srgbClr val="EEF3FF"/>
                </a:solidFill>
                <a:latin typeface="Microsoft YaHei"/>
                <a:cs typeface="Microsoft YaHei"/>
              </a:rPr>
              <a:t>03</a:t>
            </a:r>
            <a:endParaRPr sz="96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83370" y="3829367"/>
            <a:ext cx="1531620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b="1" spc="-25" dirty="0">
                <a:solidFill>
                  <a:srgbClr val="EEF3FF"/>
                </a:solidFill>
                <a:latin typeface="Microsoft YaHei"/>
                <a:cs typeface="Microsoft YaHei"/>
              </a:rPr>
              <a:t>04</a:t>
            </a:r>
            <a:endParaRPr sz="960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1880" y="4591050"/>
            <a:ext cx="1530985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b="1" spc="-25" dirty="0">
                <a:solidFill>
                  <a:srgbClr val="EEF3FF"/>
                </a:solidFill>
                <a:latin typeface="Microsoft YaHei"/>
                <a:cs typeface="Microsoft YaHei"/>
              </a:rPr>
              <a:t>01</a:t>
            </a:r>
            <a:endParaRPr sz="9600">
              <a:latin typeface="Microsoft YaHei"/>
              <a:cs typeface="Microsoft Ya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62150" y="2005076"/>
            <a:ext cx="8329930" cy="4438015"/>
            <a:chOff x="1962150" y="2005076"/>
            <a:chExt cx="8329930" cy="44380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2150" y="4600511"/>
              <a:ext cx="1204912" cy="5476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3387" y="3903599"/>
              <a:ext cx="927200" cy="8891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0350" y="2838386"/>
              <a:ext cx="1195387" cy="5476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1587" y="2141474"/>
              <a:ext cx="917674" cy="8891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5076" y="2005076"/>
              <a:ext cx="6350" cy="44379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96375" y="3828986"/>
              <a:ext cx="1195387" cy="5476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7612" y="3132074"/>
              <a:ext cx="917674" cy="88912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14825" y="3381311"/>
              <a:ext cx="1204912" cy="5476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6062" y="2684399"/>
              <a:ext cx="927200" cy="8891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61539" y="2005076"/>
              <a:ext cx="8087867" cy="443793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600453" y="4833048"/>
            <a:ext cx="19913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双方确定业务核心关注的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0453" y="5157851"/>
            <a:ext cx="199072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0" dirty="0">
                <a:solidFill>
                  <a:srgbClr val="404040"/>
                </a:solidFill>
                <a:latin typeface="Microsoft YaHei"/>
                <a:cs typeface="Microsoft YaHei"/>
              </a:rPr>
              <a:t>问题清单，针对问题清单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0453" y="5472112"/>
            <a:ext cx="19697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的内容在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Demo</a:t>
            </a: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环境中模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00453" y="5796279"/>
            <a:ext cx="21024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拟验证(提供示例问题清单)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0809" y="3599751"/>
            <a:ext cx="19913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双方针对主要的业务场景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40809" y="3923982"/>
            <a:ext cx="19913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进行数据梳理，客户方提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40809" y="4239259"/>
            <a:ext cx="206057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solidFill>
                  <a:srgbClr val="404040"/>
                </a:solidFill>
                <a:latin typeface="Microsoft YaHei"/>
                <a:cs typeface="Microsoft YaHei"/>
              </a:rPr>
              <a:t>供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Excel</a:t>
            </a: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表数据样例，配合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40809" y="4563173"/>
            <a:ext cx="199136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 err="1">
                <a:solidFill>
                  <a:srgbClr val="404040"/>
                </a:solidFill>
                <a:latin typeface="Microsoft YaHei"/>
                <a:cs typeface="Microsoft YaHei"/>
              </a:rPr>
              <a:t>导入数据进行建模</a:t>
            </a: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，</a:t>
            </a:r>
            <a:endParaRPr sz="1400" dirty="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40809" y="4887277"/>
            <a:ext cx="19913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双方确认模型应用可行性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50304" y="3025457"/>
            <a:ext cx="198373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solidFill>
                  <a:srgbClr val="404040"/>
                </a:solidFill>
                <a:latin typeface="Microsoft YaHei"/>
                <a:cs typeface="Microsoft YaHei"/>
              </a:rPr>
              <a:t>针对客户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AI</a:t>
            </a:r>
            <a:r>
              <a:rPr sz="1400" spc="-40" dirty="0">
                <a:solidFill>
                  <a:srgbClr val="404040"/>
                </a:solidFill>
                <a:latin typeface="Microsoft YaHei"/>
                <a:cs typeface="Microsoft YaHei"/>
              </a:rPr>
              <a:t>规划、数据现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50304" y="3349942"/>
            <a:ext cx="21596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状、权限诉求、业务场景、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0304" y="3664648"/>
            <a:ext cx="1988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系统架构的主题调研和交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50304" y="3989323"/>
            <a:ext cx="14541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5" dirty="0">
                <a:solidFill>
                  <a:srgbClr val="404040"/>
                </a:solidFill>
                <a:latin typeface="Microsoft YaHei"/>
                <a:cs typeface="Microsoft YaHei"/>
              </a:rPr>
              <a:t>流，出具解决方案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04326" y="4059618"/>
            <a:ext cx="21596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体验类问题，售前阶段可通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04326" y="4384294"/>
            <a:ext cx="21590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过简单的同义词配置体验；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04326" y="4698682"/>
            <a:ext cx="21640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0" dirty="0">
                <a:solidFill>
                  <a:srgbClr val="404040"/>
                </a:solidFill>
                <a:latin typeface="Microsoft YaHei"/>
                <a:cs typeface="Microsoft YaHei"/>
              </a:rPr>
              <a:t>业务实际可项目中提供</a:t>
            </a:r>
            <a:r>
              <a:rPr sz="1400" spc="-10" dirty="0">
                <a:solidFill>
                  <a:srgbClr val="404040"/>
                </a:solidFill>
                <a:latin typeface="Microsoft YaHei"/>
                <a:cs typeface="Microsoft YaHei"/>
              </a:rPr>
              <a:t>AI</a:t>
            </a:r>
            <a:r>
              <a:rPr sz="1400" spc="-50" dirty="0">
                <a:solidFill>
                  <a:srgbClr val="404040"/>
                </a:solidFill>
                <a:latin typeface="Microsoft YaHei"/>
                <a:cs typeface="Microsoft YaHei"/>
              </a:rPr>
              <a:t>化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04326" y="5022786"/>
            <a:ext cx="1988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45" dirty="0">
                <a:solidFill>
                  <a:srgbClr val="404040"/>
                </a:solidFill>
                <a:latin typeface="Microsoft YaHei"/>
                <a:cs typeface="Microsoft YaHei"/>
              </a:rPr>
              <a:t>数据建模培训和落地服务</a:t>
            </a:r>
            <a:endParaRPr sz="1400">
              <a:latin typeface="Microsoft YaHei"/>
              <a:cs typeface="Microsoft YaHe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343150" y="2333625"/>
            <a:ext cx="7572375" cy="2219325"/>
            <a:chOff x="2343150" y="2333625"/>
            <a:chExt cx="7572375" cy="2219325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43150" y="4114800"/>
              <a:ext cx="447675" cy="4381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72300" y="2333625"/>
              <a:ext cx="466725" cy="457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48800" y="3352800"/>
              <a:ext cx="466725" cy="4476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76775" y="2905125"/>
              <a:ext cx="419100" cy="4000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829" y="356116"/>
            <a:ext cx="97663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7980680" cy="6380480"/>
            <a:chOff x="0" y="0"/>
            <a:chExt cx="7980680" cy="6380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86301" y="1566862"/>
              <a:ext cx="3790950" cy="4810125"/>
            </a:xfrm>
            <a:custGeom>
              <a:avLst/>
              <a:gdLst/>
              <a:ahLst/>
              <a:cxnLst/>
              <a:rect l="l" t="t" r="r" b="b"/>
              <a:pathLst>
                <a:path w="3790950" h="4810125">
                  <a:moveTo>
                    <a:pt x="3790950" y="0"/>
                  </a:moveTo>
                  <a:lnTo>
                    <a:pt x="0" y="0"/>
                  </a:lnTo>
                  <a:lnTo>
                    <a:pt x="0" y="4810125"/>
                  </a:lnTo>
                  <a:lnTo>
                    <a:pt x="3790950" y="4810125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86301" y="1566862"/>
              <a:ext cx="3790950" cy="4810125"/>
            </a:xfrm>
            <a:custGeom>
              <a:avLst/>
              <a:gdLst/>
              <a:ahLst/>
              <a:cxnLst/>
              <a:rect l="l" t="t" r="r" b="b"/>
              <a:pathLst>
                <a:path w="3790950" h="4810125">
                  <a:moveTo>
                    <a:pt x="0" y="4810125"/>
                  </a:moveTo>
                  <a:lnTo>
                    <a:pt x="3790950" y="4810125"/>
                  </a:lnTo>
                  <a:lnTo>
                    <a:pt x="3790950" y="0"/>
                  </a:lnTo>
                  <a:lnTo>
                    <a:pt x="0" y="0"/>
                  </a:lnTo>
                  <a:lnTo>
                    <a:pt x="0" y="481012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412" y="1566862"/>
              <a:ext cx="3790950" cy="4810125"/>
            </a:xfrm>
            <a:custGeom>
              <a:avLst/>
              <a:gdLst/>
              <a:ahLst/>
              <a:cxnLst/>
              <a:rect l="l" t="t" r="r" b="b"/>
              <a:pathLst>
                <a:path w="3790950" h="4810125">
                  <a:moveTo>
                    <a:pt x="3790950" y="0"/>
                  </a:moveTo>
                  <a:lnTo>
                    <a:pt x="0" y="0"/>
                  </a:lnTo>
                  <a:lnTo>
                    <a:pt x="0" y="4810125"/>
                  </a:lnTo>
                  <a:lnTo>
                    <a:pt x="3790950" y="4810125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412" y="1566862"/>
              <a:ext cx="3790950" cy="4810125"/>
            </a:xfrm>
            <a:custGeom>
              <a:avLst/>
              <a:gdLst/>
              <a:ahLst/>
              <a:cxnLst/>
              <a:rect l="l" t="t" r="r" b="b"/>
              <a:pathLst>
                <a:path w="3790950" h="4810125">
                  <a:moveTo>
                    <a:pt x="0" y="4810125"/>
                  </a:moveTo>
                  <a:lnTo>
                    <a:pt x="3790950" y="4810125"/>
                  </a:lnTo>
                  <a:lnTo>
                    <a:pt x="3790950" y="0"/>
                  </a:lnTo>
                  <a:lnTo>
                    <a:pt x="0" y="0"/>
                  </a:lnTo>
                  <a:lnTo>
                    <a:pt x="0" y="481012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5750" y="1676400"/>
              <a:ext cx="3714750" cy="19050"/>
            </a:xfrm>
            <a:custGeom>
              <a:avLst/>
              <a:gdLst/>
              <a:ahLst/>
              <a:cxnLst/>
              <a:rect l="l" t="t" r="r" b="b"/>
              <a:pathLst>
                <a:path w="3714750" h="19050">
                  <a:moveTo>
                    <a:pt x="0" y="19050"/>
                  </a:moveTo>
                  <a:lnTo>
                    <a:pt x="3714750" y="19050"/>
                  </a:lnTo>
                  <a:lnTo>
                    <a:pt x="3714750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750" y="1238250"/>
              <a:ext cx="3714750" cy="438150"/>
            </a:xfrm>
            <a:custGeom>
              <a:avLst/>
              <a:gdLst/>
              <a:ahLst/>
              <a:cxnLst/>
              <a:rect l="l" t="t" r="r" b="b"/>
              <a:pathLst>
                <a:path w="3714750" h="438150">
                  <a:moveTo>
                    <a:pt x="371475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3714750" y="438150"/>
                  </a:lnTo>
                  <a:lnTo>
                    <a:pt x="371475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078851" y="1209675"/>
            <a:ext cx="3797300" cy="5170805"/>
            <a:chOff x="8078851" y="1209675"/>
            <a:chExt cx="3797300" cy="5170805"/>
          </a:xfrm>
        </p:grpSpPr>
        <p:sp>
          <p:nvSpPr>
            <p:cNvPr id="12" name="object 12"/>
            <p:cNvSpPr/>
            <p:nvPr/>
          </p:nvSpPr>
          <p:spPr>
            <a:xfrm>
              <a:off x="8082026" y="1566862"/>
              <a:ext cx="3790950" cy="4810125"/>
            </a:xfrm>
            <a:custGeom>
              <a:avLst/>
              <a:gdLst/>
              <a:ahLst/>
              <a:cxnLst/>
              <a:rect l="l" t="t" r="r" b="b"/>
              <a:pathLst>
                <a:path w="3790950" h="4810125">
                  <a:moveTo>
                    <a:pt x="0" y="4810125"/>
                  </a:moveTo>
                  <a:lnTo>
                    <a:pt x="3790950" y="4810125"/>
                  </a:lnTo>
                  <a:lnTo>
                    <a:pt x="3790950" y="0"/>
                  </a:lnTo>
                  <a:lnTo>
                    <a:pt x="0" y="0"/>
                  </a:lnTo>
                  <a:lnTo>
                    <a:pt x="0" y="481012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7700" y="4286250"/>
              <a:ext cx="3438525" cy="18669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124825" y="164782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9525"/>
                  </a:moveTo>
                  <a:lnTo>
                    <a:pt x="3714750" y="9525"/>
                  </a:lnTo>
                  <a:lnTo>
                    <a:pt x="3714750" y="0"/>
                  </a:lnTo>
                  <a:lnTo>
                    <a:pt x="0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24825" y="1209675"/>
              <a:ext cx="3714750" cy="438150"/>
            </a:xfrm>
            <a:custGeom>
              <a:avLst/>
              <a:gdLst/>
              <a:ahLst/>
              <a:cxnLst/>
              <a:rect l="l" t="t" r="r" b="b"/>
              <a:pathLst>
                <a:path w="3714750" h="438150">
                  <a:moveTo>
                    <a:pt x="371475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3714750" y="438150"/>
                  </a:lnTo>
                  <a:lnTo>
                    <a:pt x="371475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5750" y="1301432"/>
            <a:ext cx="3714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Chat BI</a:t>
            </a:r>
            <a:r>
              <a:rPr sz="1800" spc="-20" dirty="0">
                <a:solidFill>
                  <a:srgbClr val="FFFFFF"/>
                </a:solidFill>
                <a:latin typeface="Microsoft YaHei"/>
                <a:cs typeface="Microsoft YaHei"/>
              </a:rPr>
              <a:t> 问数版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202" y="2015172"/>
            <a:ext cx="3072765" cy="195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52100"/>
              </a:lnSpc>
              <a:spcBef>
                <a:spcPts val="95"/>
              </a:spcBef>
            </a:pPr>
            <a:r>
              <a:rPr sz="1400" b="1" spc="-45" dirty="0">
                <a:solidFill>
                  <a:srgbClr val="FF7881"/>
                </a:solidFill>
                <a:latin typeface="Microsoft YaHei"/>
                <a:cs typeface="Microsoft YaHei"/>
              </a:rPr>
              <a:t>适合想要快速体验和推进</a:t>
            </a:r>
            <a:r>
              <a:rPr sz="1400" b="1" spc="-10" dirty="0">
                <a:solidFill>
                  <a:srgbClr val="FF7881"/>
                </a:solidFill>
                <a:latin typeface="Microsoft YaHei"/>
                <a:cs typeface="Microsoft YaHei"/>
              </a:rPr>
              <a:t>AI</a:t>
            </a:r>
            <a:r>
              <a:rPr sz="1400" b="1" spc="-30" dirty="0">
                <a:solidFill>
                  <a:srgbClr val="FF7881"/>
                </a:solidFill>
                <a:latin typeface="Microsoft YaHei"/>
                <a:cs typeface="Microsoft YaHei"/>
              </a:rPr>
              <a:t>项目的企业</a:t>
            </a:r>
            <a:r>
              <a:rPr sz="1400" b="1" spc="-30" dirty="0">
                <a:solidFill>
                  <a:srgbClr val="1C4AE6"/>
                </a:solidFill>
                <a:latin typeface="Microsoft YaHei"/>
                <a:cs typeface="Microsoft YaHei"/>
              </a:rPr>
              <a:t>支持纯</a:t>
            </a:r>
            <a:r>
              <a:rPr sz="1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CPU</a:t>
            </a:r>
            <a:r>
              <a:rPr sz="1400" b="1" spc="-35" dirty="0">
                <a:solidFill>
                  <a:srgbClr val="1C4AE6"/>
                </a:solidFill>
                <a:latin typeface="Microsoft YaHei"/>
                <a:cs typeface="Microsoft YaHei"/>
              </a:rPr>
              <a:t>部署，无需算力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400" spc="-45" dirty="0">
                <a:latin typeface="Microsoft YaHei"/>
                <a:cs typeface="Microsoft YaHei"/>
              </a:rPr>
              <a:t>实现数据问答核心诉求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1400" spc="-50" dirty="0">
                <a:latin typeface="Microsoft YaHei"/>
                <a:cs typeface="Microsoft YaHei"/>
              </a:rPr>
              <a:t>满足多样化数据可视化体验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1400" spc="-45" dirty="0">
                <a:latin typeface="Microsoft YaHei"/>
                <a:cs typeface="Microsoft YaHei"/>
              </a:rPr>
              <a:t>满足智能归因和自由分析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400" spc="-50" dirty="0">
                <a:latin typeface="Microsoft YaHei"/>
                <a:cs typeface="Microsoft YaHei"/>
              </a:rPr>
              <a:t>满足数据看板和报告模式分析诉求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74637" y="323278"/>
            <a:ext cx="70669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按需提供不同产品版本，满足各阶段企业AI</a:t>
            </a:r>
            <a:r>
              <a:rPr spc="-15" dirty="0"/>
              <a:t>建设需要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419100" y="1238250"/>
            <a:ext cx="7486650" cy="4914900"/>
            <a:chOff x="419100" y="1238250"/>
            <a:chExt cx="7486650" cy="491490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4350" y="4286250"/>
              <a:ext cx="3438525" cy="18669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100" y="4286250"/>
              <a:ext cx="3438525" cy="1866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91000" y="1676400"/>
              <a:ext cx="3714750" cy="19050"/>
            </a:xfrm>
            <a:custGeom>
              <a:avLst/>
              <a:gdLst/>
              <a:ahLst/>
              <a:cxnLst/>
              <a:rect l="l" t="t" r="r" b="b"/>
              <a:pathLst>
                <a:path w="3714750" h="19050">
                  <a:moveTo>
                    <a:pt x="0" y="19050"/>
                  </a:moveTo>
                  <a:lnTo>
                    <a:pt x="3714750" y="19050"/>
                  </a:lnTo>
                  <a:lnTo>
                    <a:pt x="3714750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D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91000" y="1238250"/>
              <a:ext cx="3714750" cy="438150"/>
            </a:xfrm>
            <a:custGeom>
              <a:avLst/>
              <a:gdLst/>
              <a:ahLst/>
              <a:cxnLst/>
              <a:rect l="l" t="t" r="r" b="b"/>
              <a:pathLst>
                <a:path w="3714750" h="438150">
                  <a:moveTo>
                    <a:pt x="371475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3714750" y="438150"/>
                  </a:lnTo>
                  <a:lnTo>
                    <a:pt x="3714750" y="0"/>
                  </a:lnTo>
                  <a:close/>
                </a:path>
              </a:pathLst>
            </a:custGeom>
            <a:solidFill>
              <a:srgbClr val="1B4A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91000" y="1238250"/>
            <a:ext cx="3714750" cy="353943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Chat</a:t>
            </a:r>
            <a:r>
              <a:rPr sz="1800" spc="35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YaHei"/>
                <a:cs typeface="Microsoft YaHei"/>
              </a:rPr>
              <a:t>BI</a:t>
            </a:r>
            <a:r>
              <a:rPr sz="1800" spc="-20" dirty="0">
                <a:solidFill>
                  <a:srgbClr val="FFFFFF"/>
                </a:solidFill>
                <a:latin typeface="Microsoft YaHei"/>
                <a:cs typeface="Microsoft YaHei"/>
              </a:rPr>
              <a:t>+大语言模型版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24825" y="1269682"/>
            <a:ext cx="3714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Chat</a:t>
            </a:r>
            <a:r>
              <a:rPr sz="1800" spc="-15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BI</a:t>
            </a:r>
            <a:r>
              <a:rPr sz="1800" spc="-25" dirty="0">
                <a:solidFill>
                  <a:srgbClr val="FFFFFF"/>
                </a:solidFill>
                <a:latin typeface="Microsoft YaHei"/>
                <a:cs typeface="Microsoft YaHei"/>
              </a:rPr>
              <a:t> + </a:t>
            </a:r>
            <a:r>
              <a:rPr sz="1800" dirty="0">
                <a:solidFill>
                  <a:srgbClr val="FFFFFF"/>
                </a:solidFill>
                <a:latin typeface="Microsoft YaHei"/>
                <a:cs typeface="Microsoft YaHei"/>
              </a:rPr>
              <a:t>DeepSeek</a:t>
            </a:r>
            <a:r>
              <a:rPr sz="1800" spc="-40" dirty="0">
                <a:solidFill>
                  <a:srgbClr val="FFFFFF"/>
                </a:solidFill>
                <a:latin typeface="Microsoft YaHei"/>
                <a:cs typeface="Microsoft YaHei"/>
              </a:rPr>
              <a:t> 版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89476" y="2015172"/>
            <a:ext cx="3784600" cy="1952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9245" marR="262255" indent="-5080" algn="ctr">
              <a:lnSpc>
                <a:spcPct val="149800"/>
              </a:lnSpc>
              <a:spcBef>
                <a:spcPts val="130"/>
              </a:spcBef>
            </a:pPr>
            <a:r>
              <a:rPr sz="1400" b="1" spc="-55" dirty="0">
                <a:solidFill>
                  <a:srgbClr val="FF7881"/>
                </a:solidFill>
                <a:latin typeface="Microsoft YaHei"/>
                <a:cs typeface="Microsoft YaHei"/>
              </a:rPr>
              <a:t>适合预算比较有限，有大模型计划的企业</a:t>
            </a:r>
            <a:r>
              <a:rPr sz="1400" b="1" spc="-50" dirty="0">
                <a:solidFill>
                  <a:srgbClr val="FF7881"/>
                </a:solidFill>
                <a:latin typeface="Microsoft YaHei"/>
                <a:cs typeface="Microsoft YaHei"/>
              </a:rPr>
              <a:t> </a:t>
            </a:r>
            <a:r>
              <a:rPr sz="1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CPU</a:t>
            </a:r>
            <a:r>
              <a:rPr sz="1400" b="1" spc="-40" dirty="0">
                <a:solidFill>
                  <a:srgbClr val="1C4AE6"/>
                </a:solidFill>
                <a:latin typeface="Microsoft YaHei"/>
                <a:cs typeface="Microsoft YaHei"/>
              </a:rPr>
              <a:t>+少量算力部署，实现大模型</a:t>
            </a:r>
            <a:r>
              <a:rPr sz="1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AI</a:t>
            </a:r>
            <a:r>
              <a:rPr sz="1400" b="1" spc="-25" dirty="0">
                <a:solidFill>
                  <a:srgbClr val="1C4AE6"/>
                </a:solidFill>
                <a:latin typeface="Microsoft YaHei"/>
                <a:cs typeface="Microsoft YaHei"/>
              </a:rPr>
              <a:t>赋能</a:t>
            </a:r>
            <a:r>
              <a:rPr sz="1400" b="1" spc="-45" dirty="0">
                <a:solidFill>
                  <a:srgbClr val="1C4AE6"/>
                </a:solidFill>
                <a:latin typeface="Microsoft YaHei"/>
                <a:cs typeface="Microsoft YaHei"/>
              </a:rPr>
              <a:t>满足以上敏捷版所有功能</a:t>
            </a:r>
            <a:endParaRPr sz="1400">
              <a:latin typeface="Microsoft YaHei"/>
              <a:cs typeface="Microsoft YaHei"/>
            </a:endParaRPr>
          </a:p>
          <a:p>
            <a:pPr marL="39370" algn="ctr">
              <a:lnSpc>
                <a:spcPct val="100000"/>
              </a:lnSpc>
              <a:spcBef>
                <a:spcPts val="875"/>
              </a:spcBef>
            </a:pPr>
            <a:r>
              <a:rPr sz="1400" spc="-45" dirty="0">
                <a:latin typeface="Microsoft YaHei"/>
                <a:cs typeface="Microsoft YaHei"/>
              </a:rPr>
              <a:t>业务建模词意生成辅助</a:t>
            </a:r>
            <a:endParaRPr sz="1400">
              <a:latin typeface="Microsoft YaHei"/>
              <a:cs typeface="Microsoft YaHei"/>
            </a:endParaRPr>
          </a:p>
          <a:p>
            <a:pPr marL="39370" algn="ctr">
              <a:lnSpc>
                <a:spcPct val="100000"/>
              </a:lnSpc>
              <a:spcBef>
                <a:spcPts val="875"/>
              </a:spcBef>
            </a:pPr>
            <a:r>
              <a:rPr sz="1400" spc="-50" dirty="0">
                <a:latin typeface="Microsoft YaHei"/>
                <a:cs typeface="Microsoft YaHei"/>
              </a:rPr>
              <a:t>即席问答大模型洞察和分析</a:t>
            </a:r>
            <a:endParaRPr sz="1400">
              <a:latin typeface="Microsoft YaHei"/>
              <a:cs typeface="Microsoft YaHei"/>
            </a:endParaRPr>
          </a:p>
          <a:p>
            <a:pPr marL="34925" algn="ctr">
              <a:lnSpc>
                <a:spcPct val="100000"/>
              </a:lnSpc>
              <a:spcBef>
                <a:spcPts val="795"/>
              </a:spcBef>
            </a:pPr>
            <a:r>
              <a:rPr sz="1400" spc="-55" dirty="0">
                <a:latin typeface="Microsoft YaHei"/>
                <a:cs typeface="Microsoft YaHei"/>
              </a:rPr>
              <a:t>数据看板和报告模式下大模型归纳和洞察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65794" y="2015172"/>
            <a:ext cx="3231515" cy="1952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49800"/>
              </a:lnSpc>
              <a:spcBef>
                <a:spcPts val="130"/>
              </a:spcBef>
            </a:pPr>
            <a:r>
              <a:rPr sz="1400" b="1" spc="-25" dirty="0">
                <a:solidFill>
                  <a:srgbClr val="FF7881"/>
                </a:solidFill>
                <a:latin typeface="Microsoft YaHei"/>
                <a:cs typeface="Microsoft YaHei"/>
              </a:rPr>
              <a:t>适合预算充裕，有</a:t>
            </a:r>
            <a:r>
              <a:rPr sz="1400" b="1" spc="-10" dirty="0">
                <a:solidFill>
                  <a:srgbClr val="FF7881"/>
                </a:solidFill>
                <a:latin typeface="Microsoft YaHei"/>
                <a:cs typeface="Microsoft YaHei"/>
              </a:rPr>
              <a:t>DeepSeek计划的企业</a:t>
            </a:r>
            <a:r>
              <a:rPr sz="1400" b="1" dirty="0">
                <a:solidFill>
                  <a:srgbClr val="FF7881"/>
                </a:solidFill>
                <a:latin typeface="Microsoft YaHei"/>
                <a:cs typeface="Microsoft YaHei"/>
              </a:rPr>
              <a:t> </a:t>
            </a:r>
            <a:r>
              <a:rPr sz="1400" b="1" spc="-10" dirty="0">
                <a:solidFill>
                  <a:srgbClr val="1C4AE6"/>
                </a:solidFill>
                <a:latin typeface="Microsoft YaHei"/>
                <a:cs typeface="Microsoft YaHei"/>
              </a:rPr>
              <a:t>CPU+GPU</a:t>
            </a:r>
            <a:r>
              <a:rPr sz="1400" b="1" spc="-35" dirty="0">
                <a:solidFill>
                  <a:srgbClr val="1C4AE6"/>
                </a:solidFill>
                <a:latin typeface="Microsoft YaHei"/>
                <a:cs typeface="Microsoft YaHei"/>
              </a:rPr>
              <a:t>部署，发挥推理大模型价值满</a:t>
            </a:r>
            <a:r>
              <a:rPr sz="1400" b="1" spc="-30" dirty="0">
                <a:solidFill>
                  <a:srgbClr val="1C4AE6"/>
                </a:solidFill>
                <a:latin typeface="Microsoft YaHei"/>
                <a:cs typeface="Microsoft YaHei"/>
              </a:rPr>
              <a:t>足以上版本所有功能</a:t>
            </a:r>
            <a:endParaRPr sz="14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1400" spc="-50" dirty="0">
                <a:latin typeface="Microsoft YaHei"/>
                <a:cs typeface="Microsoft YaHei"/>
              </a:rPr>
              <a:t>实现复杂问题的结构化拆解</a:t>
            </a:r>
            <a:endParaRPr sz="1400">
              <a:latin typeface="Microsoft YaHei"/>
              <a:cs typeface="Microsoft YaHei"/>
            </a:endParaRPr>
          </a:p>
          <a:p>
            <a:pPr marL="278130" marR="273685" algn="ctr">
              <a:lnSpc>
                <a:spcPct val="147500"/>
              </a:lnSpc>
              <a:spcBef>
                <a:spcPts val="75"/>
              </a:spcBef>
            </a:pPr>
            <a:r>
              <a:rPr sz="1400" spc="-50" dirty="0">
                <a:latin typeface="Microsoft YaHei"/>
                <a:cs typeface="Microsoft YaHei"/>
              </a:rPr>
              <a:t>提升问答体验，提升数据洞察深度</a:t>
            </a:r>
            <a:r>
              <a:rPr sz="1400" spc="-30" dirty="0">
                <a:latin typeface="Microsoft YaHei"/>
                <a:cs typeface="Microsoft YaHei"/>
              </a:rPr>
              <a:t>复合企业整体</a:t>
            </a:r>
            <a:r>
              <a:rPr sz="1400" spc="-10" dirty="0">
                <a:latin typeface="Microsoft YaHei"/>
                <a:cs typeface="Microsoft YaHei"/>
              </a:rPr>
              <a:t>AI</a:t>
            </a:r>
            <a:r>
              <a:rPr sz="1400" spc="-40" dirty="0">
                <a:latin typeface="Microsoft YaHei"/>
                <a:cs typeface="Microsoft YaHei"/>
              </a:rPr>
              <a:t>战略发展诉求</a:t>
            </a:r>
            <a:endParaRPr sz="14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03529" y="396085"/>
            <a:ext cx="95123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b="1" spc="65" dirty="0" err="1">
                <a:latin typeface="Arial Narrow"/>
                <a:cs typeface="Arial Narrow"/>
              </a:rPr>
              <a:t>ChatBI</a:t>
            </a:r>
            <a:endParaRPr sz="15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29175" cy="33051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80689" y="2541203"/>
            <a:ext cx="636968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dirty="0">
                <a:solidFill>
                  <a:srgbClr val="3623C5"/>
                </a:solidFill>
              </a:rPr>
              <a:t>用</a:t>
            </a:r>
            <a:r>
              <a:rPr sz="4500" spc="-30" dirty="0">
                <a:solidFill>
                  <a:srgbClr val="3623C5"/>
                </a:solidFill>
              </a:rPr>
              <a:t>AI</a:t>
            </a:r>
            <a:r>
              <a:rPr sz="4500" spc="-10" dirty="0">
                <a:solidFill>
                  <a:srgbClr val="3623C5"/>
                </a:solidFill>
              </a:rPr>
              <a:t>让数据真正产生价值</a:t>
            </a:r>
            <a:endParaRPr sz="4500" dirty="0"/>
          </a:p>
        </p:txBody>
      </p:sp>
      <p:sp>
        <p:nvSpPr>
          <p:cNvPr id="7" name="object 7"/>
          <p:cNvSpPr txBox="1"/>
          <p:nvPr/>
        </p:nvSpPr>
        <p:spPr>
          <a:xfrm>
            <a:off x="3756025" y="3362960"/>
            <a:ext cx="4814570" cy="12090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180"/>
              </a:spcBef>
            </a:pPr>
            <a:r>
              <a:rPr sz="1800" b="1" spc="-5" dirty="0" err="1">
                <a:latin typeface="Microsoft YaHei"/>
                <a:cs typeface="Microsoft YaHei"/>
              </a:rPr>
              <a:t>致力于服务全球每个组织</a:t>
            </a:r>
            <a:endParaRPr sz="1800" dirty="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3350" b="1" spc="15" dirty="0">
                <a:solidFill>
                  <a:srgbClr val="FD7B77"/>
                </a:solidFill>
                <a:latin typeface="Microsoft YaHei"/>
                <a:cs typeface="Microsoft YaHei"/>
              </a:rPr>
              <a:t>成为每个人的</a:t>
            </a:r>
            <a:r>
              <a:rPr sz="3350" b="1" dirty="0">
                <a:solidFill>
                  <a:srgbClr val="FD7B77"/>
                </a:solidFill>
                <a:latin typeface="Microsoft YaHei"/>
                <a:cs typeface="Microsoft YaHei"/>
              </a:rPr>
              <a:t>AI数据伙伴</a:t>
            </a:r>
            <a:endParaRPr sz="3350" dirty="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F4FF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1581</Words>
  <Application>Microsoft Macintosh PowerPoint</Application>
  <PresentationFormat>宽屏</PresentationFormat>
  <Paragraphs>565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6" baseType="lpstr">
      <vt:lpstr>Microsoft YaHei</vt:lpstr>
      <vt:lpstr>Arial Narrow</vt:lpstr>
      <vt:lpstr>Calibri</vt:lpstr>
      <vt:lpstr>Times New Roman</vt:lpstr>
      <vt:lpstr>Wingdings</vt:lpstr>
      <vt:lpstr>Office Theme</vt:lpstr>
      <vt:lpstr>PowerPoint 演示文稿</vt:lpstr>
      <vt:lpstr>目 录CONTENT</vt:lpstr>
      <vt:lpstr>PART 01 关于Chat BI</vt:lpstr>
      <vt:lpstr>BI行业发展历程：从Excel到AI时代演进</vt:lpstr>
      <vt:lpstr>AI大模型时代的挑战和机遇</vt:lpstr>
      <vt:lpstr>Chat BI：AI大模型基座+数据领域算法训练</vt:lpstr>
      <vt:lpstr>PowerPoint 演示文稿</vt:lpstr>
      <vt:lpstr>业务价值：成为每个人的AI数据伙伴，让数据赋能洞察与决策</vt:lpstr>
      <vt:lpstr>PowerPoint 演示文稿</vt:lpstr>
      <vt:lpstr>理想汽车：利用AI技术加强公司的护城河</vt:lpstr>
      <vt:lpstr>雅戈尔：人人都能0门槛获得商业洞察，打造集团数据文化</vt:lpstr>
      <vt:lpstr>味全：以数据为驱动的高效工作文化</vt:lpstr>
      <vt:lpstr>PART 02 产品和服务</vt:lpstr>
      <vt:lpstr>ChatBI-用自然语言对话数据</vt:lpstr>
      <vt:lpstr>合理性：为什么ChatBI的问答式交互能够满足数据分析需要？</vt:lpstr>
      <vt:lpstr>必要性：为什么问答式交互能够更好的完成数据探索和洞察？</vt:lpstr>
      <vt:lpstr>ChatBI产品功能全景</vt:lpstr>
      <vt:lpstr>ChatBI产品优势概述</vt:lpstr>
      <vt:lpstr>问答可理解</vt:lpstr>
      <vt:lpstr>数据可验证</vt:lpstr>
      <vt:lpstr>数据可验证</vt:lpstr>
      <vt:lpstr>分析可深入</vt:lpstr>
      <vt:lpstr>分析可深入</vt:lpstr>
      <vt:lpstr>分析可深入</vt:lpstr>
      <vt:lpstr>分析可深入【生成】：大模型生成能力，实现针对数据结果和看板的结论洞察</vt:lpstr>
      <vt:lpstr>分析可深入【推理】：DeepSeek R1推理能力，实现从一站式提问和洞察</vt:lpstr>
      <vt:lpstr>平台可运营</vt:lpstr>
      <vt:lpstr>平台可运营</vt:lpstr>
      <vt:lpstr>平台可运营</vt:lpstr>
      <vt:lpstr>PART 03 技术和优势</vt:lpstr>
      <vt:lpstr>市面上常见的自然语言数据问答技术</vt:lpstr>
      <vt:lpstr>采用数据领域语言算法训练技术，有效结合大模型优势的混合架构</vt:lpstr>
      <vt:lpstr>国内主流Chat BI厂商能力对比</vt:lpstr>
      <vt:lpstr>ChatBI产品技术优势举例</vt:lpstr>
      <vt:lpstr>PART 04 开展ChatBI项目</vt:lpstr>
      <vt:lpstr>PowerPoint 演示文稿</vt:lpstr>
      <vt:lpstr>ChatBI建设流程：面向IT/分析师可视化建模，面向用户自然语言交互</vt:lpstr>
      <vt:lpstr>PowerPoint 演示文稿</vt:lpstr>
      <vt:lpstr>按需提供不同产品版本，满足各阶段企业AI建设需要</vt:lpstr>
      <vt:lpstr>用AI让数据真正产生价值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玉 陈</cp:lastModifiedBy>
  <cp:revision>5</cp:revision>
  <dcterms:created xsi:type="dcterms:W3CDTF">2025-04-16T10:31:45Z</dcterms:created>
  <dcterms:modified xsi:type="dcterms:W3CDTF">2025-05-30T13:30:31Z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LastSaved">
    <vt:filetime>2025-04-16T00:00:00Z</vt:filetime>
  </property>
  <property fmtid="{D5CDD505-2E9C-101B-9397-08002B2CF9AE}" pid="4" name="Producer">
    <vt:lpwstr>3-Heights(TM) PDF Security Shell 4.8.25.2 (http://www.pdf-tools.com)</vt:lpwstr>
  </property>
</Properties>
</file>